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4af6c32fa094a0c" /><Relationship Type="http://schemas.openxmlformats.org/officeDocument/2006/relationships/extended-properties" Target="/docProps/app.xml" Id="R32bf7d1e6ce74d6b" /><Relationship Type="http://schemas.openxmlformats.org/officeDocument/2006/relationships/officeDocument" Target="/ppt/presentation.xml" Id="R99b548e4aa074215" /></Relationships>
</file>

<file path=ppt/presentation.xml><?xml version="1.0" encoding="utf-8"?>
<p:presentation xmlns:p="http://schemas.openxmlformats.org/presentationml/2006/main">
  <p:sldMasterIdLst>
    <p:sldMasterId xmlns:r="http://schemas.openxmlformats.org/officeDocument/2006/relationships" id="2147483648" r:id="Rdfacf762af7c434e"/>
  </p:sldMasterIdLst>
  <p:notesMasterIdLst>
    <p:notesMasterId xmlns:r="http://schemas.openxmlformats.org/officeDocument/2006/relationships" r:id="Rfabb343a941848c9"/>
  </p:notesMasterIdLst>
  <p:sldIdLst>
    <p:sldId xmlns:r="http://schemas.openxmlformats.org/officeDocument/2006/relationships" id="256" r:id="Re9909c7c4df347ee"/>
    <p:sldId xmlns:r="http://schemas.openxmlformats.org/officeDocument/2006/relationships" id="257" r:id="R77aaedf518754064"/>
    <p:sldId xmlns:r="http://schemas.openxmlformats.org/officeDocument/2006/relationships" id="258" r:id="Rdaf43358f6934248"/>
    <p:sldId xmlns:r="http://schemas.openxmlformats.org/officeDocument/2006/relationships" id="259" r:id="Rc99d3a0939254108"/>
    <p:sldId xmlns:r="http://schemas.openxmlformats.org/officeDocument/2006/relationships" id="260" r:id="R07e5e5e9cc7145bb"/>
    <p:sldId xmlns:r="http://schemas.openxmlformats.org/officeDocument/2006/relationships" id="261" r:id="Ra4c59f17eed246b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bb0eec5d2534056" /><Relationship Type="http://schemas.openxmlformats.org/officeDocument/2006/relationships/slideMaster" Target="/ppt/slideMasters/slideMaster1.xml" Id="Rdfacf762af7c434e" /><Relationship Type="http://schemas.openxmlformats.org/officeDocument/2006/relationships/notesMaster" Target="/ppt/notesMasters/notesMaster1.xml" Id="Rfabb343a941848c9" /><Relationship Type="http://schemas.openxmlformats.org/officeDocument/2006/relationships/presProps" Target="/ppt/presProps.xml" Id="R96ed59300d174b19" /><Relationship Type="http://schemas.openxmlformats.org/officeDocument/2006/relationships/tableStyles" Target="/ppt/tableStyles.xml" Id="R57c4026c262e4bed" /><Relationship Type="http://schemas.openxmlformats.org/officeDocument/2006/relationships/slide" Target="/ppt/slides/slide1.xml" Id="Re9909c7c4df347ee" /><Relationship Type="http://schemas.openxmlformats.org/officeDocument/2006/relationships/slide" Target="/ppt/slides/slide2.xml" Id="R77aaedf518754064" /><Relationship Type="http://schemas.openxmlformats.org/officeDocument/2006/relationships/slide" Target="/ppt/slides/slide3.xml" Id="Rdaf43358f6934248" /><Relationship Type="http://schemas.openxmlformats.org/officeDocument/2006/relationships/slide" Target="/ppt/slides/slide4.xml" Id="Rc99d3a0939254108" /><Relationship Type="http://schemas.openxmlformats.org/officeDocument/2006/relationships/slide" Target="/ppt/slides/slide5.xml" Id="R07e5e5e9cc7145bb" /><Relationship Type="http://schemas.openxmlformats.org/officeDocument/2006/relationships/slide" Target="/ppt/slides/slide6.xml" Id="Ra4c59f17eed246b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bdd83f666a54f8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f8d2293a7164e38" /><Relationship Type="http://schemas.openxmlformats.org/officeDocument/2006/relationships/notesMaster" Target="/ppt/notesMasters/notesMaster1.xml" Id="R8e9c0c1f5cdf4cd0" /></Relationships>
</file>

<file path=ppt/notesSlides/_rels/notesSlide2.xml.rels>&#65279;<?xml version="1.0" encoding="utf-8"?><Relationships xmlns="http://schemas.openxmlformats.org/package/2006/relationships"><Relationship Type="http://schemas.openxmlformats.org/officeDocument/2006/relationships/slide" Target="/ppt/slides/slide2.xml" Id="R6b77bfe974324f5d" /><Relationship Type="http://schemas.openxmlformats.org/officeDocument/2006/relationships/notesMaster" Target="/ppt/notesMasters/notesMaster1.xml" Id="Rfbf0ec76dac74baf" /></Relationships>
</file>

<file path=ppt/notesSlides/_rels/notesSlide3.xml.rels>&#65279;<?xml version="1.0" encoding="utf-8"?><Relationships xmlns="http://schemas.openxmlformats.org/package/2006/relationships"><Relationship Type="http://schemas.openxmlformats.org/officeDocument/2006/relationships/slide" Target="/ppt/slides/slide3.xml" Id="R1e9f5afec77e4d81" /><Relationship Type="http://schemas.openxmlformats.org/officeDocument/2006/relationships/notesMaster" Target="/ppt/notesMasters/notesMaster1.xml" Id="R0e15f595fec44f59" /></Relationships>
</file>

<file path=ppt/notesSlides/_rels/notesSlide4.xml.rels>&#65279;<?xml version="1.0" encoding="utf-8"?><Relationships xmlns="http://schemas.openxmlformats.org/package/2006/relationships"><Relationship Type="http://schemas.openxmlformats.org/officeDocument/2006/relationships/slide" Target="/ppt/slides/slide4.xml" Id="Rfae544f288f24a54" /><Relationship Type="http://schemas.openxmlformats.org/officeDocument/2006/relationships/notesMaster" Target="/ppt/notesMasters/notesMaster1.xml" Id="R1da1ac8073e24676" /></Relationships>
</file>

<file path=ppt/notesSlides/_rels/notesSlide5.xml.rels>&#65279;<?xml version="1.0" encoding="utf-8"?><Relationships xmlns="http://schemas.openxmlformats.org/package/2006/relationships"><Relationship Type="http://schemas.openxmlformats.org/officeDocument/2006/relationships/slide" Target="/ppt/slides/slide5.xml" Id="Re71e7a3bac5740a0" /><Relationship Type="http://schemas.openxmlformats.org/officeDocument/2006/relationships/notesMaster" Target="/ppt/notesMasters/notesMaster1.xml" Id="R8979f73da2834658" /></Relationships>
</file>

<file path=ppt/notesSlides/_rels/notesSlide6.xml.rels>&#65279;<?xml version="1.0" encoding="utf-8"?><Relationships xmlns="http://schemas.openxmlformats.org/package/2006/relationships"><Relationship Type="http://schemas.openxmlformats.org/officeDocument/2006/relationships/slide" Target="/ppt/slides/slide6.xml" Id="Rf0b026af48994882" /><Relationship Type="http://schemas.openxmlformats.org/officeDocument/2006/relationships/notesMaster" Target="/ppt/notesMasters/notesMaster1.xml" Id="R986dce52cca64b1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Each row has fewer partial sums until one result remains. The five-input example checks the paper's exact pairing. A carried value gets no extra addition or rounding.</a:t>
            </a:r>
          </a:p>
          <a:p xmlns:a="http://schemas.openxmlformats.org/drawingml/2006/main">
            <a:r>
              <a:t/>
            </a:r>
          </a:p>
          <a:p xmlns:a="http://schemas.openxmlformats.org/drawingml/2006/main">
            <a:r>
              <a:t>Lean proves this for every nonempty list: every input survives, including duplicates, and depth is at most ceil(log2 n). Under the relative-error assumption, the computed answer is the exact sum of slightly perturbed inputs, bounded by gamma.</a:t>
            </a:r>
          </a:p>
          <a:p xmlns:a="http://schemas.openxmlformats.org/drawingml/2006/main">
            <a:r>
              <a:t/>
            </a:r>
          </a:p>
          <a:p xmlns:a="http://schemas.openxmlformats.org/drawingml/2006/main">
            <a:r>
              <a:t>If asked: the dot product adds one multiplication error per leaf. The current result is deterministic and uses an abstract model, without IEEE 754 bit semantics.</a:t>
            </a:r>
          </a:p>
          <a:p xmlns:a="http://schemas.openxmlformats.org/drawingml/2006/main">
            <a:r>
              <a:t/>
            </a:r>
          </a:p>
          <a:p xmlns:a="http://schemas.openxmlformats.org/drawingml/2006/main">
            <a:r>
              <a:t>Code: Research/Projects/BinaryTreeReduction/{Algorithm,Examples,Reduction,DotProduct}.lean; Research/Common/FloatingPoint/Model.lean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 guided the specification, tests, and decomposition. The coding agent generated and repaired substantial parts of the Lean code. Lean checked the resulting proofs.</a:t>
            </a:r>
          </a:p>
          <a:p xmlns:a="http://schemas.openxmlformats.org/drawingml/2006/main">
            <a:r>
              <a:t/>
            </a:r>
          </a:p>
          <a:p xmlns:a="http://schemas.openxmlformats.org/drawingml/2006/main">
            <a:r>
              <a:t>The core argument is induction: bound the two subtrees, then account for one more rounding factor. I also review the statement against the paper, because Lean can verify a correctly proved but incorrectly specified theorem.</a:t>
            </a:r>
          </a:p>
          <a:p xmlns:a="http://schemas.openxmlformats.org/drawingml/2006/main">
            <a:r>
              <a:t/>
            </a:r>
          </a:p>
          <a:p xmlns:a="http://schemas.openxmlformats.org/drawingml/2006/main">
            <a:r>
              <a:t>We used no Aristotle for this run. The 8,036 figure counts build jobs, including dependencies, rather than independent tests. The final gate builds the project and scans for sorry, admit, and custom axiom declarations.</a:t>
            </a:r>
          </a:p>
          <a:p xmlns:a="http://schemas.openxmlformats.org/drawingml/2006/main">
            <a:r>
              <a:t/>
            </a:r>
          </a:p>
          <a:p xmlns:a="http://schemas.openxmlformats.org/drawingml/2006/main">
            <a:r>
              <a:t>Evidence: pipeline/verify.sh; projects/binary-tree-reduction/theorem.md; artifacts/runs/2026-10-11-algorithm1-offset-reduction.md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Next, I want to compare fresh agents with and without verified memory on new proofs. Both conditions get the same starting code, model, tools, and budget. The completed target proof stays unavailable.</a:t>
            </a:r>
          </a:p>
          <a:p xmlns:a="http://schemas.openxmlformats.org/drawingml/2006/main">
            <a:r>
              <a:t/>
            </a:r>
          </a:p>
          <a:p xmlns:a="http://schemas.openxmlformats.org/drawingml/2006/main">
            <a:r>
              <a:t>I will measure proof success first, then time, cost, compiler attempts, and Aristotle calls. I will also check whether the agent found and correctly applied a relevant lesson. Include the cost of creating memory.</a:t>
            </a:r>
          </a:p>
          <a:p xmlns:a="http://schemas.openxmlformats.org/drawingml/2006/main">
            <a:r>
              <a:t/>
            </a:r>
          </a:p>
          <a:p xmlns:a="http://schemas.openxmlformats.org/drawingml/2006/main">
            <a:r>
              <a:t>The plasticity paper found that reuse can help, but high reuse alone does not guarantee improvement. This experiment tests external-memory adaptation with fixed model weights. We have not demonstrated a performance gain yet.</a:t>
            </a:r>
          </a:p>
          <a:p xmlns:a="http://schemas.openxmlformats.org/drawingml/2006/main">
            <a:r>
              <a:t/>
            </a:r>
          </a:p>
          <a:p xmlns:a="http://schemas.openxmlformats.org/drawingml/2006/main">
            <a:r>
              <a:t>Sources: AGENTS.md; pipeline/README.md; C:/Users/austi/Downloads/2610.08902v1.pdf, sections 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keep one repository, but each run gets a separate container and fresh session. The agent and all file tools execute inside it.</a:t>
            </a:r>
          </a:p>
          <a:p xmlns:a="http://schemas.openxmlformats.org/drawingml/2006/main">
            <a:r>
              <a:t/>
            </a:r>
          </a:p>
          <a:p xmlns:a="http://schemas.openxmlformats.org/drawingml/2006/main">
            <a:r>
              <a:t>A host-side script copies permitted files into each workspace. It mounts the frozen artifact snapshot read-only at /memory for the retrieved condition. The stateless condition gets no memory mount.</a:t>
            </a:r>
          </a:p>
          <a:p xmlns:a="http://schemas.openxmlformats.org/drawingml/2006/main">
            <a:r>
              <a:t/>
            </a:r>
          </a:p>
          <a:p xmlns:a="http://schemas.openxmlformats.org/drawingml/2006/main">
            <a:r>
              <a:t>Exclude completed proofs, answer-bearing Git history, and build outputs. Restrict other tools and network access so they cannot bypass isolation. Test those boundaries before the experiment. This setup is proposed and still needs implementation.</a:t>
            </a:r>
          </a:p>
          <a:p xmlns:a="http://schemas.openxmlformats.org/drawingml/2006/main">
            <a:r>
              <a:t/>
            </a:r>
          </a:p>
          <a:p xmlns:a="http://schemas.openxmlformats.org/drawingml/2006/main">
            <a:r>
              <a:t>Reference: https://developers.openai.com/codex/cli; project protocol in AGENTS.md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paper shows that retrieving and reusing memory does not explain all improvement. Relevant lessons can still be poor, too specific, or incorrectly applied. These are candidate bottlenecks, not established causal findings.</a:t>
            </a:r>
          </a:p>
          <a:p xmlns:a="http://schemas.openxmlformats.org/drawingml/2006/main">
            <a:r>
              <a:t/>
            </a:r>
          </a:p>
          <a:p xmlns:a="http://schemas.openxmlformats.org/drawingml/2006/main">
            <a:r>
              <a:t>After the baseline works, I would test three changes separately: supply relevant lessons directly, improve lessons using compiler feedback, and save tested executable skills alongside notes.</a:t>
            </a:r>
          </a:p>
          <a:p xmlns:a="http://schemas.openxmlformats.org/drawingml/2006/main">
            <a:r>
              <a:t/>
            </a:r>
          </a:p>
          <a:p xmlns:a="http://schemas.openxmlformats.org/drawingml/2006/main">
            <a:r>
              <a:t>Each change must improve verified performance on unseen proofs relative to its total cost. Post-training can wait until we have a reliable evaluation.</a:t>
            </a:r>
          </a:p>
          <a:p xmlns:a="http://schemas.openxmlformats.org/drawingml/2006/main">
            <a:r>
              <a:t/>
            </a:r>
          </a:p>
          <a:p xmlns:a="http://schemas.openxmlformats.org/drawingml/2006/main">
            <a:r>
              <a:t>Source: C:/Users/austi/Downloads/2610.08902v1.pdf, Agent Plasticity: Measuring Self-Improvement Through Experience, sections 3.5 and 4. The experiments listed here are proposed adaptations for Lean.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whole system stays in one monorepo. A small orchestration script prepares identical starting workspaces, freezes memory, and launches fresh agent runs. An orchestrator agent is optional.</a:t>
            </a:r>
          </a:p>
          <a:p xmlns:a="http://schemas.openxmlformats.org/drawingml/2006/main">
            <a:r>
              <a:t/>
            </a:r>
          </a:p>
          <a:p xmlns:a="http://schemas.openxmlformats.org/drawingml/2006/main">
            <a:r>
              <a:t>Each agent writes proofs and logs its decisions. A trusted evaluator checks the exported code, and I review its mathematical meaning. We compare success and cost across the two conditions.</a:t>
            </a:r>
          </a:p>
          <a:p xmlns:a="http://schemas.openxmlformats.org/drawingml/2006/main">
            <a:r>
              <a:t/>
            </a:r>
          </a:p>
          <a:p xmlns:a="http://schemas.openxmlformats.org/drawingml/2006/main">
            <a:r>
              <a:t>Only after both runs finish do we promote verified lessons into memory for future experiments. The Lean foundation exists. Container orchestration and comparative evaluation are the next steps.</a:t>
            </a:r>
          </a:p>
          <a:p xmlns:a="http://schemas.openxmlformats.org/drawingml/2006/main">
            <a:r>
              <a:t/>
            </a:r>
          </a:p>
          <a:p xmlns:a="http://schemas.openxmlformats.org/drawingml/2006/main">
            <a:r>
              <a:t>Sources: pipeline/README.md; AGENTS.md; proposed architecture from this research plan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8c86630648b42eb"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2bf5d3652fc64e8f"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d075b5c81f6b441a"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465152425f054c48"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fe8a94c8fc7f41c7"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2a23433fef604dd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DB91804-B8DE-49E1-945B-93C295CE6E60}"/>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A4F8A991-B1C0-463E-A1E6-E74FAFC16163}"/>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8CB384AA-84B0-43C3-A541-C8CBE1EAF8C5}"/>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5E481C5-8456-4F1D-8B14-266A7BCAE6B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BA156454-AA3E-4AAC-BD78-4DBE089361DD}"/>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504E8D41-E0C8-4610-9AE3-AD2A59C4193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FB615B2-0989-49E2-A995-F403B897C3F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52E98744-E27B-466D-BA9C-0C93CB663872}"/>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E1315B2-0AAE-475F-B4A5-0CA5AEEC98A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B3B20C8-2A68-4DEC-A303-0791EDABD7E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914744d2f074b75" /><Relationship Type="http://schemas.openxmlformats.org/officeDocument/2006/relationships/slideLayout" Target="/ppt/slideLayouts/slideLayout1.xml" Id="R3aaa2335c5a643d0" /><Relationship Type="http://schemas.openxmlformats.org/officeDocument/2006/relationships/slideLayout" Target="/ppt/slideLayouts/slideLayout2.xml" Id="Rf31f71e033cb4a3b" /><Relationship Type="http://schemas.openxmlformats.org/officeDocument/2006/relationships/slideLayout" Target="/ppt/slideLayouts/slideLayout3.xml" Id="R08f9488ae23a4300" /><Relationship Type="http://schemas.openxmlformats.org/officeDocument/2006/relationships/slideLayout" Target="/ppt/slideLayouts/slideLayout4.xml" Id="Reaaefeadeaea4726" /><Relationship Type="http://schemas.openxmlformats.org/officeDocument/2006/relationships/slideLayout" Target="/ppt/slideLayouts/slideLayout5.xml" Id="Rd6f47a963c064541" /><Relationship Type="http://schemas.openxmlformats.org/officeDocument/2006/relationships/slideLayout" Target="/ppt/slideLayouts/slideLayout6.xml" Id="R8755c42e9f6e47f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aaa2335c5a643d0"/>
    <p:sldLayoutId xmlns:r="http://schemas.openxmlformats.org/officeDocument/2006/relationships" id="2147483650" r:id="Rf31f71e033cb4a3b"/>
    <p:sldLayoutId xmlns:r="http://schemas.openxmlformats.org/officeDocument/2006/relationships" id="2147483651" r:id="R08f9488ae23a4300"/>
    <p:sldLayoutId xmlns:r="http://schemas.openxmlformats.org/officeDocument/2006/relationships" id="2147483652" r:id="Reaaefeadeaea4726"/>
    <p:sldLayoutId xmlns:r="http://schemas.openxmlformats.org/officeDocument/2006/relationships" id="2147483653" r:id="Rd6f47a963c064541"/>
    <p:sldLayoutId xmlns:r="http://schemas.openxmlformats.org/officeDocument/2006/relationships" id="2147483654" r:id="R8755c42e9f6e47f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7d5921ea30c74133" /><Relationship Type="http://schemas.openxmlformats.org/officeDocument/2006/relationships/notesSlide" Target="/ppt/notesSlides/notesSlide1.xml" Id="R574861b958ce41bf"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584cd4b79b514d08" /><Relationship Type="http://schemas.openxmlformats.org/officeDocument/2006/relationships/notesSlide" Target="/ppt/notesSlides/notesSlide2.xml" Id="Rab3cbd0ce9a44eb5"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e6466695da284164" /><Relationship Type="http://schemas.openxmlformats.org/officeDocument/2006/relationships/notesSlide" Target="/ppt/notesSlides/notesSlide3.xml" Id="Rfe752df0ccee4d0e"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c71e006002a04312" /><Relationship Type="http://schemas.openxmlformats.org/officeDocument/2006/relationships/notesSlide" Target="/ppt/notesSlides/notesSlide4.xml" Id="R87c7881adc8a488c"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d8a76da97eac4bdc" /><Relationship Type="http://schemas.openxmlformats.org/officeDocument/2006/relationships/notesSlide" Target="/ppt/notesSlides/notesSlide5.xml" Id="Rcd851ebe29e040e3"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745146e133e64e96" /><Relationship Type="http://schemas.openxmlformats.org/officeDocument/2006/relationships/notesSlide" Target="/ppt/notesSlides/notesSlide6.xml" Id="R270e381450554186" /></Relationships>
</file>

<file path=ppt/slides/slide1.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46" name="">
            <a:extLst xmlns:a="http://schemas.openxmlformats.org/drawingml/2006/main">
              <a:ext uri="{FF2B5EF4-FFF2-40B4-BE49-F238E27FC236}">
                <a16:creationId xmlns:a16="http://schemas.microsoft.com/office/drawing/2014/main" id="{DB43FF63-86B6-4EAB-9011-3483909D5B78}"/>
              </a:ext>
            </a:extLst>
          </p:cNvPr>
          <p:cNvSpPr>
            <a:spLocks xmlns:a="http://schemas.openxmlformats.org/drawingml/2006/main" noGrp="1"/>
          </p:cNvSpPr>
          <p:nvPr/>
        </p:nvSpPr>
        <p:spPr>
          <a:xfrm xmlns:a="http://schemas.openxmlformats.org/drawingml/2006/main">
            <a:off x="666750" y="361950"/>
            <a:ext cx="4191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975" b="1">
                <a:solidFill>
                  <a:srgbClr val="2563EB"/>
                </a:solidFill>
              </a:defRPr>
            </a:defPPr>
          </a:lstStyle>
          <a:p xmlns:a="http://schemas.openxmlformats.org/drawingml/2006/main">
            <a:pPr algn="l">
              <a:defRPr sz="975" b="1">
                <a:solidFill>
                  <a:srgbClr val="2563EB"/>
                </a:solidFill>
              </a:defRPr>
            </a:pPr>
            <a:r>
              <a:rPr sz="975" b="1">
                <a:solidFill>
                  <a:srgbClr val="2563EB"/>
                </a:solidFill>
              </a:rPr>
              <a:t>01</a:t>
            </a:r>
          </a:p>
        </p:txBody>
      </p:sp>
      <p:sp>
        <p:nvSpPr>
          <p:cNvPr id="2" name="">
            <a:extLst xmlns:a="http://schemas.openxmlformats.org/drawingml/2006/main">
              <a:ext uri="{FF2B5EF4-FFF2-40B4-BE49-F238E27FC236}">
                <a16:creationId xmlns:a16="http://schemas.microsoft.com/office/drawing/2014/main" id="{41AB3FE5-E87B-4B17-9E77-8D7571B7D31E}"/>
              </a:ext>
            </a:extLst>
          </p:cNvPr>
          <p:cNvSpPr>
            <a:spLocks xmlns:a="http://schemas.openxmlformats.org/drawingml/2006/main" noGrp="1"/>
          </p:cNvSpPr>
          <p:nvPr/>
        </p:nvSpPr>
        <p:spPr>
          <a:xfrm xmlns:a="http://schemas.openxmlformats.org/drawingml/2006/main">
            <a:off x="666750" y="685800"/>
            <a:ext cx="1047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400" b="1">
                <a:solidFill>
                  <a:srgbClr val="0B1739"/>
                </a:solidFill>
              </a:defRPr>
            </a:defPPr>
          </a:lstStyle>
          <a:p xmlns:a="http://schemas.openxmlformats.org/drawingml/2006/main">
            <a:pPr algn="l">
              <a:defRPr sz="2400" b="1">
                <a:solidFill>
                  <a:srgbClr val="0B1739"/>
                </a:solidFill>
              </a:defRPr>
            </a:pPr>
            <a:r>
              <a:rPr sz="2400" b="1">
                <a:solidFill>
                  <a:srgbClr val="0B1739"/>
                </a:solidFill>
              </a:rPr>
              <a:t>Binary-tree floating-point reduction</a:t>
            </a:r>
          </a:p>
        </p:txBody>
      </p:sp>
      <p:sp>
        <p:nvSpPr>
          <p:cNvPr id="3" name="">
            <a:extLst xmlns:a="http://schemas.openxmlformats.org/drawingml/2006/main">
              <a:ext uri="{FF2B5EF4-FFF2-40B4-BE49-F238E27FC236}">
                <a16:creationId xmlns:a16="http://schemas.microsoft.com/office/drawing/2014/main" id="{1A31DCC2-F0A8-4B55-A38E-2C61E0F87072}"/>
              </a:ext>
            </a:extLst>
          </p:cNvPr>
          <p:cNvSpPr>
            <a:spLocks xmlns:a="http://schemas.openxmlformats.org/drawingml/2006/main" noGrp="1"/>
          </p:cNvSpPr>
          <p:nvPr/>
        </p:nvSpPr>
        <p:spPr>
          <a:xfrm xmlns:a="http://schemas.openxmlformats.org/drawingml/2006/main" flipH="0" flipV="0">
            <a:off x="666750" y="1333500"/>
            <a:ext cx="108585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4" name="">
            <a:extLst xmlns:a="http://schemas.openxmlformats.org/drawingml/2006/main">
              <a:ext uri="{FF2B5EF4-FFF2-40B4-BE49-F238E27FC236}">
                <a16:creationId xmlns:a16="http://schemas.microsoft.com/office/drawing/2014/main" id="{DE59232D-F7FB-4A42-B1ED-3358E73066CF}"/>
              </a:ext>
            </a:extLst>
          </p:cNvPr>
          <p:cNvSpPr>
            <a:spLocks xmlns:a="http://schemas.openxmlformats.org/drawingml/2006/main" noGrp="1"/>
          </p:cNvSpPr>
          <p:nvPr/>
        </p:nvSpPr>
        <p:spPr>
          <a:xfrm xmlns:a="http://schemas.openxmlformats.org/drawingml/2006/main">
            <a:off x="666750" y="1457325"/>
            <a:ext cx="10668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00" b="0">
                <a:solidFill>
                  <a:srgbClr val="64748B"/>
                </a:solidFill>
              </a:defRPr>
            </a:defPPr>
          </a:lstStyle>
          <a:p xmlns:a="http://schemas.openxmlformats.org/drawingml/2006/main">
            <a:pPr algn="l">
              <a:defRPr sz="1500" b="0">
                <a:solidFill>
                  <a:srgbClr val="64748B"/>
                </a:solidFill>
              </a:defRPr>
            </a:pPr>
            <a:r>
              <a:rPr sz="1500" b="0">
                <a:solidFill>
                  <a:srgbClr val="64748B"/>
                </a:solidFill>
              </a:rPr>
              <a:t>Completed: Algorithm 1 for every nonempty list, with a deterministic backward-error theorem in Lean.</a:t>
            </a:r>
          </a:p>
        </p:txBody>
      </p:sp>
      <p:sp>
        <p:nvSpPr>
          <p:cNvPr id="5" name="">
            <a:extLst xmlns:a="http://schemas.openxmlformats.org/drawingml/2006/main">
              <a:ext uri="{FF2B5EF4-FFF2-40B4-BE49-F238E27FC236}">
                <a16:creationId xmlns:a16="http://schemas.microsoft.com/office/drawing/2014/main" id="{5119ECAF-FD00-4884-BD0D-F7D7C0DCD413}"/>
              </a:ext>
            </a:extLst>
          </p:cNvPr>
          <p:cNvSpPr>
            <a:spLocks xmlns:a="http://schemas.openxmlformats.org/drawingml/2006/main" noGrp="1"/>
          </p:cNvSpPr>
          <p:nvPr/>
        </p:nvSpPr>
        <p:spPr>
          <a:xfrm xmlns:a="http://schemas.openxmlformats.org/drawingml/2006/main">
            <a:off x="1352550" y="2209800"/>
            <a:ext cx="533400" cy="5334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sp>
      <p:sp>
        <p:nvSpPr>
          <p:cNvPr id="6" name="">
            <a:extLst xmlns:a="http://schemas.openxmlformats.org/drawingml/2006/main">
              <a:ext uri="{FF2B5EF4-FFF2-40B4-BE49-F238E27FC236}">
                <a16:creationId xmlns:a16="http://schemas.microsoft.com/office/drawing/2014/main" id="{3692961A-964E-49BE-A281-8DDAC4AA4F9E}"/>
              </a:ext>
            </a:extLst>
          </p:cNvPr>
          <p:cNvSpPr>
            <a:spLocks xmlns:a="http://schemas.openxmlformats.org/drawingml/2006/main" noGrp="1"/>
          </p:cNvSpPr>
          <p:nvPr/>
        </p:nvSpPr>
        <p:spPr>
          <a:xfrm xmlns:a="http://schemas.openxmlformats.org/drawingml/2006/main">
            <a:off x="1352550" y="2209800"/>
            <a:ext cx="533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200" b="1">
                <a:solidFill>
                  <a:srgbClr val="172033"/>
                </a:solidFill>
              </a:defRPr>
            </a:defPPr>
          </a:lstStyle>
          <a:p xmlns:a="http://schemas.openxmlformats.org/drawingml/2006/main">
            <a:pPr algn="ctr">
              <a:defRPr sz="1200" b="1">
                <a:solidFill>
                  <a:srgbClr val="172033"/>
                </a:solidFill>
              </a:defRPr>
            </a:pPr>
            <a:r>
              <a:rPr sz="1200" b="1">
                <a:solidFill>
                  <a:srgbClr val="172033"/>
                </a:solidFill>
              </a:rPr>
              <a:t>2</a:t>
            </a:r>
          </a:p>
        </p:txBody>
      </p:sp>
      <p:sp>
        <p:nvSpPr>
          <p:cNvPr id="7" name="">
            <a:extLst xmlns:a="http://schemas.openxmlformats.org/drawingml/2006/main">
              <a:ext uri="{FF2B5EF4-FFF2-40B4-BE49-F238E27FC236}">
                <a16:creationId xmlns:a16="http://schemas.microsoft.com/office/drawing/2014/main" id="{4A6E578A-FCE6-474B-965A-2AE516C18EB5}"/>
              </a:ext>
            </a:extLst>
          </p:cNvPr>
          <p:cNvSpPr>
            <a:spLocks xmlns:a="http://schemas.openxmlformats.org/drawingml/2006/main" noGrp="1"/>
          </p:cNvSpPr>
          <p:nvPr/>
        </p:nvSpPr>
        <p:spPr>
          <a:xfrm xmlns:a="http://schemas.openxmlformats.org/drawingml/2006/main">
            <a:off x="3067050" y="2209800"/>
            <a:ext cx="533400" cy="5334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sp>
      <p:sp>
        <p:nvSpPr>
          <p:cNvPr id="8" name="">
            <a:extLst xmlns:a="http://schemas.openxmlformats.org/drawingml/2006/main">
              <a:ext uri="{FF2B5EF4-FFF2-40B4-BE49-F238E27FC236}">
                <a16:creationId xmlns:a16="http://schemas.microsoft.com/office/drawing/2014/main" id="{9F1665C5-BFE4-4FDD-B2C6-B837009697A2}"/>
              </a:ext>
            </a:extLst>
          </p:cNvPr>
          <p:cNvSpPr>
            <a:spLocks xmlns:a="http://schemas.openxmlformats.org/drawingml/2006/main" noGrp="1"/>
          </p:cNvSpPr>
          <p:nvPr/>
        </p:nvSpPr>
        <p:spPr>
          <a:xfrm xmlns:a="http://schemas.openxmlformats.org/drawingml/2006/main">
            <a:off x="3067050" y="2209800"/>
            <a:ext cx="533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200" b="1">
                <a:solidFill>
                  <a:srgbClr val="172033"/>
                </a:solidFill>
              </a:defRPr>
            </a:defPPr>
          </a:lstStyle>
          <a:p xmlns:a="http://schemas.openxmlformats.org/drawingml/2006/main">
            <a:pPr algn="ctr">
              <a:defRPr sz="1200" b="1">
                <a:solidFill>
                  <a:srgbClr val="172033"/>
                </a:solidFill>
              </a:defRPr>
            </a:pPr>
            <a:r>
              <a:rPr sz="1200" b="1">
                <a:solidFill>
                  <a:srgbClr val="172033"/>
                </a:solidFill>
              </a:rPr>
              <a:t>3</a:t>
            </a:r>
          </a:p>
        </p:txBody>
      </p:sp>
      <p:sp>
        <p:nvSpPr>
          <p:cNvPr id="9" name="">
            <a:extLst xmlns:a="http://schemas.openxmlformats.org/drawingml/2006/main">
              <a:ext uri="{FF2B5EF4-FFF2-40B4-BE49-F238E27FC236}">
                <a16:creationId xmlns:a16="http://schemas.microsoft.com/office/drawing/2014/main" id="{41F1A2C3-9E12-485A-ABA9-30037EA6DACA}"/>
              </a:ext>
            </a:extLst>
          </p:cNvPr>
          <p:cNvSpPr>
            <a:spLocks xmlns:a="http://schemas.openxmlformats.org/drawingml/2006/main" noGrp="1"/>
          </p:cNvSpPr>
          <p:nvPr/>
        </p:nvSpPr>
        <p:spPr>
          <a:xfrm xmlns:a="http://schemas.openxmlformats.org/drawingml/2006/main">
            <a:off x="4781550" y="2209800"/>
            <a:ext cx="533400" cy="5334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sp>
      <p:sp>
        <p:nvSpPr>
          <p:cNvPr id="10" name="">
            <a:extLst xmlns:a="http://schemas.openxmlformats.org/drawingml/2006/main">
              <a:ext uri="{FF2B5EF4-FFF2-40B4-BE49-F238E27FC236}">
                <a16:creationId xmlns:a16="http://schemas.microsoft.com/office/drawing/2014/main" id="{46FAEC97-2DC6-4296-9E6B-D8B97A1D4CF5}"/>
              </a:ext>
            </a:extLst>
          </p:cNvPr>
          <p:cNvSpPr>
            <a:spLocks xmlns:a="http://schemas.openxmlformats.org/drawingml/2006/main" noGrp="1"/>
          </p:cNvSpPr>
          <p:nvPr/>
        </p:nvSpPr>
        <p:spPr>
          <a:xfrm xmlns:a="http://schemas.openxmlformats.org/drawingml/2006/main">
            <a:off x="4781550" y="2209800"/>
            <a:ext cx="533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200" b="1">
                <a:solidFill>
                  <a:srgbClr val="172033"/>
                </a:solidFill>
              </a:defRPr>
            </a:defPPr>
          </a:lstStyle>
          <a:p xmlns:a="http://schemas.openxmlformats.org/drawingml/2006/main">
            <a:pPr algn="ctr">
              <a:defRPr sz="1200" b="1">
                <a:solidFill>
                  <a:srgbClr val="172033"/>
                </a:solidFill>
              </a:defRPr>
            </a:pPr>
            <a:r>
              <a:rPr sz="1200" b="1">
                <a:solidFill>
                  <a:srgbClr val="172033"/>
                </a:solidFill>
              </a:rPr>
              <a:t>4</a:t>
            </a:r>
          </a:p>
        </p:txBody>
      </p:sp>
      <p:sp>
        <p:nvSpPr>
          <p:cNvPr id="11" name="">
            <a:extLst xmlns:a="http://schemas.openxmlformats.org/drawingml/2006/main">
              <a:ext uri="{FF2B5EF4-FFF2-40B4-BE49-F238E27FC236}">
                <a16:creationId xmlns:a16="http://schemas.microsoft.com/office/drawing/2014/main" id="{73987468-9704-4169-9620-F09B1520CA2B}"/>
              </a:ext>
            </a:extLst>
          </p:cNvPr>
          <p:cNvSpPr>
            <a:spLocks xmlns:a="http://schemas.openxmlformats.org/drawingml/2006/main" noGrp="1"/>
          </p:cNvSpPr>
          <p:nvPr/>
        </p:nvSpPr>
        <p:spPr>
          <a:xfrm xmlns:a="http://schemas.openxmlformats.org/drawingml/2006/main">
            <a:off x="6496050" y="2209800"/>
            <a:ext cx="533400" cy="5334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sp>
      <p:sp>
        <p:nvSpPr>
          <p:cNvPr id="12" name="">
            <a:extLst xmlns:a="http://schemas.openxmlformats.org/drawingml/2006/main">
              <a:ext uri="{FF2B5EF4-FFF2-40B4-BE49-F238E27FC236}">
                <a16:creationId xmlns:a16="http://schemas.microsoft.com/office/drawing/2014/main" id="{328DB726-7A7B-4596-88B7-C3BD90E23F67}"/>
              </a:ext>
            </a:extLst>
          </p:cNvPr>
          <p:cNvSpPr>
            <a:spLocks xmlns:a="http://schemas.openxmlformats.org/drawingml/2006/main" noGrp="1"/>
          </p:cNvSpPr>
          <p:nvPr/>
        </p:nvSpPr>
        <p:spPr>
          <a:xfrm xmlns:a="http://schemas.openxmlformats.org/drawingml/2006/main">
            <a:off x="6496050" y="2209800"/>
            <a:ext cx="533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200" b="1">
                <a:solidFill>
                  <a:srgbClr val="172033"/>
                </a:solidFill>
              </a:defRPr>
            </a:defPPr>
          </a:lstStyle>
          <a:p xmlns:a="http://schemas.openxmlformats.org/drawingml/2006/main">
            <a:pPr algn="ctr">
              <a:defRPr sz="1200" b="1">
                <a:solidFill>
                  <a:srgbClr val="172033"/>
                </a:solidFill>
              </a:defRPr>
            </a:pPr>
            <a:r>
              <a:rPr sz="1200" b="1">
                <a:solidFill>
                  <a:srgbClr val="172033"/>
                </a:solidFill>
              </a:rPr>
              <a:t>5</a:t>
            </a:r>
          </a:p>
        </p:txBody>
      </p:sp>
      <p:sp>
        <p:nvSpPr>
          <p:cNvPr id="13" name="">
            <a:extLst xmlns:a="http://schemas.openxmlformats.org/drawingml/2006/main">
              <a:ext uri="{FF2B5EF4-FFF2-40B4-BE49-F238E27FC236}">
                <a16:creationId xmlns:a16="http://schemas.microsoft.com/office/drawing/2014/main" id="{3647D04B-06E3-4736-8E0C-9F95D73895EC}"/>
              </a:ext>
            </a:extLst>
          </p:cNvPr>
          <p:cNvSpPr>
            <a:spLocks xmlns:a="http://schemas.openxmlformats.org/drawingml/2006/main" noGrp="1"/>
          </p:cNvSpPr>
          <p:nvPr/>
        </p:nvSpPr>
        <p:spPr>
          <a:xfrm xmlns:a="http://schemas.openxmlformats.org/drawingml/2006/main">
            <a:off x="8210550" y="2209800"/>
            <a:ext cx="533400" cy="5334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sp>
      <p:sp>
        <p:nvSpPr>
          <p:cNvPr id="14" name="">
            <a:extLst xmlns:a="http://schemas.openxmlformats.org/drawingml/2006/main">
              <a:ext uri="{FF2B5EF4-FFF2-40B4-BE49-F238E27FC236}">
                <a16:creationId xmlns:a16="http://schemas.microsoft.com/office/drawing/2014/main" id="{18F95374-A508-4753-9270-B9EE6D8F12AB}"/>
              </a:ext>
            </a:extLst>
          </p:cNvPr>
          <p:cNvSpPr>
            <a:spLocks xmlns:a="http://schemas.openxmlformats.org/drawingml/2006/main" noGrp="1"/>
          </p:cNvSpPr>
          <p:nvPr/>
        </p:nvSpPr>
        <p:spPr>
          <a:xfrm xmlns:a="http://schemas.openxmlformats.org/drawingml/2006/main">
            <a:off x="8210550" y="2209800"/>
            <a:ext cx="533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200" b="1">
                <a:solidFill>
                  <a:srgbClr val="172033"/>
                </a:solidFill>
              </a:defRPr>
            </a:defPPr>
          </a:lstStyle>
          <a:p xmlns:a="http://schemas.openxmlformats.org/drawingml/2006/main">
            <a:pPr algn="ctr">
              <a:defRPr sz="1200" b="1">
                <a:solidFill>
                  <a:srgbClr val="172033"/>
                </a:solidFill>
              </a:defRPr>
            </a:pPr>
            <a:r>
              <a:rPr sz="1200" b="1">
                <a:solidFill>
                  <a:srgbClr val="172033"/>
                </a:solidFill>
              </a:rPr>
              <a:t>6</a:t>
            </a:r>
          </a:p>
        </p:txBody>
      </p:sp>
      <p:sp>
        <p:nvSpPr>
          <p:cNvPr id="15" name="">
            <a:extLst xmlns:a="http://schemas.openxmlformats.org/drawingml/2006/main">
              <a:ext uri="{FF2B5EF4-FFF2-40B4-BE49-F238E27FC236}">
                <a16:creationId xmlns:a16="http://schemas.microsoft.com/office/drawing/2014/main" id="{C2791141-F99B-44B5-8FA4-E7122088BEDA}"/>
              </a:ext>
            </a:extLst>
          </p:cNvPr>
          <p:cNvSpPr>
            <a:spLocks xmlns:a="http://schemas.openxmlformats.org/drawingml/2006/main" noGrp="1"/>
          </p:cNvSpPr>
          <p:nvPr/>
        </p:nvSpPr>
        <p:spPr>
          <a:xfrm xmlns:a="http://schemas.openxmlformats.org/drawingml/2006/main">
            <a:off x="666750" y="2333625"/>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900" b="1">
                <a:solidFill>
                  <a:srgbClr val="64748B"/>
                </a:solidFill>
              </a:defRPr>
            </a:defPPr>
          </a:lstStyle>
          <a:p xmlns:a="http://schemas.openxmlformats.org/drawingml/2006/main">
            <a:pPr algn="l">
              <a:defRPr sz="900" b="1">
                <a:solidFill>
                  <a:srgbClr val="64748B"/>
                </a:solidFill>
              </a:defRPr>
            </a:pPr>
            <a:r>
              <a:rPr sz="900" b="1">
                <a:solidFill>
                  <a:srgbClr val="64748B"/>
                </a:solidFill>
              </a:rPr>
              <a:t>LEVEL 0</a:t>
            </a:r>
          </a:p>
        </p:txBody>
      </p:sp>
      <p:sp>
        <p:nvSpPr>
          <p:cNvPr id="16" name="">
            <a:extLst xmlns:a="http://schemas.openxmlformats.org/drawingml/2006/main">
              <a:ext uri="{FF2B5EF4-FFF2-40B4-BE49-F238E27FC236}">
                <a16:creationId xmlns:a16="http://schemas.microsoft.com/office/drawing/2014/main" id="{EF568851-3F6C-4D30-AD22-40C6D3FFB38B}"/>
              </a:ext>
            </a:extLst>
          </p:cNvPr>
          <p:cNvSpPr>
            <a:spLocks xmlns:a="http://schemas.openxmlformats.org/drawingml/2006/main" noGrp="1"/>
          </p:cNvSpPr>
          <p:nvPr/>
        </p:nvSpPr>
        <p:spPr>
          <a:xfrm xmlns:a="http://schemas.openxmlformats.org/drawingml/2006/main" flipH="0" flipV="0">
            <a:off x="1619250" y="2752725"/>
            <a:ext cx="857250" cy="457200"/>
          </a:xfrm>
          <a:prstGeom xmlns:a="http://schemas.openxmlformats.org/drawingml/2006/main" prst="line">
            <a:avLst/>
          </a:prstGeom>
          <a:noFill xmlns:a="http://schemas.openxmlformats.org/drawingml/2006/main"/>
          <a:ln xmlns:a="http://schemas.openxmlformats.org/drawingml/2006/main" w="19050">
            <a:solidFill>
              <a:srgbClr val="2563EB"/>
            </a:solidFill>
            <a:prstDash val="solid"/>
          </a:ln>
        </p:spPr>
      </p:sp>
      <p:sp>
        <p:nvSpPr>
          <p:cNvPr id="17" name="">
            <a:extLst xmlns:a="http://schemas.openxmlformats.org/drawingml/2006/main">
              <a:ext uri="{FF2B5EF4-FFF2-40B4-BE49-F238E27FC236}">
                <a16:creationId xmlns:a16="http://schemas.microsoft.com/office/drawing/2014/main" id="{05F624C7-D342-40FB-B98B-C91E28935F91}"/>
              </a:ext>
            </a:extLst>
          </p:cNvPr>
          <p:cNvSpPr>
            <a:spLocks xmlns:a="http://schemas.openxmlformats.org/drawingml/2006/main" noGrp="1"/>
          </p:cNvSpPr>
          <p:nvPr/>
        </p:nvSpPr>
        <p:spPr>
          <a:xfrm xmlns:a="http://schemas.openxmlformats.org/drawingml/2006/main" flipH="1" flipV="0">
            <a:off x="2476500" y="2752725"/>
            <a:ext cx="4286250" cy="457200"/>
          </a:xfrm>
          <a:prstGeom xmlns:a="http://schemas.openxmlformats.org/drawingml/2006/main" prst="line">
            <a:avLst/>
          </a:prstGeom>
          <a:noFill xmlns:a="http://schemas.openxmlformats.org/drawingml/2006/main"/>
          <a:ln xmlns:a="http://schemas.openxmlformats.org/drawingml/2006/main" w="19050">
            <a:solidFill>
              <a:srgbClr val="2563EB"/>
            </a:solidFill>
            <a:prstDash val="solid"/>
          </a:ln>
        </p:spPr>
      </p:sp>
      <p:sp>
        <p:nvSpPr>
          <p:cNvPr id="18" name="">
            <a:extLst xmlns:a="http://schemas.openxmlformats.org/drawingml/2006/main">
              <a:ext uri="{FF2B5EF4-FFF2-40B4-BE49-F238E27FC236}">
                <a16:creationId xmlns:a16="http://schemas.microsoft.com/office/drawing/2014/main" id="{4C6B25C1-6BD3-449F-B976-696B06724895}"/>
              </a:ext>
            </a:extLst>
          </p:cNvPr>
          <p:cNvSpPr>
            <a:spLocks xmlns:a="http://schemas.openxmlformats.org/drawingml/2006/main" noGrp="1"/>
          </p:cNvSpPr>
          <p:nvPr/>
        </p:nvSpPr>
        <p:spPr>
          <a:xfrm xmlns:a="http://schemas.openxmlformats.org/drawingml/2006/main" flipH="0" flipV="0">
            <a:off x="3333750" y="2752725"/>
            <a:ext cx="2571750" cy="457200"/>
          </a:xfrm>
          <a:prstGeom xmlns:a="http://schemas.openxmlformats.org/drawingml/2006/main" prst="line">
            <a:avLst/>
          </a:prstGeom>
          <a:noFill xmlns:a="http://schemas.openxmlformats.org/drawingml/2006/main"/>
          <a:ln xmlns:a="http://schemas.openxmlformats.org/drawingml/2006/main" w="19050">
            <a:solidFill>
              <a:srgbClr val="2563EB"/>
            </a:solidFill>
            <a:prstDash val="solid"/>
          </a:ln>
        </p:spPr>
      </p:sp>
      <p:sp>
        <p:nvSpPr>
          <p:cNvPr id="19" name="">
            <a:extLst xmlns:a="http://schemas.openxmlformats.org/drawingml/2006/main">
              <a:ext uri="{FF2B5EF4-FFF2-40B4-BE49-F238E27FC236}">
                <a16:creationId xmlns:a16="http://schemas.microsoft.com/office/drawing/2014/main" id="{6421EBC7-FD7A-4666-BF08-2277994C0144}"/>
              </a:ext>
            </a:extLst>
          </p:cNvPr>
          <p:cNvSpPr>
            <a:spLocks xmlns:a="http://schemas.openxmlformats.org/drawingml/2006/main" noGrp="1"/>
          </p:cNvSpPr>
          <p:nvPr/>
        </p:nvSpPr>
        <p:spPr>
          <a:xfrm xmlns:a="http://schemas.openxmlformats.org/drawingml/2006/main" flipH="1" flipV="0">
            <a:off x="5905500" y="2752725"/>
            <a:ext cx="2571750" cy="457200"/>
          </a:xfrm>
          <a:prstGeom xmlns:a="http://schemas.openxmlformats.org/drawingml/2006/main" prst="line">
            <a:avLst/>
          </a:prstGeom>
          <a:noFill xmlns:a="http://schemas.openxmlformats.org/drawingml/2006/main"/>
          <a:ln xmlns:a="http://schemas.openxmlformats.org/drawingml/2006/main" w="19050">
            <a:solidFill>
              <a:srgbClr val="2563EB"/>
            </a:solidFill>
            <a:prstDash val="solid"/>
          </a:ln>
        </p:spPr>
      </p:sp>
      <p:sp>
        <p:nvSpPr>
          <p:cNvPr id="20" name="">
            <a:extLst xmlns:a="http://schemas.openxmlformats.org/drawingml/2006/main">
              <a:ext uri="{FF2B5EF4-FFF2-40B4-BE49-F238E27FC236}">
                <a16:creationId xmlns:a16="http://schemas.microsoft.com/office/drawing/2014/main" id="{536EB30A-41B3-42CC-8655-7135F57B0647}"/>
              </a:ext>
            </a:extLst>
          </p:cNvPr>
          <p:cNvSpPr>
            <a:spLocks xmlns:a="http://schemas.openxmlformats.org/drawingml/2006/main" noGrp="1"/>
          </p:cNvSpPr>
          <p:nvPr/>
        </p:nvSpPr>
        <p:spPr>
          <a:xfrm xmlns:a="http://schemas.openxmlformats.org/drawingml/2006/main" flipH="0" flipV="0">
            <a:off x="5048250" y="2752725"/>
            <a:ext cx="3429000" cy="457200"/>
          </a:xfrm>
          <a:prstGeom xmlns:a="http://schemas.openxmlformats.org/drawingml/2006/main" prst="line">
            <a:avLst/>
          </a:prstGeom>
          <a:noFill xmlns:a="http://schemas.openxmlformats.org/drawingml/2006/main"/>
          <a:ln xmlns:a="http://schemas.openxmlformats.org/drawingml/2006/main" w="19050">
            <a:solidFill>
              <a:srgbClr val="D97706"/>
            </a:solidFill>
            <a:prstDash val="solid"/>
          </a:ln>
        </p:spPr>
      </p:sp>
      <p:sp>
        <p:nvSpPr>
          <p:cNvPr id="21" name="">
            <a:extLst xmlns:a="http://schemas.openxmlformats.org/drawingml/2006/main">
              <a:ext uri="{FF2B5EF4-FFF2-40B4-BE49-F238E27FC236}">
                <a16:creationId xmlns:a16="http://schemas.microsoft.com/office/drawing/2014/main" id="{738B4EF4-5BE9-4838-BFC8-EAB0737D16BB}"/>
              </a:ext>
            </a:extLst>
          </p:cNvPr>
          <p:cNvSpPr>
            <a:spLocks xmlns:a="http://schemas.openxmlformats.org/drawingml/2006/main" noGrp="1"/>
          </p:cNvSpPr>
          <p:nvPr/>
        </p:nvSpPr>
        <p:spPr>
          <a:xfrm xmlns:a="http://schemas.openxmlformats.org/drawingml/2006/main">
            <a:off x="2209800" y="3257550"/>
            <a:ext cx="533400" cy="533400"/>
          </a:xfrm>
          <a:prstGeom xmlns:a="http://schemas.openxmlformats.org/drawingml/2006/main" prst="ellipse">
            <a:avLst/>
          </a:prstGeom>
          <a:solidFill xmlns:a="http://schemas.openxmlformats.org/drawingml/2006/main">
            <a:srgbClr val="DBEAFE"/>
          </a:solidFill>
          <a:ln xmlns:a="http://schemas.openxmlformats.org/drawingml/2006/main" w="19050">
            <a:solidFill>
              <a:srgbClr val="2563EB"/>
            </a:solidFill>
            <a:prstDash val="solid"/>
          </a:ln>
        </p:spPr>
      </p:sp>
      <p:sp>
        <p:nvSpPr>
          <p:cNvPr id="22" name="">
            <a:extLst xmlns:a="http://schemas.openxmlformats.org/drawingml/2006/main">
              <a:ext uri="{FF2B5EF4-FFF2-40B4-BE49-F238E27FC236}">
                <a16:creationId xmlns:a16="http://schemas.microsoft.com/office/drawing/2014/main" id="{03B59F98-849E-4381-8109-345B8A74ACD6}"/>
              </a:ext>
            </a:extLst>
          </p:cNvPr>
          <p:cNvSpPr>
            <a:spLocks xmlns:a="http://schemas.openxmlformats.org/drawingml/2006/main" noGrp="1"/>
          </p:cNvSpPr>
          <p:nvPr/>
        </p:nvSpPr>
        <p:spPr>
          <a:xfrm xmlns:a="http://schemas.openxmlformats.org/drawingml/2006/main">
            <a:off x="2209800" y="3257550"/>
            <a:ext cx="533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200" b="1">
                <a:solidFill>
                  <a:srgbClr val="172033"/>
                </a:solidFill>
              </a:defRPr>
            </a:defPPr>
          </a:lstStyle>
          <a:p xmlns:a="http://schemas.openxmlformats.org/drawingml/2006/main">
            <a:pPr algn="ctr">
              <a:defRPr sz="1200" b="1">
                <a:solidFill>
                  <a:srgbClr val="172033"/>
                </a:solidFill>
              </a:defRPr>
            </a:pPr>
            <a:r>
              <a:rPr sz="1200" b="1">
                <a:solidFill>
                  <a:srgbClr val="172033"/>
                </a:solidFill>
              </a:rPr>
              <a:t>7</a:t>
            </a:r>
          </a:p>
        </p:txBody>
      </p:sp>
      <p:sp>
        <p:nvSpPr>
          <p:cNvPr id="23" name="">
            <a:extLst xmlns:a="http://schemas.openxmlformats.org/drawingml/2006/main">
              <a:ext uri="{FF2B5EF4-FFF2-40B4-BE49-F238E27FC236}">
                <a16:creationId xmlns:a16="http://schemas.microsoft.com/office/drawing/2014/main" id="{4F63182D-F226-45FE-B37B-89E760339525}"/>
              </a:ext>
            </a:extLst>
          </p:cNvPr>
          <p:cNvSpPr>
            <a:spLocks xmlns:a="http://schemas.openxmlformats.org/drawingml/2006/main" noGrp="1"/>
          </p:cNvSpPr>
          <p:nvPr/>
        </p:nvSpPr>
        <p:spPr>
          <a:xfrm xmlns:a="http://schemas.openxmlformats.org/drawingml/2006/main">
            <a:off x="5638800" y="3257550"/>
            <a:ext cx="533400" cy="533400"/>
          </a:xfrm>
          <a:prstGeom xmlns:a="http://schemas.openxmlformats.org/drawingml/2006/main" prst="ellipse">
            <a:avLst/>
          </a:prstGeom>
          <a:solidFill xmlns:a="http://schemas.openxmlformats.org/drawingml/2006/main">
            <a:srgbClr val="DBEAFE"/>
          </a:solidFill>
          <a:ln xmlns:a="http://schemas.openxmlformats.org/drawingml/2006/main" w="19050">
            <a:solidFill>
              <a:srgbClr val="2563EB"/>
            </a:solidFill>
            <a:prstDash val="solid"/>
          </a:ln>
        </p:spPr>
      </p:sp>
      <p:sp>
        <p:nvSpPr>
          <p:cNvPr id="24" name="">
            <a:extLst xmlns:a="http://schemas.openxmlformats.org/drawingml/2006/main">
              <a:ext uri="{FF2B5EF4-FFF2-40B4-BE49-F238E27FC236}">
                <a16:creationId xmlns:a16="http://schemas.microsoft.com/office/drawing/2014/main" id="{2A7DB5CF-5534-4D4A-BF8C-6B22C66A566E}"/>
              </a:ext>
            </a:extLst>
          </p:cNvPr>
          <p:cNvSpPr>
            <a:spLocks xmlns:a="http://schemas.openxmlformats.org/drawingml/2006/main" noGrp="1"/>
          </p:cNvSpPr>
          <p:nvPr/>
        </p:nvSpPr>
        <p:spPr>
          <a:xfrm xmlns:a="http://schemas.openxmlformats.org/drawingml/2006/main">
            <a:off x="5638800" y="3257550"/>
            <a:ext cx="533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200" b="1">
                <a:solidFill>
                  <a:srgbClr val="172033"/>
                </a:solidFill>
              </a:defRPr>
            </a:defPPr>
          </a:lstStyle>
          <a:p xmlns:a="http://schemas.openxmlformats.org/drawingml/2006/main">
            <a:pPr algn="ctr">
              <a:defRPr sz="1200" b="1">
                <a:solidFill>
                  <a:srgbClr val="172033"/>
                </a:solidFill>
              </a:defRPr>
            </a:pPr>
            <a:r>
              <a:rPr sz="1200" b="1">
                <a:solidFill>
                  <a:srgbClr val="172033"/>
                </a:solidFill>
              </a:rPr>
              <a:t>9</a:t>
            </a:r>
          </a:p>
        </p:txBody>
      </p:sp>
      <p:sp>
        <p:nvSpPr>
          <p:cNvPr id="25" name="">
            <a:extLst xmlns:a="http://schemas.openxmlformats.org/drawingml/2006/main">
              <a:ext uri="{FF2B5EF4-FFF2-40B4-BE49-F238E27FC236}">
                <a16:creationId xmlns:a16="http://schemas.microsoft.com/office/drawing/2014/main" id="{CE3A84B8-C6AC-4D9F-9AFA-EB34EBF77FA0}"/>
              </a:ext>
            </a:extLst>
          </p:cNvPr>
          <p:cNvSpPr>
            <a:spLocks xmlns:a="http://schemas.openxmlformats.org/drawingml/2006/main" noGrp="1"/>
          </p:cNvSpPr>
          <p:nvPr/>
        </p:nvSpPr>
        <p:spPr>
          <a:xfrm xmlns:a="http://schemas.openxmlformats.org/drawingml/2006/main">
            <a:off x="8210550" y="3257550"/>
            <a:ext cx="533400" cy="533400"/>
          </a:xfrm>
          <a:prstGeom xmlns:a="http://schemas.openxmlformats.org/drawingml/2006/main" prst="ellipse">
            <a:avLst/>
          </a:prstGeom>
          <a:solidFill xmlns:a="http://schemas.openxmlformats.org/drawingml/2006/main">
            <a:srgbClr val="FEF3C7"/>
          </a:solidFill>
          <a:ln xmlns:a="http://schemas.openxmlformats.org/drawingml/2006/main" w="19050">
            <a:solidFill>
              <a:srgbClr val="D97706"/>
            </a:solidFill>
            <a:prstDash val="solid"/>
          </a:ln>
        </p:spPr>
      </p:sp>
      <p:sp>
        <p:nvSpPr>
          <p:cNvPr id="26" name="">
            <a:extLst xmlns:a="http://schemas.openxmlformats.org/drawingml/2006/main">
              <a:ext uri="{FF2B5EF4-FFF2-40B4-BE49-F238E27FC236}">
                <a16:creationId xmlns:a16="http://schemas.microsoft.com/office/drawing/2014/main" id="{8084973D-BC18-44BC-852C-AD9532583A29}"/>
              </a:ext>
            </a:extLst>
          </p:cNvPr>
          <p:cNvSpPr>
            <a:spLocks xmlns:a="http://schemas.openxmlformats.org/drawingml/2006/main" noGrp="1"/>
          </p:cNvSpPr>
          <p:nvPr/>
        </p:nvSpPr>
        <p:spPr>
          <a:xfrm xmlns:a="http://schemas.openxmlformats.org/drawingml/2006/main">
            <a:off x="8210550" y="3257550"/>
            <a:ext cx="533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200" b="1">
                <a:solidFill>
                  <a:srgbClr val="172033"/>
                </a:solidFill>
              </a:defRPr>
            </a:defPPr>
          </a:lstStyle>
          <a:p xmlns:a="http://schemas.openxmlformats.org/drawingml/2006/main">
            <a:pPr algn="ctr">
              <a:defRPr sz="1200" b="1">
                <a:solidFill>
                  <a:srgbClr val="172033"/>
                </a:solidFill>
              </a:defRPr>
            </a:pPr>
            <a:r>
              <a:rPr sz="1200" b="1">
                <a:solidFill>
                  <a:srgbClr val="172033"/>
                </a:solidFill>
              </a:rPr>
              <a:t>4</a:t>
            </a:r>
          </a:p>
        </p:txBody>
      </p:sp>
      <p:sp>
        <p:nvSpPr>
          <p:cNvPr id="27" name="">
            <a:extLst xmlns:a="http://schemas.openxmlformats.org/drawingml/2006/main">
              <a:ext uri="{FF2B5EF4-FFF2-40B4-BE49-F238E27FC236}">
                <a16:creationId xmlns:a16="http://schemas.microsoft.com/office/drawing/2014/main" id="{D1AAD983-81BF-4D80-8301-00B5EE82557D}"/>
              </a:ext>
            </a:extLst>
          </p:cNvPr>
          <p:cNvSpPr>
            <a:spLocks xmlns:a="http://schemas.openxmlformats.org/drawingml/2006/main" noGrp="1"/>
          </p:cNvSpPr>
          <p:nvPr/>
        </p:nvSpPr>
        <p:spPr>
          <a:xfrm xmlns:a="http://schemas.openxmlformats.org/drawingml/2006/main">
            <a:off x="666750" y="3381375"/>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900" b="1">
                <a:solidFill>
                  <a:srgbClr val="64748B"/>
                </a:solidFill>
              </a:defRPr>
            </a:defPPr>
          </a:lstStyle>
          <a:p xmlns:a="http://schemas.openxmlformats.org/drawingml/2006/main">
            <a:pPr algn="l">
              <a:defRPr sz="900" b="1">
                <a:solidFill>
                  <a:srgbClr val="64748B"/>
                </a:solidFill>
              </a:defRPr>
            </a:pPr>
            <a:r>
              <a:rPr sz="900" b="1">
                <a:solidFill>
                  <a:srgbClr val="64748B"/>
                </a:solidFill>
              </a:rPr>
              <a:t>LEVEL 1</a:t>
            </a:r>
          </a:p>
        </p:txBody>
      </p:sp>
      <p:sp>
        <p:nvSpPr>
          <p:cNvPr id="28" name="">
            <a:extLst xmlns:a="http://schemas.openxmlformats.org/drawingml/2006/main">
              <a:ext uri="{FF2B5EF4-FFF2-40B4-BE49-F238E27FC236}">
                <a16:creationId xmlns:a16="http://schemas.microsoft.com/office/drawing/2014/main" id="{7C5A27EA-915F-4741-8EB5-854E1FC3EB20}"/>
              </a:ext>
            </a:extLst>
          </p:cNvPr>
          <p:cNvSpPr>
            <a:spLocks xmlns:a="http://schemas.openxmlformats.org/drawingml/2006/main" noGrp="1"/>
          </p:cNvSpPr>
          <p:nvPr/>
        </p:nvSpPr>
        <p:spPr>
          <a:xfrm xmlns:a="http://schemas.openxmlformats.org/drawingml/2006/main">
            <a:off x="8858250" y="3390900"/>
            <a:ext cx="8096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900" b="1">
                <a:solidFill>
                  <a:srgbClr val="D97706"/>
                </a:solidFill>
              </a:defRPr>
            </a:defPPr>
          </a:lstStyle>
          <a:p xmlns:a="http://schemas.openxmlformats.org/drawingml/2006/main">
            <a:pPr algn="l">
              <a:defRPr sz="900" b="1">
                <a:solidFill>
                  <a:srgbClr val="D97706"/>
                </a:solidFill>
              </a:defRPr>
            </a:pPr>
            <a:r>
              <a:rPr sz="900" b="1">
                <a:solidFill>
                  <a:srgbClr val="D97706"/>
                </a:solidFill>
              </a:rPr>
              <a:t>carried</a:t>
            </a:r>
          </a:p>
        </p:txBody>
      </p:sp>
      <p:sp>
        <p:nvSpPr>
          <p:cNvPr id="29" name="">
            <a:extLst xmlns:a="http://schemas.openxmlformats.org/drawingml/2006/main">
              <a:ext uri="{FF2B5EF4-FFF2-40B4-BE49-F238E27FC236}">
                <a16:creationId xmlns:a16="http://schemas.microsoft.com/office/drawing/2014/main" id="{A23311FF-E5A6-4247-9401-030B9959FDDF}"/>
              </a:ext>
            </a:extLst>
          </p:cNvPr>
          <p:cNvSpPr>
            <a:spLocks xmlns:a="http://schemas.openxmlformats.org/drawingml/2006/main" noGrp="1"/>
          </p:cNvSpPr>
          <p:nvPr/>
        </p:nvSpPr>
        <p:spPr>
          <a:xfrm xmlns:a="http://schemas.openxmlformats.org/drawingml/2006/main" flipH="0" flipV="0">
            <a:off x="2476500" y="3800475"/>
            <a:ext cx="1714500" cy="457200"/>
          </a:xfrm>
          <a:prstGeom xmlns:a="http://schemas.openxmlformats.org/drawingml/2006/main" prst="line">
            <a:avLst/>
          </a:prstGeom>
          <a:noFill xmlns:a="http://schemas.openxmlformats.org/drawingml/2006/main"/>
          <a:ln xmlns:a="http://schemas.openxmlformats.org/drawingml/2006/main" w="19050">
            <a:solidFill>
              <a:srgbClr val="2563EB"/>
            </a:solidFill>
            <a:prstDash val="solid"/>
          </a:ln>
        </p:spPr>
      </p:sp>
      <p:sp>
        <p:nvSpPr>
          <p:cNvPr id="30" name="">
            <a:extLst xmlns:a="http://schemas.openxmlformats.org/drawingml/2006/main">
              <a:ext uri="{FF2B5EF4-FFF2-40B4-BE49-F238E27FC236}">
                <a16:creationId xmlns:a16="http://schemas.microsoft.com/office/drawing/2014/main" id="{844D8306-6759-4CB1-83BF-3F7B6EBE4BC1}"/>
              </a:ext>
            </a:extLst>
          </p:cNvPr>
          <p:cNvSpPr>
            <a:spLocks xmlns:a="http://schemas.openxmlformats.org/drawingml/2006/main" noGrp="1"/>
          </p:cNvSpPr>
          <p:nvPr/>
        </p:nvSpPr>
        <p:spPr>
          <a:xfrm xmlns:a="http://schemas.openxmlformats.org/drawingml/2006/main" flipH="1" flipV="0">
            <a:off x="4191000" y="3800475"/>
            <a:ext cx="4286250" cy="457200"/>
          </a:xfrm>
          <a:prstGeom xmlns:a="http://schemas.openxmlformats.org/drawingml/2006/main" prst="line">
            <a:avLst/>
          </a:prstGeom>
          <a:noFill xmlns:a="http://schemas.openxmlformats.org/drawingml/2006/main"/>
          <a:ln xmlns:a="http://schemas.openxmlformats.org/drawingml/2006/main" w="19050">
            <a:solidFill>
              <a:srgbClr val="2563EB"/>
            </a:solidFill>
            <a:prstDash val="solid"/>
          </a:ln>
        </p:spPr>
      </p:sp>
      <p:sp>
        <p:nvSpPr>
          <p:cNvPr id="31" name="">
            <a:extLst xmlns:a="http://schemas.openxmlformats.org/drawingml/2006/main">
              <a:ext uri="{FF2B5EF4-FFF2-40B4-BE49-F238E27FC236}">
                <a16:creationId xmlns:a16="http://schemas.microsoft.com/office/drawing/2014/main" id="{F7468141-F701-43EF-B9A3-50C2F71096C2}"/>
              </a:ext>
            </a:extLst>
          </p:cNvPr>
          <p:cNvSpPr>
            <a:spLocks xmlns:a="http://schemas.openxmlformats.org/drawingml/2006/main" noGrp="1"/>
          </p:cNvSpPr>
          <p:nvPr/>
        </p:nvSpPr>
        <p:spPr>
          <a:xfrm xmlns:a="http://schemas.openxmlformats.org/drawingml/2006/main" flipH="0" flipV="0">
            <a:off x="5905500" y="3800475"/>
            <a:ext cx="857250" cy="457200"/>
          </a:xfrm>
          <a:prstGeom xmlns:a="http://schemas.openxmlformats.org/drawingml/2006/main" prst="line">
            <a:avLst/>
          </a:prstGeom>
          <a:noFill xmlns:a="http://schemas.openxmlformats.org/drawingml/2006/main"/>
          <a:ln xmlns:a="http://schemas.openxmlformats.org/drawingml/2006/main" w="19050">
            <a:solidFill>
              <a:srgbClr val="D97706"/>
            </a:solidFill>
            <a:prstDash val="solid"/>
          </a:ln>
        </p:spPr>
      </p:sp>
      <p:sp>
        <p:nvSpPr>
          <p:cNvPr id="32" name="">
            <a:extLst xmlns:a="http://schemas.openxmlformats.org/drawingml/2006/main">
              <a:ext uri="{FF2B5EF4-FFF2-40B4-BE49-F238E27FC236}">
                <a16:creationId xmlns:a16="http://schemas.microsoft.com/office/drawing/2014/main" id="{101DD500-F8CC-43EE-82E5-7CB41122A8EC}"/>
              </a:ext>
            </a:extLst>
          </p:cNvPr>
          <p:cNvSpPr>
            <a:spLocks xmlns:a="http://schemas.openxmlformats.org/drawingml/2006/main" noGrp="1"/>
          </p:cNvSpPr>
          <p:nvPr/>
        </p:nvSpPr>
        <p:spPr>
          <a:xfrm xmlns:a="http://schemas.openxmlformats.org/drawingml/2006/main">
            <a:off x="3924300" y="4305300"/>
            <a:ext cx="533400" cy="533400"/>
          </a:xfrm>
          <a:prstGeom xmlns:a="http://schemas.openxmlformats.org/drawingml/2006/main" prst="ellipse">
            <a:avLst/>
          </a:prstGeom>
          <a:solidFill xmlns:a="http://schemas.openxmlformats.org/drawingml/2006/main">
            <a:srgbClr val="DBEAFE"/>
          </a:solidFill>
          <a:ln xmlns:a="http://schemas.openxmlformats.org/drawingml/2006/main" w="19050">
            <a:solidFill>
              <a:srgbClr val="2563EB"/>
            </a:solidFill>
            <a:prstDash val="solid"/>
          </a:ln>
        </p:spPr>
      </p:sp>
      <p:sp>
        <p:nvSpPr>
          <p:cNvPr id="33" name="">
            <a:extLst xmlns:a="http://schemas.openxmlformats.org/drawingml/2006/main">
              <a:ext uri="{FF2B5EF4-FFF2-40B4-BE49-F238E27FC236}">
                <a16:creationId xmlns:a16="http://schemas.microsoft.com/office/drawing/2014/main" id="{830436FF-5FF8-4ACF-A505-76E91632B6FC}"/>
              </a:ext>
            </a:extLst>
          </p:cNvPr>
          <p:cNvSpPr>
            <a:spLocks xmlns:a="http://schemas.openxmlformats.org/drawingml/2006/main" noGrp="1"/>
          </p:cNvSpPr>
          <p:nvPr/>
        </p:nvSpPr>
        <p:spPr>
          <a:xfrm xmlns:a="http://schemas.openxmlformats.org/drawingml/2006/main">
            <a:off x="3924300" y="4305300"/>
            <a:ext cx="533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200" b="1">
                <a:solidFill>
                  <a:srgbClr val="172033"/>
                </a:solidFill>
              </a:defRPr>
            </a:defPPr>
          </a:lstStyle>
          <a:p xmlns:a="http://schemas.openxmlformats.org/drawingml/2006/main">
            <a:pPr algn="ctr">
              <a:defRPr sz="1200" b="1">
                <a:solidFill>
                  <a:srgbClr val="172033"/>
                </a:solidFill>
              </a:defRPr>
            </a:pPr>
            <a:r>
              <a:rPr sz="1200" b="1">
                <a:solidFill>
                  <a:srgbClr val="172033"/>
                </a:solidFill>
              </a:rPr>
              <a:t>11</a:t>
            </a:r>
          </a:p>
        </p:txBody>
      </p:sp>
      <p:sp>
        <p:nvSpPr>
          <p:cNvPr id="34" name="">
            <a:extLst xmlns:a="http://schemas.openxmlformats.org/drawingml/2006/main">
              <a:ext uri="{FF2B5EF4-FFF2-40B4-BE49-F238E27FC236}">
                <a16:creationId xmlns:a16="http://schemas.microsoft.com/office/drawing/2014/main" id="{BB0FF777-7D15-49BF-B332-73B8351C2A23}"/>
              </a:ext>
            </a:extLst>
          </p:cNvPr>
          <p:cNvSpPr>
            <a:spLocks xmlns:a="http://schemas.openxmlformats.org/drawingml/2006/main" noGrp="1"/>
          </p:cNvSpPr>
          <p:nvPr/>
        </p:nvSpPr>
        <p:spPr>
          <a:xfrm xmlns:a="http://schemas.openxmlformats.org/drawingml/2006/main">
            <a:off x="6496050" y="4305300"/>
            <a:ext cx="533400" cy="533400"/>
          </a:xfrm>
          <a:prstGeom xmlns:a="http://schemas.openxmlformats.org/drawingml/2006/main" prst="ellipse">
            <a:avLst/>
          </a:prstGeom>
          <a:solidFill xmlns:a="http://schemas.openxmlformats.org/drawingml/2006/main">
            <a:srgbClr val="FEF3C7"/>
          </a:solidFill>
          <a:ln xmlns:a="http://schemas.openxmlformats.org/drawingml/2006/main" w="19050">
            <a:solidFill>
              <a:srgbClr val="D97706"/>
            </a:solidFill>
            <a:prstDash val="solid"/>
          </a:ln>
        </p:spPr>
      </p:sp>
      <p:sp>
        <p:nvSpPr>
          <p:cNvPr id="35" name="">
            <a:extLst xmlns:a="http://schemas.openxmlformats.org/drawingml/2006/main">
              <a:ext uri="{FF2B5EF4-FFF2-40B4-BE49-F238E27FC236}">
                <a16:creationId xmlns:a16="http://schemas.microsoft.com/office/drawing/2014/main" id="{EDC7B6F5-AA1B-42C1-B5D7-F2046BC7281D}"/>
              </a:ext>
            </a:extLst>
          </p:cNvPr>
          <p:cNvSpPr>
            <a:spLocks xmlns:a="http://schemas.openxmlformats.org/drawingml/2006/main" noGrp="1"/>
          </p:cNvSpPr>
          <p:nvPr/>
        </p:nvSpPr>
        <p:spPr>
          <a:xfrm xmlns:a="http://schemas.openxmlformats.org/drawingml/2006/main">
            <a:off x="6496050" y="4305300"/>
            <a:ext cx="533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200" b="1">
                <a:solidFill>
                  <a:srgbClr val="172033"/>
                </a:solidFill>
              </a:defRPr>
            </a:defPPr>
          </a:lstStyle>
          <a:p xmlns:a="http://schemas.openxmlformats.org/drawingml/2006/main">
            <a:pPr algn="ctr">
              <a:defRPr sz="1200" b="1">
                <a:solidFill>
                  <a:srgbClr val="172033"/>
                </a:solidFill>
              </a:defRPr>
            </a:pPr>
            <a:r>
              <a:rPr sz="1200" b="1">
                <a:solidFill>
                  <a:srgbClr val="172033"/>
                </a:solidFill>
              </a:rPr>
              <a:t>9</a:t>
            </a:r>
          </a:p>
        </p:txBody>
      </p:sp>
      <p:sp>
        <p:nvSpPr>
          <p:cNvPr id="36" name="">
            <a:extLst xmlns:a="http://schemas.openxmlformats.org/drawingml/2006/main">
              <a:ext uri="{FF2B5EF4-FFF2-40B4-BE49-F238E27FC236}">
                <a16:creationId xmlns:a16="http://schemas.microsoft.com/office/drawing/2014/main" id="{3CA42DE2-CCE7-4E90-BC7A-17BC3C7F6A8E}"/>
              </a:ext>
            </a:extLst>
          </p:cNvPr>
          <p:cNvSpPr>
            <a:spLocks xmlns:a="http://schemas.openxmlformats.org/drawingml/2006/main" noGrp="1"/>
          </p:cNvSpPr>
          <p:nvPr/>
        </p:nvSpPr>
        <p:spPr>
          <a:xfrm xmlns:a="http://schemas.openxmlformats.org/drawingml/2006/main">
            <a:off x="666750" y="4429125"/>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900" b="1">
                <a:solidFill>
                  <a:srgbClr val="64748B"/>
                </a:solidFill>
              </a:defRPr>
            </a:defPPr>
          </a:lstStyle>
          <a:p xmlns:a="http://schemas.openxmlformats.org/drawingml/2006/main">
            <a:pPr algn="l">
              <a:defRPr sz="900" b="1">
                <a:solidFill>
                  <a:srgbClr val="64748B"/>
                </a:solidFill>
              </a:defRPr>
            </a:pPr>
            <a:r>
              <a:rPr sz="900" b="1">
                <a:solidFill>
                  <a:srgbClr val="64748B"/>
                </a:solidFill>
              </a:rPr>
              <a:t>LEVEL 2</a:t>
            </a:r>
          </a:p>
        </p:txBody>
      </p:sp>
      <p:sp>
        <p:nvSpPr>
          <p:cNvPr id="37" name="">
            <a:extLst xmlns:a="http://schemas.openxmlformats.org/drawingml/2006/main">
              <a:ext uri="{FF2B5EF4-FFF2-40B4-BE49-F238E27FC236}">
                <a16:creationId xmlns:a16="http://schemas.microsoft.com/office/drawing/2014/main" id="{F317AF4C-1F6A-40D5-BD8E-510707C89CD8}"/>
              </a:ext>
            </a:extLst>
          </p:cNvPr>
          <p:cNvSpPr>
            <a:spLocks xmlns:a="http://schemas.openxmlformats.org/drawingml/2006/main" noGrp="1"/>
          </p:cNvSpPr>
          <p:nvPr/>
        </p:nvSpPr>
        <p:spPr>
          <a:xfrm xmlns:a="http://schemas.openxmlformats.org/drawingml/2006/main" flipH="0" flipV="0">
            <a:off x="4191000" y="4848225"/>
            <a:ext cx="1285875" cy="457200"/>
          </a:xfrm>
          <a:prstGeom xmlns:a="http://schemas.openxmlformats.org/drawingml/2006/main" prst="line">
            <a:avLst/>
          </a:prstGeom>
          <a:noFill xmlns:a="http://schemas.openxmlformats.org/drawingml/2006/main"/>
          <a:ln xmlns:a="http://schemas.openxmlformats.org/drawingml/2006/main" w="19050">
            <a:solidFill>
              <a:srgbClr val="2563EB"/>
            </a:solidFill>
            <a:prstDash val="solid"/>
          </a:ln>
        </p:spPr>
      </p:sp>
      <p:sp>
        <p:nvSpPr>
          <p:cNvPr id="38" name="">
            <a:extLst xmlns:a="http://schemas.openxmlformats.org/drawingml/2006/main">
              <a:ext uri="{FF2B5EF4-FFF2-40B4-BE49-F238E27FC236}">
                <a16:creationId xmlns:a16="http://schemas.microsoft.com/office/drawing/2014/main" id="{26737A35-34E9-4EE2-94C1-E256A827DB3C}"/>
              </a:ext>
            </a:extLst>
          </p:cNvPr>
          <p:cNvSpPr>
            <a:spLocks xmlns:a="http://schemas.openxmlformats.org/drawingml/2006/main" noGrp="1"/>
          </p:cNvSpPr>
          <p:nvPr/>
        </p:nvSpPr>
        <p:spPr>
          <a:xfrm xmlns:a="http://schemas.openxmlformats.org/drawingml/2006/main" flipH="1" flipV="0">
            <a:off x="5476875" y="4848225"/>
            <a:ext cx="1285875" cy="457200"/>
          </a:xfrm>
          <a:prstGeom xmlns:a="http://schemas.openxmlformats.org/drawingml/2006/main" prst="line">
            <a:avLst/>
          </a:prstGeom>
          <a:noFill xmlns:a="http://schemas.openxmlformats.org/drawingml/2006/main"/>
          <a:ln xmlns:a="http://schemas.openxmlformats.org/drawingml/2006/main" w="19050">
            <a:solidFill>
              <a:srgbClr val="2563EB"/>
            </a:solidFill>
            <a:prstDash val="solid"/>
          </a:ln>
        </p:spPr>
      </p:sp>
      <p:sp>
        <p:nvSpPr>
          <p:cNvPr id="39" name="">
            <a:extLst xmlns:a="http://schemas.openxmlformats.org/drawingml/2006/main">
              <a:ext uri="{FF2B5EF4-FFF2-40B4-BE49-F238E27FC236}">
                <a16:creationId xmlns:a16="http://schemas.microsoft.com/office/drawing/2014/main" id="{1B66C503-CBA5-4B25-AC76-90459F5AC5AA}"/>
              </a:ext>
            </a:extLst>
          </p:cNvPr>
          <p:cNvSpPr>
            <a:spLocks xmlns:a="http://schemas.openxmlformats.org/drawingml/2006/main" noGrp="1"/>
          </p:cNvSpPr>
          <p:nvPr/>
        </p:nvSpPr>
        <p:spPr>
          <a:xfrm xmlns:a="http://schemas.openxmlformats.org/drawingml/2006/main">
            <a:off x="5172075" y="5314950"/>
            <a:ext cx="609600" cy="609600"/>
          </a:xfrm>
          <a:prstGeom xmlns:a="http://schemas.openxmlformats.org/drawingml/2006/main" prst="ellipse">
            <a:avLst/>
          </a:prstGeom>
          <a:solidFill xmlns:a="http://schemas.openxmlformats.org/drawingml/2006/main">
            <a:srgbClr val="DCFCE7"/>
          </a:solidFill>
          <a:ln xmlns:a="http://schemas.openxmlformats.org/drawingml/2006/main" w="28575">
            <a:solidFill>
              <a:srgbClr val="16A34A"/>
            </a:solidFill>
            <a:prstDash val="solid"/>
          </a:ln>
        </p:spPr>
      </p:sp>
      <p:sp>
        <p:nvSpPr>
          <p:cNvPr id="40" name="">
            <a:extLst xmlns:a="http://schemas.openxmlformats.org/drawingml/2006/main">
              <a:ext uri="{FF2B5EF4-FFF2-40B4-BE49-F238E27FC236}">
                <a16:creationId xmlns:a16="http://schemas.microsoft.com/office/drawing/2014/main" id="{D3DF0BAF-B7F9-4EA0-B3E2-A7AE3C915895}"/>
              </a:ext>
            </a:extLst>
          </p:cNvPr>
          <p:cNvSpPr>
            <a:spLocks xmlns:a="http://schemas.openxmlformats.org/drawingml/2006/main" noGrp="1"/>
          </p:cNvSpPr>
          <p:nvPr/>
        </p:nvSpPr>
        <p:spPr>
          <a:xfrm xmlns:a="http://schemas.openxmlformats.org/drawingml/2006/main">
            <a:off x="5172075" y="5314950"/>
            <a:ext cx="6096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200" b="1">
                <a:solidFill>
                  <a:srgbClr val="172033"/>
                </a:solidFill>
              </a:defRPr>
            </a:defPPr>
          </a:lstStyle>
          <a:p xmlns:a="http://schemas.openxmlformats.org/drawingml/2006/main">
            <a:pPr algn="ctr">
              <a:defRPr sz="1200" b="1">
                <a:solidFill>
                  <a:srgbClr val="172033"/>
                </a:solidFill>
              </a:defRPr>
            </a:pPr>
            <a:r>
              <a:rPr sz="1200" b="1">
                <a:solidFill>
                  <a:srgbClr val="172033"/>
                </a:solidFill>
              </a:rPr>
              <a:t>20</a:t>
            </a:r>
          </a:p>
        </p:txBody>
      </p:sp>
      <p:sp>
        <p:nvSpPr>
          <p:cNvPr id="41" name="">
            <a:extLst xmlns:a="http://schemas.openxmlformats.org/drawingml/2006/main">
              <a:ext uri="{FF2B5EF4-FFF2-40B4-BE49-F238E27FC236}">
                <a16:creationId xmlns:a16="http://schemas.microsoft.com/office/drawing/2014/main" id="{09F07E22-0370-4219-BA04-861552ADB55F}"/>
              </a:ext>
            </a:extLst>
          </p:cNvPr>
          <p:cNvSpPr>
            <a:spLocks xmlns:a="http://schemas.openxmlformats.org/drawingml/2006/main" noGrp="1"/>
          </p:cNvSpPr>
          <p:nvPr/>
        </p:nvSpPr>
        <p:spPr>
          <a:xfrm xmlns:a="http://schemas.openxmlformats.org/drawingml/2006/main">
            <a:off x="666750" y="5476875"/>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900" b="1">
                <a:solidFill>
                  <a:srgbClr val="64748B"/>
                </a:solidFill>
              </a:defRPr>
            </a:defPPr>
          </a:lstStyle>
          <a:p xmlns:a="http://schemas.openxmlformats.org/drawingml/2006/main">
            <a:pPr algn="l">
              <a:defRPr sz="900" b="1">
                <a:solidFill>
                  <a:srgbClr val="64748B"/>
                </a:solidFill>
              </a:defRPr>
            </a:pPr>
            <a:r>
              <a:rPr sz="900" b="1">
                <a:solidFill>
                  <a:srgbClr val="64748B"/>
                </a:solidFill>
              </a:rPr>
              <a:t>LEVEL 3</a:t>
            </a:r>
          </a:p>
        </p:txBody>
      </p:sp>
      <p:sp>
        <p:nvSpPr>
          <p:cNvPr id="42" name="">
            <a:extLst xmlns:a="http://schemas.openxmlformats.org/drawingml/2006/main">
              <a:ext uri="{FF2B5EF4-FFF2-40B4-BE49-F238E27FC236}">
                <a16:creationId xmlns:a16="http://schemas.microsoft.com/office/drawing/2014/main" id="{B7C36202-A8CB-47C4-87C3-5E778D47D59F}"/>
              </a:ext>
            </a:extLst>
          </p:cNvPr>
          <p:cNvSpPr>
            <a:spLocks xmlns:a="http://schemas.openxmlformats.org/drawingml/2006/main" noGrp="1"/>
          </p:cNvSpPr>
          <p:nvPr/>
        </p:nvSpPr>
        <p:spPr>
          <a:xfrm xmlns:a="http://schemas.openxmlformats.org/drawingml/2006/main">
            <a:off x="9715500" y="2333625"/>
            <a:ext cx="1809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650" b="1">
                <a:solidFill>
                  <a:srgbClr val="0B1739"/>
                </a:solidFill>
              </a:defRPr>
            </a:defPPr>
          </a:lstStyle>
          <a:p xmlns:a="http://schemas.openxmlformats.org/drawingml/2006/main">
            <a:pPr algn="l">
              <a:defRPr sz="1650" b="1">
                <a:solidFill>
                  <a:srgbClr val="0B1739"/>
                </a:solidFill>
              </a:defRPr>
            </a:pPr>
            <a:r>
              <a:rPr sz="1650" b="1">
                <a:solidFill>
                  <a:srgbClr val="0B1739"/>
                </a:solidFill>
              </a:rPr>
              <a:t>General guarantee</a:t>
            </a:r>
          </a:p>
        </p:txBody>
      </p:sp>
      <p:sp>
        <p:nvSpPr>
          <p:cNvPr id="43" name="">
            <a:extLst xmlns:a="http://schemas.openxmlformats.org/drawingml/2006/main">
              <a:ext uri="{FF2B5EF4-FFF2-40B4-BE49-F238E27FC236}">
                <a16:creationId xmlns:a16="http://schemas.microsoft.com/office/drawing/2014/main" id="{5B07B6A7-89F4-47D9-91A5-B036BD62C03A}"/>
              </a:ext>
            </a:extLst>
          </p:cNvPr>
          <p:cNvSpPr>
            <a:spLocks xmlns:a="http://schemas.openxmlformats.org/drawingml/2006/main" noGrp="1"/>
          </p:cNvSpPr>
          <p:nvPr/>
        </p:nvSpPr>
        <p:spPr>
          <a:xfrm xmlns:a="http://schemas.openxmlformats.org/drawingml/2006/main">
            <a:off x="9715500" y="2838450"/>
            <a:ext cx="1809750" cy="2190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500" b="0">
                <a:solidFill>
                  <a:srgbClr val="172033"/>
                </a:solidFill>
              </a:defRPr>
            </a:defPPr>
          </a:lstStyle>
          <a:p xmlns:a="http://schemas.openxmlformats.org/drawingml/2006/main">
            <a:pPr algn="l">
              <a:defRPr sz="1500" b="0">
                <a:solidFill>
                  <a:srgbClr val="172033"/>
                </a:solidFill>
              </a:defRPr>
            </a:pPr>
            <a:r>
              <a:rPr sz="1500" b="0">
                <a:solidFill>
                  <a:srgbClr val="172033"/>
                </a:solidFill>
              </a:rPr>
              <a:t>Every input occurrence survives</a:t>
            </a:r>
          </a:p>
          <a:p xmlns:a="http://schemas.openxmlformats.org/drawingml/2006/main">
            <a:r>
              <a:t/>
            </a:r>
          </a:p>
          <a:p xmlns:a="http://schemas.openxmlformats.org/drawingml/2006/main">
            <a:pPr algn="l">
              <a:defRPr sz="1500" b="0">
                <a:solidFill>
                  <a:srgbClr val="172033"/>
                </a:solidFill>
              </a:defRPr>
            </a:pPr>
            <a:r>
              <a:rPr sz="1500" b="0">
                <a:solidFill>
                  <a:srgbClr val="172033"/>
                </a:solidFill>
              </a:rPr>
              <a:t>Carries add no rounding operation</a:t>
            </a:r>
          </a:p>
          <a:p xmlns:a="http://schemas.openxmlformats.org/drawingml/2006/main">
            <a:r>
              <a:t/>
            </a:r>
          </a:p>
          <a:p xmlns:a="http://schemas.openxmlformats.org/drawingml/2006/main">
            <a:pPr algn="l">
              <a:defRPr sz="1500" b="0">
                <a:solidFill>
                  <a:srgbClr val="172033"/>
                </a:solidFill>
              </a:defRPr>
            </a:pPr>
            <a:r>
              <a:rPr sz="1500" b="0">
                <a:solidFill>
                  <a:srgbClr val="172033"/>
                </a:solidFill>
              </a:rPr>
              <a:t>L = ⌈log₂ n⌉</a:t>
            </a:r>
          </a:p>
          <a:p xmlns:a="http://schemas.openxmlformats.org/drawingml/2006/main">
            <a:pPr algn="l">
              <a:defRPr sz="1500" b="0">
                <a:solidFill>
                  <a:srgbClr val="172033"/>
                </a:solidFill>
              </a:defRPr>
            </a:pPr>
            <a:r>
              <a:rPr sz="1500" b="0">
                <a:solidFill>
                  <a:srgbClr val="172033"/>
                </a:solidFill>
              </a:rPr>
              <a:t>Depth ≤ L</a:t>
            </a:r>
          </a:p>
        </p:txBody>
      </p:sp>
      <p:sp>
        <p:nvSpPr>
          <p:cNvPr id="44" name="">
            <a:extLst xmlns:a="http://schemas.openxmlformats.org/drawingml/2006/main">
              <a:ext uri="{FF2B5EF4-FFF2-40B4-BE49-F238E27FC236}">
                <a16:creationId xmlns:a16="http://schemas.microsoft.com/office/drawing/2014/main" id="{99317E53-6086-483A-80C1-67A1DB19053C}"/>
              </a:ext>
            </a:extLst>
          </p:cNvPr>
          <p:cNvSpPr>
            <a:spLocks xmlns:a="http://schemas.openxmlformats.org/drawingml/2006/main" noGrp="1"/>
          </p:cNvSpPr>
          <p:nvPr/>
        </p:nvSpPr>
        <p:spPr>
          <a:xfrm xmlns:a="http://schemas.openxmlformats.org/drawingml/2006/main">
            <a:off x="1714500" y="6057900"/>
            <a:ext cx="9525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725" b="1">
                <a:solidFill>
                  <a:srgbClr val="0B1739"/>
                </a:solidFill>
              </a:defRPr>
            </a:defPPr>
          </a:lstStyle>
          <a:p xmlns:a="http://schemas.openxmlformats.org/drawingml/2006/main">
            <a:pPr algn="ctr">
              <a:defRPr sz="1725" b="1">
                <a:solidFill>
                  <a:srgbClr val="0B1739"/>
                </a:solidFill>
              </a:defRPr>
            </a:pPr>
            <a:r>
              <a:rPr sz="1725" b="1">
                <a:solidFill>
                  <a:srgbClr val="0B1739"/>
                </a:solidFill>
              </a:rPr>
              <a:t>ŷ = Σᵢ (xᵢ + Δxᵢ)     |Δxᵢ| ≤ γ_L |xᵢ|     γ_L = Lu / (1 − Lu)</a:t>
            </a:r>
          </a:p>
        </p:txBody>
      </p:sp>
      <p:sp>
        <p:nvSpPr>
          <p:cNvPr id="45" name="">
            <a:extLst xmlns:a="http://schemas.openxmlformats.org/drawingml/2006/main">
              <a:ext uri="{FF2B5EF4-FFF2-40B4-BE49-F238E27FC236}">
                <a16:creationId xmlns:a16="http://schemas.microsoft.com/office/drawing/2014/main" id="{7AE839E9-B43C-4DB8-A607-1526DC37B1CD}"/>
              </a:ext>
            </a:extLst>
          </p:cNvPr>
          <p:cNvSpPr>
            <a:spLocks xmlns:a="http://schemas.openxmlformats.org/drawingml/2006/main" noGrp="1"/>
          </p:cNvSpPr>
          <p:nvPr/>
        </p:nvSpPr>
        <p:spPr>
          <a:xfrm xmlns:a="http://schemas.openxmlformats.org/drawingml/2006/main">
            <a:off x="666750" y="6429375"/>
            <a:ext cx="10858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825" b="0">
                <a:solidFill>
                  <a:srgbClr val="64748B"/>
                </a:solidFill>
              </a:defRPr>
            </a:defPPr>
          </a:lstStyle>
          <a:p xmlns:a="http://schemas.openxmlformats.org/drawingml/2006/main">
            <a:pPr algn="r">
              <a:defRPr sz="825" b="0">
                <a:solidFill>
                  <a:srgbClr val="64748B"/>
                </a:solidFill>
              </a:defRPr>
            </a:pPr>
            <a:r>
              <a:rPr sz="825" b="0">
                <a:solidFill>
                  <a:srgbClr val="64748B"/>
                </a:solidFill>
              </a:rPr>
              <a:t>Abstract relative-error model, Lu &lt; 1. IEEE 754 bit semantics and probabilistic bounds remain outside this result.</a:t>
            </a:r>
          </a:p>
        </p:txBody>
      </p:sp>
    </p:spTree>
    <p:extLst>
      <p:ext uri="{BB962C8B-B14F-4D97-AF65-F5344CB8AC3E}">
        <p14:creationId xmlns:p14="http://schemas.microsoft.com/office/powerpoint/2010/main" val="429932241"/>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72A21B6D-8FE3-4365-A5A7-DF74E1217175}"/>
              </a:ext>
            </a:extLst>
          </p:cNvPr>
          <p:cNvSpPr>
            <a:spLocks xmlns:a="http://schemas.openxmlformats.org/drawingml/2006/main" noGrp="1"/>
          </p:cNvSpPr>
          <p:nvPr/>
        </p:nvSpPr>
        <p:spPr>
          <a:xfrm xmlns:a="http://schemas.openxmlformats.org/drawingml/2006/main">
            <a:off x="666750" y="361950"/>
            <a:ext cx="4191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975" b="1">
                <a:solidFill>
                  <a:srgbClr val="2563EB"/>
                </a:solidFill>
              </a:defRPr>
            </a:defPPr>
          </a:lstStyle>
          <a:p xmlns:a="http://schemas.openxmlformats.org/drawingml/2006/main">
            <a:pPr algn="l">
              <a:defRPr sz="975" b="1">
                <a:solidFill>
                  <a:srgbClr val="2563EB"/>
                </a:solidFill>
              </a:defRPr>
            </a:pPr>
            <a:r>
              <a:rPr sz="975" b="1">
                <a:solidFill>
                  <a:srgbClr val="2563EB"/>
                </a:solidFill>
              </a:rPr>
              <a:t>02</a:t>
            </a:r>
          </a:p>
        </p:txBody>
      </p:sp>
      <p:sp>
        <p:nvSpPr>
          <p:cNvPr id="2" name="">
            <a:extLst xmlns:a="http://schemas.openxmlformats.org/drawingml/2006/main">
              <a:ext uri="{FF2B5EF4-FFF2-40B4-BE49-F238E27FC236}">
                <a16:creationId xmlns:a16="http://schemas.microsoft.com/office/drawing/2014/main" id="{74F468BD-21EB-4C12-9754-954290311629}"/>
              </a:ext>
            </a:extLst>
          </p:cNvPr>
          <p:cNvSpPr>
            <a:spLocks xmlns:a="http://schemas.openxmlformats.org/drawingml/2006/main" noGrp="1"/>
          </p:cNvSpPr>
          <p:nvPr/>
        </p:nvSpPr>
        <p:spPr>
          <a:xfrm xmlns:a="http://schemas.openxmlformats.org/drawingml/2006/main">
            <a:off x="666750" y="685800"/>
            <a:ext cx="1047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400" b="1">
                <a:solidFill>
                  <a:srgbClr val="0B1739"/>
                </a:solidFill>
              </a:defRPr>
            </a:defPPr>
          </a:lstStyle>
          <a:p xmlns:a="http://schemas.openxmlformats.org/drawingml/2006/main">
            <a:pPr algn="l">
              <a:defRPr sz="2400" b="1">
                <a:solidFill>
                  <a:srgbClr val="0B1739"/>
                </a:solidFill>
              </a:defRPr>
            </a:pPr>
            <a:r>
              <a:rPr sz="2400" b="1">
                <a:solidFill>
                  <a:srgbClr val="0B1739"/>
                </a:solidFill>
              </a:rPr>
              <a:t>Proof pipeline and instruction fidelity</a:t>
            </a:r>
          </a:p>
        </p:txBody>
      </p:sp>
      <p:sp>
        <p:nvSpPr>
          <p:cNvPr id="3" name="">
            <a:extLst xmlns:a="http://schemas.openxmlformats.org/drawingml/2006/main">
              <a:ext uri="{FF2B5EF4-FFF2-40B4-BE49-F238E27FC236}">
                <a16:creationId xmlns:a16="http://schemas.microsoft.com/office/drawing/2014/main" id="{DB17C307-FA47-43AC-98B1-40FEB4B0C763}"/>
              </a:ext>
            </a:extLst>
          </p:cNvPr>
          <p:cNvSpPr>
            <a:spLocks xmlns:a="http://schemas.openxmlformats.org/drawingml/2006/main" noGrp="1"/>
          </p:cNvSpPr>
          <p:nvPr/>
        </p:nvSpPr>
        <p:spPr>
          <a:xfrm xmlns:a="http://schemas.openxmlformats.org/drawingml/2006/main" flipH="0" flipV="0">
            <a:off x="666750" y="1333500"/>
            <a:ext cx="108585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4" name="">
            <a:extLst xmlns:a="http://schemas.openxmlformats.org/drawingml/2006/main">
              <a:ext uri="{FF2B5EF4-FFF2-40B4-BE49-F238E27FC236}">
                <a16:creationId xmlns:a16="http://schemas.microsoft.com/office/drawing/2014/main" id="{E0134761-2AFE-44EC-B6AA-3C84FC28AAB8}"/>
              </a:ext>
            </a:extLst>
          </p:cNvPr>
          <p:cNvSpPr>
            <a:spLocks xmlns:a="http://schemas.openxmlformats.org/drawingml/2006/main" noGrp="1"/>
          </p:cNvSpPr>
          <p:nvPr/>
        </p:nvSpPr>
        <p:spPr>
          <a:xfrm xmlns:a="http://schemas.openxmlformats.org/drawingml/2006/main">
            <a:off x="666750" y="1457325"/>
            <a:ext cx="10668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00" b="0">
                <a:solidFill>
                  <a:srgbClr val="64748B"/>
                </a:solidFill>
              </a:defRPr>
            </a:defPPr>
          </a:lstStyle>
          <a:p xmlns:a="http://schemas.openxmlformats.org/drawingml/2006/main">
            <a:pPr algn="l">
              <a:defRPr sz="1500" b="0">
                <a:solidFill>
                  <a:srgbClr val="64748B"/>
                </a:solidFill>
              </a:defRPr>
            </a:pPr>
            <a:r>
              <a:rPr sz="1500" b="0">
                <a:solidFill>
                  <a:srgbClr val="64748B"/>
                </a:solidFill>
              </a:rPr>
              <a:t>The agent proposes Lean code. Formal checking and semantic review provide separate acceptance gates.</a:t>
            </a:r>
          </a:p>
        </p:txBody>
      </p:sp>
      <p:sp>
        <p:nvSpPr>
          <p:cNvPr id="5" name="">
            <a:extLst xmlns:a="http://schemas.openxmlformats.org/drawingml/2006/main">
              <a:ext uri="{FF2B5EF4-FFF2-40B4-BE49-F238E27FC236}">
                <a16:creationId xmlns:a16="http://schemas.microsoft.com/office/drawing/2014/main" id="{E62EA5D1-EFA9-4E6C-82B5-BDD562D7A5AA}"/>
              </a:ext>
            </a:extLst>
          </p:cNvPr>
          <p:cNvSpPr>
            <a:spLocks xmlns:a="http://schemas.openxmlformats.org/drawingml/2006/main" noGrp="1"/>
          </p:cNvSpPr>
          <p:nvPr/>
        </p:nvSpPr>
        <p:spPr>
          <a:xfrm xmlns:a="http://schemas.openxmlformats.org/drawingml/2006/main" flipH="0" flipV="0">
            <a:off x="3000375" y="2743200"/>
            <a:ext cx="476250" cy="0"/>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6" name="">
            <a:extLst xmlns:a="http://schemas.openxmlformats.org/drawingml/2006/main">
              <a:ext uri="{FF2B5EF4-FFF2-40B4-BE49-F238E27FC236}">
                <a16:creationId xmlns:a16="http://schemas.microsoft.com/office/drawing/2014/main" id="{133C982D-90CB-4B22-9CB3-38C50749802C}"/>
              </a:ext>
            </a:extLst>
          </p:cNvPr>
          <p:cNvSpPr>
            <a:spLocks xmlns:a="http://schemas.openxmlformats.org/drawingml/2006/main" noGrp="1"/>
          </p:cNvSpPr>
          <p:nvPr/>
        </p:nvSpPr>
        <p:spPr>
          <a:xfrm xmlns:a="http://schemas.openxmlformats.org/drawingml/2006/main">
            <a:off x="666750" y="2190750"/>
            <a:ext cx="2333625" cy="1143000"/>
          </a:xfrm>
          <a:prstGeom xmlns:a="http://schemas.openxmlformats.org/drawingml/2006/main" prst="roundRect">
            <a:avLst>
              <a:gd name="adj" fmla="val 6667"/>
            </a:avLst>
          </a:prstGeom>
          <a:solidFill xmlns:a="http://schemas.openxmlformats.org/drawingml/2006/main">
            <a:srgbClr val="F7F9FC"/>
          </a:solidFill>
          <a:ln xmlns:a="http://schemas.openxmlformats.org/drawingml/2006/main" w="9525">
            <a:solidFill>
              <a:srgbClr val="CBD5E1"/>
            </a:solidFill>
            <a:prstDash val="solid"/>
          </a:ln>
        </p:spPr>
      </p:sp>
      <p:sp>
        <p:nvSpPr>
          <p:cNvPr id="7" name="">
            <a:extLst xmlns:a="http://schemas.openxmlformats.org/drawingml/2006/main">
              <a:ext uri="{FF2B5EF4-FFF2-40B4-BE49-F238E27FC236}">
                <a16:creationId xmlns:a16="http://schemas.microsoft.com/office/drawing/2014/main" id="{9CC66CDB-55C2-4DC3-A437-A0B77E6DE0F5}"/>
              </a:ext>
            </a:extLst>
          </p:cNvPr>
          <p:cNvSpPr>
            <a:spLocks xmlns:a="http://schemas.openxmlformats.org/drawingml/2006/main" noGrp="1"/>
          </p:cNvSpPr>
          <p:nvPr/>
        </p:nvSpPr>
        <p:spPr>
          <a:xfrm xmlns:a="http://schemas.openxmlformats.org/drawingml/2006/main">
            <a:off x="819150" y="2286000"/>
            <a:ext cx="20288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800" b="1">
                <a:solidFill>
                  <a:srgbClr val="0B1739"/>
                </a:solidFill>
              </a:defRPr>
            </a:defPPr>
          </a:lstStyle>
          <a:p xmlns:a="http://schemas.openxmlformats.org/drawingml/2006/main">
            <a:pPr algn="l">
              <a:defRPr sz="1800" b="1">
                <a:solidFill>
                  <a:srgbClr val="0B1739"/>
                </a:solidFill>
              </a:defRPr>
            </a:pPr>
            <a:r>
              <a:rPr sz="1800" b="1">
                <a:solidFill>
                  <a:srgbClr val="0B1739"/>
                </a:solidFill>
              </a:rPr>
              <a:t>Specify</a:t>
            </a:r>
          </a:p>
        </p:txBody>
      </p:sp>
      <p:sp>
        <p:nvSpPr>
          <p:cNvPr id="8" name="">
            <a:extLst xmlns:a="http://schemas.openxmlformats.org/drawingml/2006/main">
              <a:ext uri="{FF2B5EF4-FFF2-40B4-BE49-F238E27FC236}">
                <a16:creationId xmlns:a16="http://schemas.microsoft.com/office/drawing/2014/main" id="{7CE4C784-0E02-4F62-B010-2F9B23D8A74C}"/>
              </a:ext>
            </a:extLst>
          </p:cNvPr>
          <p:cNvSpPr>
            <a:spLocks xmlns:a="http://schemas.openxmlformats.org/drawingml/2006/main" noGrp="1"/>
          </p:cNvSpPr>
          <p:nvPr/>
        </p:nvSpPr>
        <p:spPr>
          <a:xfrm xmlns:a="http://schemas.openxmlformats.org/drawingml/2006/main">
            <a:off x="819150" y="2695575"/>
            <a:ext cx="202882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0">
                <a:solidFill>
                  <a:srgbClr val="172033"/>
                </a:solidFill>
              </a:defRPr>
            </a:defPPr>
          </a:lstStyle>
          <a:p xmlns:a="http://schemas.openxmlformats.org/drawingml/2006/main">
            <a:pPr algn="l">
              <a:defRPr sz="1425" b="0">
                <a:solidFill>
                  <a:srgbClr val="172033"/>
                </a:solidFill>
              </a:defRPr>
            </a:pPr>
            <a:r>
              <a:rPr sz="1425" b="0">
                <a:solidFill>
                  <a:srgbClr val="172033"/>
                </a:solidFill>
              </a:rPr>
              <a:t>Paper assumptions</a:t>
            </a:r>
          </a:p>
          <a:p xmlns:a="http://schemas.openxmlformats.org/drawingml/2006/main">
            <a:pPr algn="l">
              <a:defRPr sz="1425" b="0">
                <a:solidFill>
                  <a:srgbClr val="172033"/>
                </a:solidFill>
              </a:defRPr>
            </a:pPr>
            <a:r>
              <a:rPr sz="1425" b="0">
                <a:solidFill>
                  <a:srgbClr val="172033"/>
                </a:solidFill>
              </a:rPr>
              <a:t>Lean statement</a:t>
            </a:r>
          </a:p>
        </p:txBody>
      </p:sp>
      <p:sp>
        <p:nvSpPr>
          <p:cNvPr id="9" name="">
            <a:extLst xmlns:a="http://schemas.openxmlformats.org/drawingml/2006/main">
              <a:ext uri="{FF2B5EF4-FFF2-40B4-BE49-F238E27FC236}">
                <a16:creationId xmlns:a16="http://schemas.microsoft.com/office/drawing/2014/main" id="{907ECBA9-F887-440D-B401-9F52ECB1B893}"/>
              </a:ext>
            </a:extLst>
          </p:cNvPr>
          <p:cNvSpPr>
            <a:spLocks xmlns:a="http://schemas.openxmlformats.org/drawingml/2006/main" noGrp="1"/>
          </p:cNvSpPr>
          <p:nvPr/>
        </p:nvSpPr>
        <p:spPr>
          <a:xfrm xmlns:a="http://schemas.openxmlformats.org/drawingml/2006/main" flipH="0" flipV="0">
            <a:off x="5810250" y="2743200"/>
            <a:ext cx="476250" cy="0"/>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10" name="">
            <a:extLst xmlns:a="http://schemas.openxmlformats.org/drawingml/2006/main">
              <a:ext uri="{FF2B5EF4-FFF2-40B4-BE49-F238E27FC236}">
                <a16:creationId xmlns:a16="http://schemas.microsoft.com/office/drawing/2014/main" id="{EDF32AB9-7321-4BDC-8E27-B5237AC80EF8}"/>
              </a:ext>
            </a:extLst>
          </p:cNvPr>
          <p:cNvSpPr>
            <a:spLocks xmlns:a="http://schemas.openxmlformats.org/drawingml/2006/main" noGrp="1"/>
          </p:cNvSpPr>
          <p:nvPr/>
        </p:nvSpPr>
        <p:spPr>
          <a:xfrm xmlns:a="http://schemas.openxmlformats.org/drawingml/2006/main">
            <a:off x="3476625" y="2190750"/>
            <a:ext cx="2333625" cy="1143000"/>
          </a:xfrm>
          <a:prstGeom xmlns:a="http://schemas.openxmlformats.org/drawingml/2006/main" prst="roundRect">
            <a:avLst>
              <a:gd name="adj" fmla="val 6667"/>
            </a:avLst>
          </a:prstGeom>
          <a:solidFill xmlns:a="http://schemas.openxmlformats.org/drawingml/2006/main">
            <a:srgbClr val="F7F9FC"/>
          </a:solidFill>
          <a:ln xmlns:a="http://schemas.openxmlformats.org/drawingml/2006/main" w="9525">
            <a:solidFill>
              <a:srgbClr val="CBD5E1"/>
            </a:solidFill>
            <a:prstDash val="solid"/>
          </a:ln>
        </p:spPr>
      </p:sp>
      <p:sp>
        <p:nvSpPr>
          <p:cNvPr id="11" name="">
            <a:extLst xmlns:a="http://schemas.openxmlformats.org/drawingml/2006/main">
              <a:ext uri="{FF2B5EF4-FFF2-40B4-BE49-F238E27FC236}">
                <a16:creationId xmlns:a16="http://schemas.microsoft.com/office/drawing/2014/main" id="{DC29627A-1A7F-456E-8362-FAB58D7B94F9}"/>
              </a:ext>
            </a:extLst>
          </p:cNvPr>
          <p:cNvSpPr>
            <a:spLocks xmlns:a="http://schemas.openxmlformats.org/drawingml/2006/main" noGrp="1"/>
          </p:cNvSpPr>
          <p:nvPr/>
        </p:nvSpPr>
        <p:spPr>
          <a:xfrm xmlns:a="http://schemas.openxmlformats.org/drawingml/2006/main">
            <a:off x="3629025" y="2286000"/>
            <a:ext cx="20288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800" b="1">
                <a:solidFill>
                  <a:srgbClr val="0B1739"/>
                </a:solidFill>
              </a:defRPr>
            </a:defPPr>
          </a:lstStyle>
          <a:p xmlns:a="http://schemas.openxmlformats.org/drawingml/2006/main">
            <a:pPr algn="l">
              <a:defRPr sz="1800" b="1">
                <a:solidFill>
                  <a:srgbClr val="0B1739"/>
                </a:solidFill>
              </a:defRPr>
            </a:pPr>
            <a:r>
              <a:rPr sz="1800" b="1">
                <a:solidFill>
                  <a:srgbClr val="0B1739"/>
                </a:solidFill>
              </a:rPr>
              <a:t>Construct</a:t>
            </a:r>
          </a:p>
        </p:txBody>
      </p:sp>
      <p:sp>
        <p:nvSpPr>
          <p:cNvPr id="12" name="">
            <a:extLst xmlns:a="http://schemas.openxmlformats.org/drawingml/2006/main">
              <a:ext uri="{FF2B5EF4-FFF2-40B4-BE49-F238E27FC236}">
                <a16:creationId xmlns:a16="http://schemas.microsoft.com/office/drawing/2014/main" id="{FA3B5EBE-13E2-4FFD-9511-74C59C57D51D}"/>
              </a:ext>
            </a:extLst>
          </p:cNvPr>
          <p:cNvSpPr>
            <a:spLocks xmlns:a="http://schemas.openxmlformats.org/drawingml/2006/main" noGrp="1"/>
          </p:cNvSpPr>
          <p:nvPr/>
        </p:nvSpPr>
        <p:spPr>
          <a:xfrm xmlns:a="http://schemas.openxmlformats.org/drawingml/2006/main">
            <a:off x="3629025" y="2695575"/>
            <a:ext cx="202882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0">
                <a:solidFill>
                  <a:srgbClr val="172033"/>
                </a:solidFill>
              </a:defRPr>
            </a:defPPr>
          </a:lstStyle>
          <a:p xmlns:a="http://schemas.openxmlformats.org/drawingml/2006/main">
            <a:pPr algn="l">
              <a:defRPr sz="1425" b="0">
                <a:solidFill>
                  <a:srgbClr val="172033"/>
                </a:solidFill>
              </a:defRPr>
            </a:pPr>
            <a:r>
              <a:rPr sz="1425" b="0">
                <a:solidFill>
                  <a:srgbClr val="172033"/>
                </a:solidFill>
              </a:rPr>
              <a:t>Small lemmas</a:t>
            </a:r>
          </a:p>
          <a:p xmlns:a="http://schemas.openxmlformats.org/drawingml/2006/main">
            <a:pPr algn="l">
              <a:defRPr sz="1425" b="0">
                <a:solidFill>
                  <a:srgbClr val="172033"/>
                </a:solidFill>
              </a:defRPr>
            </a:pPr>
            <a:r>
              <a:rPr sz="1425" b="0">
                <a:solidFill>
                  <a:srgbClr val="172033"/>
                </a:solidFill>
              </a:rPr>
              <a:t>Compile and repair</a:t>
            </a:r>
          </a:p>
        </p:txBody>
      </p:sp>
      <p:sp>
        <p:nvSpPr>
          <p:cNvPr id="13" name="">
            <a:extLst xmlns:a="http://schemas.openxmlformats.org/drawingml/2006/main">
              <a:ext uri="{FF2B5EF4-FFF2-40B4-BE49-F238E27FC236}">
                <a16:creationId xmlns:a16="http://schemas.microsoft.com/office/drawing/2014/main" id="{587F7086-A461-410E-905D-5CAC132D2413}"/>
              </a:ext>
            </a:extLst>
          </p:cNvPr>
          <p:cNvSpPr>
            <a:spLocks xmlns:a="http://schemas.openxmlformats.org/drawingml/2006/main" noGrp="1"/>
          </p:cNvSpPr>
          <p:nvPr/>
        </p:nvSpPr>
        <p:spPr>
          <a:xfrm xmlns:a="http://schemas.openxmlformats.org/drawingml/2006/main" flipH="0" flipV="0">
            <a:off x="8620125" y="2743200"/>
            <a:ext cx="476250" cy="0"/>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14" name="">
            <a:extLst xmlns:a="http://schemas.openxmlformats.org/drawingml/2006/main">
              <a:ext uri="{FF2B5EF4-FFF2-40B4-BE49-F238E27FC236}">
                <a16:creationId xmlns:a16="http://schemas.microsoft.com/office/drawing/2014/main" id="{18AEA96D-4F2D-4E1C-87AF-54C3034F148C}"/>
              </a:ext>
            </a:extLst>
          </p:cNvPr>
          <p:cNvSpPr>
            <a:spLocks xmlns:a="http://schemas.openxmlformats.org/drawingml/2006/main" noGrp="1"/>
          </p:cNvSpPr>
          <p:nvPr/>
        </p:nvSpPr>
        <p:spPr>
          <a:xfrm xmlns:a="http://schemas.openxmlformats.org/drawingml/2006/main">
            <a:off x="6286500" y="2190750"/>
            <a:ext cx="2333625" cy="1143000"/>
          </a:xfrm>
          <a:prstGeom xmlns:a="http://schemas.openxmlformats.org/drawingml/2006/main" prst="roundRect">
            <a:avLst>
              <a:gd name="adj" fmla="val 6667"/>
            </a:avLst>
          </a:prstGeom>
          <a:solidFill xmlns:a="http://schemas.openxmlformats.org/drawingml/2006/main">
            <a:srgbClr val="DCFCE7"/>
          </a:solidFill>
          <a:ln xmlns:a="http://schemas.openxmlformats.org/drawingml/2006/main" w="9525">
            <a:solidFill>
              <a:srgbClr val="16A34A"/>
            </a:solidFill>
            <a:prstDash val="solid"/>
          </a:ln>
        </p:spPr>
      </p:sp>
      <p:sp>
        <p:nvSpPr>
          <p:cNvPr id="15" name="">
            <a:extLst xmlns:a="http://schemas.openxmlformats.org/drawingml/2006/main">
              <a:ext uri="{FF2B5EF4-FFF2-40B4-BE49-F238E27FC236}">
                <a16:creationId xmlns:a16="http://schemas.microsoft.com/office/drawing/2014/main" id="{F6436D3E-CF7C-4BFE-A4F8-2519BC0444E8}"/>
              </a:ext>
            </a:extLst>
          </p:cNvPr>
          <p:cNvSpPr>
            <a:spLocks xmlns:a="http://schemas.openxmlformats.org/drawingml/2006/main" noGrp="1"/>
          </p:cNvSpPr>
          <p:nvPr/>
        </p:nvSpPr>
        <p:spPr>
          <a:xfrm xmlns:a="http://schemas.openxmlformats.org/drawingml/2006/main">
            <a:off x="6438900" y="2286000"/>
            <a:ext cx="20288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800" b="1">
                <a:solidFill>
                  <a:srgbClr val="0B1739"/>
                </a:solidFill>
              </a:defRPr>
            </a:defPPr>
          </a:lstStyle>
          <a:p xmlns:a="http://schemas.openxmlformats.org/drawingml/2006/main">
            <a:pPr algn="l">
              <a:defRPr sz="1800" b="1">
                <a:solidFill>
                  <a:srgbClr val="0B1739"/>
                </a:solidFill>
              </a:defRPr>
            </a:pPr>
            <a:r>
              <a:rPr sz="1800" b="1">
                <a:solidFill>
                  <a:srgbClr val="0B1739"/>
                </a:solidFill>
              </a:rPr>
              <a:t>Check</a:t>
            </a:r>
          </a:p>
        </p:txBody>
      </p:sp>
      <p:sp>
        <p:nvSpPr>
          <p:cNvPr id="16" name="">
            <a:extLst xmlns:a="http://schemas.openxmlformats.org/drawingml/2006/main">
              <a:ext uri="{FF2B5EF4-FFF2-40B4-BE49-F238E27FC236}">
                <a16:creationId xmlns:a16="http://schemas.microsoft.com/office/drawing/2014/main" id="{FC0C4B61-917C-4B65-8A56-7EC9FED44CBA}"/>
              </a:ext>
            </a:extLst>
          </p:cNvPr>
          <p:cNvSpPr>
            <a:spLocks xmlns:a="http://schemas.openxmlformats.org/drawingml/2006/main" noGrp="1"/>
          </p:cNvSpPr>
          <p:nvPr/>
        </p:nvSpPr>
        <p:spPr>
          <a:xfrm xmlns:a="http://schemas.openxmlformats.org/drawingml/2006/main">
            <a:off x="6438900" y="2695575"/>
            <a:ext cx="202882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0">
                <a:solidFill>
                  <a:srgbClr val="172033"/>
                </a:solidFill>
              </a:defRPr>
            </a:defPPr>
          </a:lstStyle>
          <a:p xmlns:a="http://schemas.openxmlformats.org/drawingml/2006/main">
            <a:pPr algn="l">
              <a:defRPr sz="1425" b="0">
                <a:solidFill>
                  <a:srgbClr val="172033"/>
                </a:solidFill>
              </a:defRPr>
            </a:pPr>
            <a:r>
              <a:rPr sz="1425" b="0">
                <a:solidFill>
                  <a:srgbClr val="172033"/>
                </a:solidFill>
              </a:rPr>
              <a:t>Full build + scans</a:t>
            </a:r>
          </a:p>
          <a:p xmlns:a="http://schemas.openxmlformats.org/drawingml/2006/main">
            <a:pPr algn="l">
              <a:defRPr sz="1425" b="0">
                <a:solidFill>
                  <a:srgbClr val="172033"/>
                </a:solidFill>
              </a:defRPr>
            </a:pPr>
            <a:r>
              <a:rPr sz="1425" b="0">
                <a:solidFill>
                  <a:srgbClr val="172033"/>
                </a:solidFill>
              </a:rPr>
              <a:t>Semantic review</a:t>
            </a:r>
          </a:p>
        </p:txBody>
      </p:sp>
      <p:sp>
        <p:nvSpPr>
          <p:cNvPr id="17" name="">
            <a:extLst xmlns:a="http://schemas.openxmlformats.org/drawingml/2006/main">
              <a:ext uri="{FF2B5EF4-FFF2-40B4-BE49-F238E27FC236}">
                <a16:creationId xmlns:a16="http://schemas.microsoft.com/office/drawing/2014/main" id="{763D78D0-DCFF-40B1-9D84-560CB1E252E0}"/>
              </a:ext>
            </a:extLst>
          </p:cNvPr>
          <p:cNvSpPr>
            <a:spLocks xmlns:a="http://schemas.openxmlformats.org/drawingml/2006/main" noGrp="1"/>
          </p:cNvSpPr>
          <p:nvPr/>
        </p:nvSpPr>
        <p:spPr>
          <a:xfrm xmlns:a="http://schemas.openxmlformats.org/drawingml/2006/main">
            <a:off x="9096375" y="2190750"/>
            <a:ext cx="2333625" cy="1143000"/>
          </a:xfrm>
          <a:prstGeom xmlns:a="http://schemas.openxmlformats.org/drawingml/2006/main" prst="roundRect">
            <a:avLst>
              <a:gd name="adj" fmla="val 6667"/>
            </a:avLst>
          </a:prstGeom>
          <a:solidFill xmlns:a="http://schemas.openxmlformats.org/drawingml/2006/main">
            <a:srgbClr val="F7F9FC"/>
          </a:solidFill>
          <a:ln xmlns:a="http://schemas.openxmlformats.org/drawingml/2006/main" w="9525">
            <a:solidFill>
              <a:srgbClr val="CBD5E1"/>
            </a:solidFill>
            <a:prstDash val="solid"/>
          </a:ln>
        </p:spPr>
      </p:sp>
      <p:sp>
        <p:nvSpPr>
          <p:cNvPr id="18" name="">
            <a:extLst xmlns:a="http://schemas.openxmlformats.org/drawingml/2006/main">
              <a:ext uri="{FF2B5EF4-FFF2-40B4-BE49-F238E27FC236}">
                <a16:creationId xmlns:a16="http://schemas.microsoft.com/office/drawing/2014/main" id="{69FD7E8F-6D35-421D-98EA-F44A2559236D}"/>
              </a:ext>
            </a:extLst>
          </p:cNvPr>
          <p:cNvSpPr>
            <a:spLocks xmlns:a="http://schemas.openxmlformats.org/drawingml/2006/main" noGrp="1"/>
          </p:cNvSpPr>
          <p:nvPr/>
        </p:nvSpPr>
        <p:spPr>
          <a:xfrm xmlns:a="http://schemas.openxmlformats.org/drawingml/2006/main">
            <a:off x="9248775" y="2286000"/>
            <a:ext cx="20288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800" b="1">
                <a:solidFill>
                  <a:srgbClr val="0B1739"/>
                </a:solidFill>
              </a:defRPr>
            </a:defPPr>
          </a:lstStyle>
          <a:p xmlns:a="http://schemas.openxmlformats.org/drawingml/2006/main">
            <a:pPr algn="l">
              <a:defRPr sz="1800" b="1">
                <a:solidFill>
                  <a:srgbClr val="0B1739"/>
                </a:solidFill>
              </a:defRPr>
            </a:pPr>
            <a:r>
              <a:rPr sz="1800" b="1">
                <a:solidFill>
                  <a:srgbClr val="0B1739"/>
                </a:solidFill>
              </a:rPr>
              <a:t>Record</a:t>
            </a:r>
          </a:p>
        </p:txBody>
      </p:sp>
      <p:sp>
        <p:nvSpPr>
          <p:cNvPr id="19" name="">
            <a:extLst xmlns:a="http://schemas.openxmlformats.org/drawingml/2006/main">
              <a:ext uri="{FF2B5EF4-FFF2-40B4-BE49-F238E27FC236}">
                <a16:creationId xmlns:a16="http://schemas.microsoft.com/office/drawing/2014/main" id="{60F3BF79-8B9A-4505-9B5C-1D97C1061770}"/>
              </a:ext>
            </a:extLst>
          </p:cNvPr>
          <p:cNvSpPr>
            <a:spLocks xmlns:a="http://schemas.openxmlformats.org/drawingml/2006/main" noGrp="1"/>
          </p:cNvSpPr>
          <p:nvPr/>
        </p:nvSpPr>
        <p:spPr>
          <a:xfrm xmlns:a="http://schemas.openxmlformats.org/drawingml/2006/main">
            <a:off x="9248775" y="2695575"/>
            <a:ext cx="202882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0">
                <a:solidFill>
                  <a:srgbClr val="172033"/>
                </a:solidFill>
              </a:defRPr>
            </a:defPPr>
          </a:lstStyle>
          <a:p xmlns:a="http://schemas.openxmlformats.org/drawingml/2006/main">
            <a:pPr algn="l">
              <a:defRPr sz="1425" b="0">
                <a:solidFill>
                  <a:srgbClr val="172033"/>
                </a:solidFill>
              </a:defRPr>
            </a:pPr>
            <a:r>
              <a:rPr sz="1425" b="0">
                <a:solidFill>
                  <a:srgbClr val="172033"/>
                </a:solidFill>
              </a:rPr>
              <a:t>Prompts and decisions</a:t>
            </a:r>
          </a:p>
          <a:p xmlns:a="http://schemas.openxmlformats.org/drawingml/2006/main">
            <a:pPr algn="l">
              <a:defRPr sz="1425" b="0">
                <a:solidFill>
                  <a:srgbClr val="172033"/>
                </a:solidFill>
              </a:defRPr>
            </a:pPr>
            <a:r>
              <a:rPr sz="1425" b="0">
                <a:solidFill>
                  <a:srgbClr val="172033"/>
                </a:solidFill>
              </a:rPr>
              <a:t>Verified lessons</a:t>
            </a:r>
          </a:p>
        </p:txBody>
      </p:sp>
      <p:sp>
        <p:nvSpPr>
          <p:cNvPr id="20" name="">
            <a:extLst xmlns:a="http://schemas.openxmlformats.org/drawingml/2006/main">
              <a:ext uri="{FF2B5EF4-FFF2-40B4-BE49-F238E27FC236}">
                <a16:creationId xmlns:a16="http://schemas.microsoft.com/office/drawing/2014/main" id="{0D1FFC0E-D069-4EEA-9623-EC480680DC74}"/>
              </a:ext>
            </a:extLst>
          </p:cNvPr>
          <p:cNvSpPr>
            <a:spLocks xmlns:a="http://schemas.openxmlformats.org/drawingml/2006/main" noGrp="1"/>
          </p:cNvSpPr>
          <p:nvPr/>
        </p:nvSpPr>
        <p:spPr>
          <a:xfrm xmlns:a="http://schemas.openxmlformats.org/drawingml/2006/main">
            <a:off x="666750" y="3695700"/>
            <a:ext cx="2857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800" b="1">
                <a:solidFill>
                  <a:srgbClr val="0B1739"/>
                </a:solidFill>
              </a:defRPr>
            </a:defPPr>
          </a:lstStyle>
          <a:p xmlns:a="http://schemas.openxmlformats.org/drawingml/2006/main">
            <a:pPr algn="l">
              <a:defRPr sz="1800" b="1">
                <a:solidFill>
                  <a:srgbClr val="0B1739"/>
                </a:solidFill>
              </a:defRPr>
            </a:pPr>
            <a:r>
              <a:rPr sz="1800" b="1">
                <a:solidFill>
                  <a:srgbClr val="0B1739"/>
                </a:solidFill>
              </a:rPr>
              <a:t>My interventions</a:t>
            </a:r>
          </a:p>
        </p:txBody>
      </p:sp>
      <p:sp>
        <p:nvSpPr>
          <p:cNvPr id="21" name="">
            <a:extLst xmlns:a="http://schemas.openxmlformats.org/drawingml/2006/main">
              <a:ext uri="{FF2B5EF4-FFF2-40B4-BE49-F238E27FC236}">
                <a16:creationId xmlns:a16="http://schemas.microsoft.com/office/drawing/2014/main" id="{966CFACF-BBB9-4FDE-B3DB-CF5E0BBD661E}"/>
              </a:ext>
            </a:extLst>
          </p:cNvPr>
          <p:cNvSpPr>
            <a:spLocks xmlns:a="http://schemas.openxmlformats.org/drawingml/2006/main" noGrp="1"/>
          </p:cNvSpPr>
          <p:nvPr/>
        </p:nvSpPr>
        <p:spPr>
          <a:xfrm xmlns:a="http://schemas.openxmlformats.org/drawingml/2006/main">
            <a:off x="666750" y="4143375"/>
            <a:ext cx="5334000"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650" b="0">
                <a:solidFill>
                  <a:srgbClr val="172033"/>
                </a:solidFill>
              </a:defRPr>
            </a:defPPr>
          </a:lstStyle>
          <a:p xmlns:a="http://schemas.openxmlformats.org/drawingml/2006/main">
            <a:pPr algn="l">
              <a:defRPr sz="1650" b="0">
                <a:solidFill>
                  <a:srgbClr val="172033"/>
                </a:solidFill>
              </a:defRPr>
            </a:pPr>
            <a:r>
              <a:rPr sz="1650" b="0">
                <a:solidFill>
                  <a:srgbClr val="172033"/>
                </a:solidFill>
              </a:rPr>
              <a:t>Review assumptions and the target statement</a:t>
            </a:r>
          </a:p>
          <a:p xmlns:a="http://schemas.openxmlformats.org/drawingml/2006/main">
            <a:pPr algn="l">
              <a:defRPr sz="1650" b="0">
                <a:solidFill>
                  <a:srgbClr val="172033"/>
                </a:solidFill>
              </a:defRPr>
            </a:pPr>
            <a:r>
              <a:rPr sz="1650" b="0">
                <a:solidFill>
                  <a:srgbClr val="172033"/>
                </a:solidFill>
              </a:rPr>
              <a:t>Set exact tests and decompose the argument</a:t>
            </a:r>
          </a:p>
          <a:p xmlns:a="http://schemas.openxmlformats.org/drawingml/2006/main">
            <a:pPr algn="l">
              <a:defRPr sz="1650" b="0">
                <a:solidFill>
                  <a:srgbClr val="172033"/>
                </a:solidFill>
              </a:defRPr>
            </a:pPr>
            <a:r>
              <a:rPr sz="1650" b="0">
                <a:solidFill>
                  <a:srgbClr val="172033"/>
                </a:solidFill>
              </a:rPr>
              <a:t>Review the result against the source theorem</a:t>
            </a:r>
          </a:p>
        </p:txBody>
      </p:sp>
      <p:sp>
        <p:nvSpPr>
          <p:cNvPr id="22" name="">
            <a:extLst xmlns:a="http://schemas.openxmlformats.org/drawingml/2006/main">
              <a:ext uri="{FF2B5EF4-FFF2-40B4-BE49-F238E27FC236}">
                <a16:creationId xmlns:a16="http://schemas.microsoft.com/office/drawing/2014/main" id="{CFBC25D0-FE91-4109-8FE6-2CDA003542FC}"/>
              </a:ext>
            </a:extLst>
          </p:cNvPr>
          <p:cNvSpPr>
            <a:spLocks xmlns:a="http://schemas.openxmlformats.org/drawingml/2006/main" noGrp="1"/>
          </p:cNvSpPr>
          <p:nvPr/>
        </p:nvSpPr>
        <p:spPr>
          <a:xfrm xmlns:a="http://schemas.openxmlformats.org/drawingml/2006/main">
            <a:off x="6477000" y="3695700"/>
            <a:ext cx="4286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800" b="1">
                <a:solidFill>
                  <a:srgbClr val="0B1739"/>
                </a:solidFill>
              </a:defRPr>
            </a:defPPr>
          </a:lstStyle>
          <a:p xmlns:a="http://schemas.openxmlformats.org/drawingml/2006/main">
            <a:pPr algn="l">
              <a:defRPr sz="1800" b="1">
                <a:solidFill>
                  <a:srgbClr val="0B1739"/>
                </a:solidFill>
              </a:defRPr>
            </a:pPr>
            <a:r>
              <a:rPr sz="1800" b="1">
                <a:solidFill>
                  <a:srgbClr val="0B1739"/>
                </a:solidFill>
              </a:rPr>
              <a:t>Observable evidence</a:t>
            </a:r>
          </a:p>
        </p:txBody>
      </p:sp>
      <p:sp>
        <p:nvSpPr>
          <p:cNvPr id="23" name="">
            <a:extLst xmlns:a="http://schemas.openxmlformats.org/drawingml/2006/main">
              <a:ext uri="{FF2B5EF4-FFF2-40B4-BE49-F238E27FC236}">
                <a16:creationId xmlns:a16="http://schemas.microsoft.com/office/drawing/2014/main" id="{9D9638D4-560F-455A-AB72-B156220C8E35}"/>
              </a:ext>
            </a:extLst>
          </p:cNvPr>
          <p:cNvSpPr>
            <a:spLocks xmlns:a="http://schemas.openxmlformats.org/drawingml/2006/main" noGrp="1"/>
          </p:cNvSpPr>
          <p:nvPr/>
        </p:nvSpPr>
        <p:spPr>
          <a:xfrm xmlns:a="http://schemas.openxmlformats.org/drawingml/2006/main">
            <a:off x="6477000" y="4143375"/>
            <a:ext cx="5048250"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650" b="0">
                <a:solidFill>
                  <a:srgbClr val="172033"/>
                </a:solidFill>
              </a:defRPr>
            </a:defPPr>
          </a:lstStyle>
          <a:p xmlns:a="http://schemas.openxmlformats.org/drawingml/2006/main">
            <a:pPr algn="l">
              <a:defRPr sz="1650" b="0">
                <a:solidFill>
                  <a:srgbClr val="172033"/>
                </a:solidFill>
              </a:defRPr>
            </a:pPr>
            <a:r>
              <a:rPr sz="1650" b="0">
                <a:solidFill>
                  <a:srgbClr val="172033"/>
                </a:solidFill>
              </a:rPr>
              <a:t>Exact levels and unchanged carry structure</a:t>
            </a:r>
          </a:p>
          <a:p xmlns:a="http://schemas.openxmlformats.org/drawingml/2006/main">
            <a:pPr algn="l">
              <a:defRPr sz="1650" b="0">
                <a:solidFill>
                  <a:srgbClr val="172033"/>
                </a:solidFill>
              </a:defRPr>
            </a:pPr>
            <a:r>
              <a:rPr sz="1650" b="0">
                <a:solidFill>
                  <a:srgbClr val="172033"/>
                </a:solidFill>
              </a:rPr>
              <a:t>General preservation and depth theorems</a:t>
            </a:r>
          </a:p>
          <a:p xmlns:a="http://schemas.openxmlformats.org/drawingml/2006/main">
            <a:pPr algn="l">
              <a:defRPr sz="1650" b="0">
                <a:solidFill>
                  <a:srgbClr val="172033"/>
                </a:solidFill>
              </a:defRPr>
            </a:pPr>
            <a:r>
              <a:rPr sz="1650" b="0">
                <a:solidFill>
                  <a:srgbClr val="172033"/>
                </a:solidFill>
              </a:rPr>
              <a:t>Build result, scans, and decision records</a:t>
            </a:r>
          </a:p>
        </p:txBody>
      </p:sp>
      <p:sp>
        <p:nvSpPr>
          <p:cNvPr id="24" name="">
            <a:extLst xmlns:a="http://schemas.openxmlformats.org/drawingml/2006/main">
              <a:ext uri="{FF2B5EF4-FFF2-40B4-BE49-F238E27FC236}">
                <a16:creationId xmlns:a16="http://schemas.microsoft.com/office/drawing/2014/main" id="{AE4967D4-1043-46DD-BC5C-B8F595503B69}"/>
              </a:ext>
            </a:extLst>
          </p:cNvPr>
          <p:cNvSpPr>
            <a:spLocks xmlns:a="http://schemas.openxmlformats.org/drawingml/2006/main" noGrp="1"/>
          </p:cNvSpPr>
          <p:nvPr/>
        </p:nvSpPr>
        <p:spPr>
          <a:xfrm xmlns:a="http://schemas.openxmlformats.org/drawingml/2006/main">
            <a:off x="666750" y="5762625"/>
            <a:ext cx="10858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00" b="1">
                <a:solidFill>
                  <a:srgbClr val="16A34A"/>
                </a:solidFill>
              </a:defRPr>
            </a:defPPr>
          </a:lstStyle>
          <a:p xmlns:a="http://schemas.openxmlformats.org/drawingml/2006/main">
            <a:pPr algn="l">
              <a:defRPr sz="1500" b="1">
                <a:solidFill>
                  <a:srgbClr val="16A34A"/>
                </a:solidFill>
              </a:defRPr>
            </a:pPr>
            <a:r>
              <a:rPr sz="1500" b="1">
                <a:solidFill>
                  <a:srgbClr val="16A34A"/>
                </a:solidFill>
              </a:rPr>
              <a:t>Full project build passed. No proof placeholders or project-defined axioms. Aristotle calls: 0.</a:t>
            </a:r>
          </a:p>
        </p:txBody>
      </p:sp>
      <p:sp>
        <p:nvSpPr>
          <p:cNvPr id="25" name="">
            <a:extLst xmlns:a="http://schemas.openxmlformats.org/drawingml/2006/main">
              <a:ext uri="{FF2B5EF4-FFF2-40B4-BE49-F238E27FC236}">
                <a16:creationId xmlns:a16="http://schemas.microsoft.com/office/drawing/2014/main" id="{73022875-BD9E-4A52-9A74-505DE1D0D362}"/>
              </a:ext>
            </a:extLst>
          </p:cNvPr>
          <p:cNvSpPr>
            <a:spLocks xmlns:a="http://schemas.openxmlformats.org/drawingml/2006/main" noGrp="1"/>
          </p:cNvSpPr>
          <p:nvPr/>
        </p:nvSpPr>
        <p:spPr>
          <a:xfrm xmlns:a="http://schemas.openxmlformats.org/drawingml/2006/main">
            <a:off x="666750" y="6429375"/>
            <a:ext cx="10858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825" b="0">
                <a:solidFill>
                  <a:srgbClr val="64748B"/>
                </a:solidFill>
              </a:defRPr>
            </a:defPPr>
          </a:lstStyle>
          <a:p xmlns:a="http://schemas.openxmlformats.org/drawingml/2006/main">
            <a:pPr algn="r">
              <a:defRPr sz="825" b="0">
                <a:solidFill>
                  <a:srgbClr val="64748B"/>
                </a:solidFill>
              </a:defRPr>
            </a:pPr>
            <a:r>
              <a:rPr sz="825" b="0">
                <a:solidFill>
                  <a:srgbClr val="64748B"/>
                </a:solidFill>
              </a:rPr>
              <a:t>Aristotle remains an optional fallback for an isolated blocked lemma after local decomposition.</a:t>
            </a:r>
          </a:p>
        </p:txBody>
      </p:sp>
    </p:spTree>
    <p:extLst>
      <p:ext uri="{BB962C8B-B14F-4D97-AF65-F5344CB8AC3E}">
        <p14:creationId xmlns:p14="http://schemas.microsoft.com/office/powerpoint/2010/main" val="828839486"/>
      </p:ext>
    </p:extLst>
  </p:cSld>
</p:sld>
</file>

<file path=ppt/slides/slide3.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B03AA8DF-46FB-43BA-992C-852816042CF3}"/>
              </a:ext>
            </a:extLst>
          </p:cNvPr>
          <p:cNvSpPr>
            <a:spLocks xmlns:a="http://schemas.openxmlformats.org/drawingml/2006/main" noGrp="1"/>
          </p:cNvSpPr>
          <p:nvPr/>
        </p:nvSpPr>
        <p:spPr>
          <a:xfrm xmlns:a="http://schemas.openxmlformats.org/drawingml/2006/main">
            <a:off x="666750" y="361950"/>
            <a:ext cx="4191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975" b="1">
                <a:solidFill>
                  <a:srgbClr val="2563EB"/>
                </a:solidFill>
              </a:defRPr>
            </a:defPPr>
          </a:lstStyle>
          <a:p xmlns:a="http://schemas.openxmlformats.org/drawingml/2006/main">
            <a:pPr algn="l">
              <a:defRPr sz="975" b="1">
                <a:solidFill>
                  <a:srgbClr val="2563EB"/>
                </a:solidFill>
              </a:defRPr>
            </a:pPr>
            <a:r>
              <a:rPr sz="975" b="1">
                <a:solidFill>
                  <a:srgbClr val="2563EB"/>
                </a:solidFill>
              </a:rPr>
              <a:t>03</a:t>
            </a:r>
          </a:p>
        </p:txBody>
      </p:sp>
      <p:sp>
        <p:nvSpPr>
          <p:cNvPr id="2" name="">
            <a:extLst xmlns:a="http://schemas.openxmlformats.org/drawingml/2006/main">
              <a:ext uri="{FF2B5EF4-FFF2-40B4-BE49-F238E27FC236}">
                <a16:creationId xmlns:a16="http://schemas.microsoft.com/office/drawing/2014/main" id="{628C3738-857D-4131-A88B-3539A236F04B}"/>
              </a:ext>
            </a:extLst>
          </p:cNvPr>
          <p:cNvSpPr>
            <a:spLocks xmlns:a="http://schemas.openxmlformats.org/drawingml/2006/main" noGrp="1"/>
          </p:cNvSpPr>
          <p:nvPr/>
        </p:nvSpPr>
        <p:spPr>
          <a:xfrm xmlns:a="http://schemas.openxmlformats.org/drawingml/2006/main">
            <a:off x="666750" y="685800"/>
            <a:ext cx="1047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400" b="1">
                <a:solidFill>
                  <a:srgbClr val="0B1739"/>
                </a:solidFill>
              </a:defRPr>
            </a:defPPr>
          </a:lstStyle>
          <a:p xmlns:a="http://schemas.openxmlformats.org/drawingml/2006/main">
            <a:pPr algn="l">
              <a:defRPr sz="2400" b="1">
                <a:solidFill>
                  <a:srgbClr val="0B1739"/>
                </a:solidFill>
              </a:defRPr>
            </a:pPr>
            <a:r>
              <a:rPr sz="2400" b="1">
                <a:solidFill>
                  <a:srgbClr val="0B1739"/>
                </a:solidFill>
              </a:rPr>
              <a:t>Proposed experiment: learning from proof experience</a:t>
            </a:r>
          </a:p>
        </p:txBody>
      </p:sp>
      <p:sp>
        <p:nvSpPr>
          <p:cNvPr id="3" name="">
            <a:extLst xmlns:a="http://schemas.openxmlformats.org/drawingml/2006/main">
              <a:ext uri="{FF2B5EF4-FFF2-40B4-BE49-F238E27FC236}">
                <a16:creationId xmlns:a16="http://schemas.microsoft.com/office/drawing/2014/main" id="{FD1D8861-FED8-4E85-B25C-19817B2EE74A}"/>
              </a:ext>
            </a:extLst>
          </p:cNvPr>
          <p:cNvSpPr>
            <a:spLocks xmlns:a="http://schemas.openxmlformats.org/drawingml/2006/main" noGrp="1"/>
          </p:cNvSpPr>
          <p:nvPr/>
        </p:nvSpPr>
        <p:spPr>
          <a:xfrm xmlns:a="http://schemas.openxmlformats.org/drawingml/2006/main" flipH="0" flipV="0">
            <a:off x="666750" y="1333500"/>
            <a:ext cx="108585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4" name="">
            <a:extLst xmlns:a="http://schemas.openxmlformats.org/drawingml/2006/main">
              <a:ext uri="{FF2B5EF4-FFF2-40B4-BE49-F238E27FC236}">
                <a16:creationId xmlns:a16="http://schemas.microsoft.com/office/drawing/2014/main" id="{9B3EC02A-E9A5-4415-89BB-8CD93BB2E9A2}"/>
              </a:ext>
            </a:extLst>
          </p:cNvPr>
          <p:cNvSpPr>
            <a:spLocks xmlns:a="http://schemas.openxmlformats.org/drawingml/2006/main" noGrp="1"/>
          </p:cNvSpPr>
          <p:nvPr/>
        </p:nvSpPr>
        <p:spPr>
          <a:xfrm xmlns:a="http://schemas.openxmlformats.org/drawingml/2006/main">
            <a:off x="666750" y="1457325"/>
            <a:ext cx="10668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00" b="0">
                <a:solidFill>
                  <a:srgbClr val="64748B"/>
                </a:solidFill>
              </a:defRPr>
            </a:defPPr>
          </a:lstStyle>
          <a:p xmlns:a="http://schemas.openxmlformats.org/drawingml/2006/main">
            <a:pPr algn="l">
              <a:defRPr sz="1500" b="0">
                <a:solidFill>
                  <a:srgbClr val="64748B"/>
                </a:solidFill>
              </a:defRPr>
            </a:pPr>
            <a:r>
              <a:rPr sz="1500" b="0">
                <a:solidFill>
                  <a:srgbClr val="64748B"/>
                </a:solidFill>
              </a:rPr>
              <a:t>Can a fixed model use verified experience to solve new floating-point proofs more reliably or at lower cost?</a:t>
            </a:r>
          </a:p>
        </p:txBody>
      </p:sp>
      <p:sp>
        <p:nvSpPr>
          <p:cNvPr id="5" name="">
            <a:extLst xmlns:a="http://schemas.openxmlformats.org/drawingml/2006/main">
              <a:ext uri="{FF2B5EF4-FFF2-40B4-BE49-F238E27FC236}">
                <a16:creationId xmlns:a16="http://schemas.microsoft.com/office/drawing/2014/main" id="{FF75C278-384E-4A84-83F3-FEBFC756958A}"/>
              </a:ext>
            </a:extLst>
          </p:cNvPr>
          <p:cNvSpPr>
            <a:spLocks xmlns:a="http://schemas.openxmlformats.org/drawingml/2006/main" noGrp="1"/>
          </p:cNvSpPr>
          <p:nvPr/>
        </p:nvSpPr>
        <p:spPr>
          <a:xfrm xmlns:a="http://schemas.openxmlformats.org/drawingml/2006/main">
            <a:off x="1190625" y="2076450"/>
            <a:ext cx="9810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350" b="1">
                <a:solidFill>
                  <a:srgbClr val="0B1739"/>
                </a:solidFill>
              </a:defRPr>
            </a:defPPr>
          </a:lstStyle>
          <a:p xmlns:a="http://schemas.openxmlformats.org/drawingml/2006/main">
            <a:pPr algn="ctr">
              <a:defRPr sz="1350" b="1">
                <a:solidFill>
                  <a:srgbClr val="0B1739"/>
                </a:solidFill>
              </a:defRPr>
            </a:pPr>
            <a:r>
              <a:rPr sz="1350" b="1">
                <a:solidFill>
                  <a:srgbClr val="0B1739"/>
                </a:solidFill>
              </a:rPr>
              <a:t>Fixed model, reasoning setting, tools, budgets, starting code, and verification</a:t>
            </a:r>
          </a:p>
        </p:txBody>
      </p:sp>
      <p:sp>
        <p:nvSpPr>
          <p:cNvPr id="6" name="">
            <a:extLst xmlns:a="http://schemas.openxmlformats.org/drawingml/2006/main">
              <a:ext uri="{FF2B5EF4-FFF2-40B4-BE49-F238E27FC236}">
                <a16:creationId xmlns:a16="http://schemas.microsoft.com/office/drawing/2014/main" id="{B5156164-DA8F-4F53-B7A8-EE3268718D87}"/>
              </a:ext>
            </a:extLst>
          </p:cNvPr>
          <p:cNvSpPr>
            <a:spLocks xmlns:a="http://schemas.openxmlformats.org/drawingml/2006/main" noGrp="1"/>
          </p:cNvSpPr>
          <p:nvPr/>
        </p:nvSpPr>
        <p:spPr>
          <a:xfrm xmlns:a="http://schemas.openxmlformats.org/drawingml/2006/main">
            <a:off x="857250" y="2714625"/>
            <a:ext cx="4381500" cy="2095500"/>
          </a:xfrm>
          <a:prstGeom xmlns:a="http://schemas.openxmlformats.org/drawingml/2006/main" prst="roundRect">
            <a:avLst>
              <a:gd name="adj" fmla="val 3636"/>
            </a:avLst>
          </a:prstGeom>
          <a:solidFill xmlns:a="http://schemas.openxmlformats.org/drawingml/2006/main">
            <a:srgbClr val="FFFFFF"/>
          </a:solidFill>
          <a:ln xmlns:a="http://schemas.openxmlformats.org/drawingml/2006/main" w="19050">
            <a:solidFill>
              <a:srgbClr val="CBD5E1"/>
            </a:solidFill>
            <a:prstDash val="solid"/>
          </a:ln>
        </p:spPr>
      </p:sp>
      <p:sp>
        <p:nvSpPr>
          <p:cNvPr id="7" name="">
            <a:extLst xmlns:a="http://schemas.openxmlformats.org/drawingml/2006/main">
              <a:ext uri="{FF2B5EF4-FFF2-40B4-BE49-F238E27FC236}">
                <a16:creationId xmlns:a16="http://schemas.microsoft.com/office/drawing/2014/main" id="{5E8AF8D1-A575-42FE-9787-7410F5645970}"/>
              </a:ext>
            </a:extLst>
          </p:cNvPr>
          <p:cNvSpPr>
            <a:spLocks xmlns:a="http://schemas.openxmlformats.org/drawingml/2006/main" noGrp="1"/>
          </p:cNvSpPr>
          <p:nvPr/>
        </p:nvSpPr>
        <p:spPr>
          <a:xfrm xmlns:a="http://schemas.openxmlformats.org/drawingml/2006/main">
            <a:off x="1190625" y="2952750"/>
            <a:ext cx="3714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800" b="1">
                <a:solidFill>
                  <a:srgbClr val="0B1739"/>
                </a:solidFill>
              </a:defRPr>
            </a:defPPr>
          </a:lstStyle>
          <a:p xmlns:a="http://schemas.openxmlformats.org/drawingml/2006/main">
            <a:pPr algn="l">
              <a:defRPr sz="1800" b="1">
                <a:solidFill>
                  <a:srgbClr val="0B1739"/>
                </a:solidFill>
              </a:defRPr>
            </a:pPr>
            <a:r>
              <a:rPr sz="1800" b="1">
                <a:solidFill>
                  <a:srgbClr val="0B1739"/>
                </a:solidFill>
              </a:rPr>
              <a:t>Stateless condition</a:t>
            </a:r>
          </a:p>
        </p:txBody>
      </p:sp>
      <p:sp>
        <p:nvSpPr>
          <p:cNvPr id="8" name="">
            <a:extLst xmlns:a="http://schemas.openxmlformats.org/drawingml/2006/main">
              <a:ext uri="{FF2B5EF4-FFF2-40B4-BE49-F238E27FC236}">
                <a16:creationId xmlns:a16="http://schemas.microsoft.com/office/drawing/2014/main" id="{814542AB-D5E4-44EB-BBDD-864E2BEB4A21}"/>
              </a:ext>
            </a:extLst>
          </p:cNvPr>
          <p:cNvSpPr>
            <a:spLocks xmlns:a="http://schemas.openxmlformats.org/drawingml/2006/main" noGrp="1"/>
          </p:cNvSpPr>
          <p:nvPr/>
        </p:nvSpPr>
        <p:spPr>
          <a:xfrm xmlns:a="http://schemas.openxmlformats.org/drawingml/2006/main">
            <a:off x="1190625" y="3476625"/>
            <a:ext cx="371475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172033"/>
                </a:solidFill>
              </a:defRPr>
            </a:defPPr>
          </a:lstStyle>
          <a:p xmlns:a="http://schemas.openxmlformats.org/drawingml/2006/main">
            <a:pPr algn="l">
              <a:defRPr sz="1425" b="0">
                <a:solidFill>
                  <a:srgbClr val="172033"/>
                </a:solidFill>
              </a:defRPr>
            </a:pPr>
            <a:r>
              <a:rPr sz="1425" b="0">
                <a:solidFill>
                  <a:srgbClr val="172033"/>
                </a:solidFill>
              </a:rPr>
              <a:t>Fresh context with no research memory</a:t>
            </a:r>
          </a:p>
          <a:p xmlns:a="http://schemas.openxmlformats.org/drawingml/2006/main">
            <a:r>
              <a:t/>
            </a:r>
          </a:p>
          <a:p xmlns:a="http://schemas.openxmlformats.org/drawingml/2006/main">
            <a:pPr algn="l">
              <a:defRPr sz="1425" b="0">
                <a:solidFill>
                  <a:srgbClr val="172033"/>
                </a:solidFill>
              </a:defRPr>
            </a:pPr>
            <a:r>
              <a:rPr sz="1425" b="0">
                <a:solidFill>
                  <a:srgbClr val="172033"/>
                </a:solidFill>
              </a:rPr>
              <a:t>Shared Lean prerequisites and Mathlib</a:t>
            </a:r>
          </a:p>
          <a:p xmlns:a="http://schemas.openxmlformats.org/drawingml/2006/main">
            <a:r>
              <a:t/>
            </a:r>
          </a:p>
          <a:p xmlns:a="http://schemas.openxmlformats.org/drawingml/2006/main">
            <a:pPr algn="l">
              <a:defRPr sz="1425" b="0">
                <a:solidFill>
                  <a:srgbClr val="172033"/>
                </a:solidFill>
              </a:defRPr>
            </a:pPr>
            <a:r>
              <a:rPr sz="1425" b="0">
                <a:solidFill>
                  <a:srgbClr val="172033"/>
                </a:solidFill>
              </a:rPr>
              <a:t>Unfinished target and acceptance tests</a:t>
            </a:r>
          </a:p>
        </p:txBody>
      </p:sp>
      <p:sp>
        <p:nvSpPr>
          <p:cNvPr id="9" name="">
            <a:extLst xmlns:a="http://schemas.openxmlformats.org/drawingml/2006/main">
              <a:ext uri="{FF2B5EF4-FFF2-40B4-BE49-F238E27FC236}">
                <a16:creationId xmlns:a16="http://schemas.microsoft.com/office/drawing/2014/main" id="{198C7FD3-8D1A-4C49-BFAC-C30291B1B511}"/>
              </a:ext>
            </a:extLst>
          </p:cNvPr>
          <p:cNvSpPr>
            <a:spLocks xmlns:a="http://schemas.openxmlformats.org/drawingml/2006/main" noGrp="1"/>
          </p:cNvSpPr>
          <p:nvPr/>
        </p:nvSpPr>
        <p:spPr>
          <a:xfrm xmlns:a="http://schemas.openxmlformats.org/drawingml/2006/main">
            <a:off x="6953250" y="2714625"/>
            <a:ext cx="4381500" cy="2095500"/>
          </a:xfrm>
          <a:prstGeom xmlns:a="http://schemas.openxmlformats.org/drawingml/2006/main" prst="roundRect">
            <a:avLst>
              <a:gd name="adj" fmla="val 3636"/>
            </a:avLst>
          </a:prstGeom>
          <a:solidFill xmlns:a="http://schemas.openxmlformats.org/drawingml/2006/main">
            <a:srgbClr val="EFF6FF"/>
          </a:solidFill>
          <a:ln xmlns:a="http://schemas.openxmlformats.org/drawingml/2006/main" w="19050">
            <a:solidFill>
              <a:srgbClr val="2563EB"/>
            </a:solidFill>
            <a:prstDash val="solid"/>
          </a:ln>
        </p:spPr>
      </p:sp>
      <p:sp>
        <p:nvSpPr>
          <p:cNvPr id="10" name="">
            <a:extLst xmlns:a="http://schemas.openxmlformats.org/drawingml/2006/main">
              <a:ext uri="{FF2B5EF4-FFF2-40B4-BE49-F238E27FC236}">
                <a16:creationId xmlns:a16="http://schemas.microsoft.com/office/drawing/2014/main" id="{EAB262D5-A409-4F6B-BF5A-93BDF342F6E4}"/>
              </a:ext>
            </a:extLst>
          </p:cNvPr>
          <p:cNvSpPr>
            <a:spLocks xmlns:a="http://schemas.openxmlformats.org/drawingml/2006/main" noGrp="1"/>
          </p:cNvSpPr>
          <p:nvPr/>
        </p:nvSpPr>
        <p:spPr>
          <a:xfrm xmlns:a="http://schemas.openxmlformats.org/drawingml/2006/main">
            <a:off x="7286625" y="2952750"/>
            <a:ext cx="3714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800" b="1">
                <a:solidFill>
                  <a:srgbClr val="2563EB"/>
                </a:solidFill>
              </a:defRPr>
            </a:defPPr>
          </a:lstStyle>
          <a:p xmlns:a="http://schemas.openxmlformats.org/drawingml/2006/main">
            <a:pPr algn="l">
              <a:defRPr sz="1800" b="1">
                <a:solidFill>
                  <a:srgbClr val="2563EB"/>
                </a:solidFill>
              </a:defRPr>
            </a:pPr>
            <a:r>
              <a:rPr sz="1800" b="1">
                <a:solidFill>
                  <a:srgbClr val="2563EB"/>
                </a:solidFill>
              </a:rPr>
              <a:t>Artifact-enabled condition</a:t>
            </a:r>
          </a:p>
        </p:txBody>
      </p:sp>
      <p:sp>
        <p:nvSpPr>
          <p:cNvPr id="11" name="">
            <a:extLst xmlns:a="http://schemas.openxmlformats.org/drawingml/2006/main">
              <a:ext uri="{FF2B5EF4-FFF2-40B4-BE49-F238E27FC236}">
                <a16:creationId xmlns:a16="http://schemas.microsoft.com/office/drawing/2014/main" id="{9A5C2BEE-CB87-44DA-867D-0C3E7DDB4B7E}"/>
              </a:ext>
            </a:extLst>
          </p:cNvPr>
          <p:cNvSpPr>
            <a:spLocks xmlns:a="http://schemas.openxmlformats.org/drawingml/2006/main" noGrp="1"/>
          </p:cNvSpPr>
          <p:nvPr/>
        </p:nvSpPr>
        <p:spPr>
          <a:xfrm xmlns:a="http://schemas.openxmlformats.org/drawingml/2006/main">
            <a:off x="7286625" y="3476625"/>
            <a:ext cx="371475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172033"/>
                </a:solidFill>
              </a:defRPr>
            </a:defPPr>
          </a:lstStyle>
          <a:p xmlns:a="http://schemas.openxmlformats.org/drawingml/2006/main">
            <a:pPr algn="l">
              <a:defRPr sz="1425" b="0">
                <a:solidFill>
                  <a:srgbClr val="172033"/>
                </a:solidFill>
              </a:defRPr>
            </a:pPr>
            <a:r>
              <a:rPr sz="1425" b="0">
                <a:solidFill>
                  <a:srgbClr val="172033"/>
                </a:solidFill>
              </a:rPr>
              <a:t>Same setup plus frozen verified memory</a:t>
            </a:r>
          </a:p>
          <a:p xmlns:a="http://schemas.openxmlformats.org/drawingml/2006/main">
            <a:r>
              <a:t/>
            </a:r>
          </a:p>
          <a:p xmlns:a="http://schemas.openxmlformats.org/drawingml/2006/main">
            <a:pPr algn="l">
              <a:defRPr sz="1425" b="0">
                <a:solidFill>
                  <a:srgbClr val="172033"/>
                </a:solidFill>
              </a:defRPr>
            </a:pPr>
            <a:r>
              <a:rPr sz="1425" b="0">
                <a:solidFill>
                  <a:srgbClr val="172033"/>
                </a:solidFill>
              </a:rPr>
              <a:t>Log retrieval and decisions it changes</a:t>
            </a:r>
          </a:p>
          <a:p xmlns:a="http://schemas.openxmlformats.org/drawingml/2006/main">
            <a:r>
              <a:t/>
            </a:r>
          </a:p>
          <a:p xmlns:a="http://schemas.openxmlformats.org/drawingml/2006/main">
            <a:pPr algn="l">
              <a:defRPr sz="1425" b="0">
                <a:solidFill>
                  <a:srgbClr val="172033"/>
                </a:solidFill>
              </a:defRPr>
            </a:pPr>
            <a:r>
              <a:rPr sz="1425" b="0">
                <a:solidFill>
                  <a:srgbClr val="172033"/>
                </a:solidFill>
              </a:rPr>
              <a:t>Exclude the completed target proof</a:t>
            </a:r>
          </a:p>
        </p:txBody>
      </p:sp>
      <p:sp>
        <p:nvSpPr>
          <p:cNvPr id="12" name="">
            <a:extLst xmlns:a="http://schemas.openxmlformats.org/drawingml/2006/main">
              <a:ext uri="{FF2B5EF4-FFF2-40B4-BE49-F238E27FC236}">
                <a16:creationId xmlns:a16="http://schemas.microsoft.com/office/drawing/2014/main" id="{6736BB39-0944-4FA8-ADEA-865E7B667AA0}"/>
              </a:ext>
            </a:extLst>
          </p:cNvPr>
          <p:cNvSpPr>
            <a:spLocks xmlns:a="http://schemas.openxmlformats.org/drawingml/2006/main" noGrp="1"/>
          </p:cNvSpPr>
          <p:nvPr/>
        </p:nvSpPr>
        <p:spPr>
          <a:xfrm xmlns:a="http://schemas.openxmlformats.org/drawingml/2006/main" flipH="0" flipV="0">
            <a:off x="5238750" y="3905250"/>
            <a:ext cx="1714500" cy="0"/>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13" name="">
            <a:extLst xmlns:a="http://schemas.openxmlformats.org/drawingml/2006/main">
              <a:ext uri="{FF2B5EF4-FFF2-40B4-BE49-F238E27FC236}">
                <a16:creationId xmlns:a16="http://schemas.microsoft.com/office/drawing/2014/main" id="{B868E6F3-2978-44EE-A66A-60E30B482B5D}"/>
              </a:ext>
            </a:extLst>
          </p:cNvPr>
          <p:cNvSpPr>
            <a:spLocks xmlns:a="http://schemas.openxmlformats.org/drawingml/2006/main" noGrp="1"/>
          </p:cNvSpPr>
          <p:nvPr/>
        </p:nvSpPr>
        <p:spPr>
          <a:xfrm xmlns:a="http://schemas.openxmlformats.org/drawingml/2006/main">
            <a:off x="5667375" y="3638550"/>
            <a:ext cx="857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050" b="1">
                <a:solidFill>
                  <a:srgbClr val="64748B"/>
                </a:solidFill>
              </a:defRPr>
            </a:defPPr>
          </a:lstStyle>
          <a:p xmlns:a="http://schemas.openxmlformats.org/drawingml/2006/main">
            <a:pPr algn="ctr">
              <a:defRPr sz="1050" b="1">
                <a:solidFill>
                  <a:srgbClr val="64748B"/>
                </a:solidFill>
              </a:defRPr>
            </a:pPr>
            <a:r>
              <a:rPr sz="1050" b="1">
                <a:solidFill>
                  <a:srgbClr val="64748B"/>
                </a:solidFill>
              </a:rPr>
              <a:t>compare</a:t>
            </a:r>
          </a:p>
        </p:txBody>
      </p:sp>
      <p:sp>
        <p:nvSpPr>
          <p:cNvPr id="14" name="">
            <a:extLst xmlns:a="http://schemas.openxmlformats.org/drawingml/2006/main">
              <a:ext uri="{FF2B5EF4-FFF2-40B4-BE49-F238E27FC236}">
                <a16:creationId xmlns:a16="http://schemas.microsoft.com/office/drawing/2014/main" id="{0F6C5216-E6FA-42A4-9BBC-92551FC4ED91}"/>
              </a:ext>
            </a:extLst>
          </p:cNvPr>
          <p:cNvSpPr>
            <a:spLocks xmlns:a="http://schemas.openxmlformats.org/drawingml/2006/main" noGrp="1"/>
          </p:cNvSpPr>
          <p:nvPr/>
        </p:nvSpPr>
        <p:spPr>
          <a:xfrm xmlns:a="http://schemas.openxmlformats.org/drawingml/2006/main">
            <a:off x="857250" y="509587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1">
                <a:solidFill>
                  <a:srgbClr val="64748B"/>
                </a:solidFill>
              </a:defRPr>
            </a:defPPr>
          </a:lstStyle>
          <a:p xmlns:a="http://schemas.openxmlformats.org/drawingml/2006/main">
            <a:pPr algn="l">
              <a:defRPr sz="1425" b="1">
                <a:solidFill>
                  <a:srgbClr val="64748B"/>
                </a:solidFill>
              </a:defRPr>
            </a:pPr>
            <a:r>
              <a:rPr sz="1425" b="1">
                <a:solidFill>
                  <a:srgbClr val="64748B"/>
                </a:solidFill>
              </a:rPr>
              <a:t>Measure</a:t>
            </a:r>
          </a:p>
        </p:txBody>
      </p:sp>
      <p:sp>
        <p:nvSpPr>
          <p:cNvPr id="15" name="">
            <a:extLst xmlns:a="http://schemas.openxmlformats.org/drawingml/2006/main">
              <a:ext uri="{FF2B5EF4-FFF2-40B4-BE49-F238E27FC236}">
                <a16:creationId xmlns:a16="http://schemas.microsoft.com/office/drawing/2014/main" id="{1C3E9784-C40A-4CA2-B846-A38FD25915BC}"/>
              </a:ext>
            </a:extLst>
          </p:cNvPr>
          <p:cNvSpPr>
            <a:spLocks xmlns:a="http://schemas.openxmlformats.org/drawingml/2006/main" noGrp="1"/>
          </p:cNvSpPr>
          <p:nvPr/>
        </p:nvSpPr>
        <p:spPr>
          <a:xfrm xmlns:a="http://schemas.openxmlformats.org/drawingml/2006/main">
            <a:off x="2381250" y="5095875"/>
            <a:ext cx="8953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75" b="1">
                <a:solidFill>
                  <a:srgbClr val="0B1739"/>
                </a:solidFill>
              </a:defRPr>
            </a:defPPr>
          </a:lstStyle>
          <a:p xmlns:a="http://schemas.openxmlformats.org/drawingml/2006/main">
            <a:pPr algn="l">
              <a:defRPr sz="1575" b="1">
                <a:solidFill>
                  <a:srgbClr val="0B1739"/>
                </a:solidFill>
              </a:defRPr>
            </a:pPr>
            <a:r>
              <a:rPr sz="1575" b="1">
                <a:solidFill>
                  <a:srgbClr val="0B1739"/>
                </a:solidFill>
              </a:rPr>
              <a:t>Verified proof success, time, cost, compiler attempts, Aristotle use</a:t>
            </a:r>
          </a:p>
        </p:txBody>
      </p:sp>
      <p:sp>
        <p:nvSpPr>
          <p:cNvPr id="16" name="">
            <a:extLst xmlns:a="http://schemas.openxmlformats.org/drawingml/2006/main">
              <a:ext uri="{FF2B5EF4-FFF2-40B4-BE49-F238E27FC236}">
                <a16:creationId xmlns:a16="http://schemas.microsoft.com/office/drawing/2014/main" id="{EF9B95BB-15C2-4708-AF2F-C018C440FC62}"/>
              </a:ext>
            </a:extLst>
          </p:cNvPr>
          <p:cNvSpPr>
            <a:spLocks xmlns:a="http://schemas.openxmlformats.org/drawingml/2006/main" noGrp="1"/>
          </p:cNvSpPr>
          <p:nvPr/>
        </p:nvSpPr>
        <p:spPr>
          <a:xfrm xmlns:a="http://schemas.openxmlformats.org/drawingml/2006/main">
            <a:off x="857250" y="555307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1">
                <a:solidFill>
                  <a:srgbClr val="64748B"/>
                </a:solidFill>
              </a:defRPr>
            </a:defPPr>
          </a:lstStyle>
          <a:p xmlns:a="http://schemas.openxmlformats.org/drawingml/2006/main">
            <a:pPr algn="l">
              <a:defRPr sz="1425" b="1">
                <a:solidFill>
                  <a:srgbClr val="64748B"/>
                </a:solidFill>
              </a:defRPr>
            </a:pPr>
            <a:r>
              <a:rPr sz="1425" b="1">
                <a:solidFill>
                  <a:srgbClr val="64748B"/>
                </a:solidFill>
              </a:rPr>
              <a:t>Diagnose</a:t>
            </a:r>
          </a:p>
        </p:txBody>
      </p:sp>
      <p:sp>
        <p:nvSpPr>
          <p:cNvPr id="17" name="">
            <a:extLst xmlns:a="http://schemas.openxmlformats.org/drawingml/2006/main">
              <a:ext uri="{FF2B5EF4-FFF2-40B4-BE49-F238E27FC236}">
                <a16:creationId xmlns:a16="http://schemas.microsoft.com/office/drawing/2014/main" id="{385C7D32-4ECB-49B3-B1D8-63D6BD4C5331}"/>
              </a:ext>
            </a:extLst>
          </p:cNvPr>
          <p:cNvSpPr>
            <a:spLocks xmlns:a="http://schemas.openxmlformats.org/drawingml/2006/main" noGrp="1"/>
          </p:cNvSpPr>
          <p:nvPr/>
        </p:nvSpPr>
        <p:spPr>
          <a:xfrm xmlns:a="http://schemas.openxmlformats.org/drawingml/2006/main">
            <a:off x="2381250" y="5553075"/>
            <a:ext cx="8953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75" b="0">
                <a:solidFill>
                  <a:srgbClr val="172033"/>
                </a:solidFill>
              </a:defRPr>
            </a:defPPr>
          </a:lstStyle>
          <a:p xmlns:a="http://schemas.openxmlformats.org/drawingml/2006/main">
            <a:pPr algn="l">
              <a:defRPr sz="1575" b="0">
                <a:solidFill>
                  <a:srgbClr val="172033"/>
                </a:solidFill>
              </a:defRPr>
            </a:pPr>
            <a:r>
              <a:rPr sz="1575" b="0">
                <a:solidFill>
                  <a:srgbClr val="172033"/>
                </a:solidFill>
              </a:rPr>
              <a:t>Missing lesson, missed retrieval, or incorrect application</a:t>
            </a:r>
          </a:p>
        </p:txBody>
      </p:sp>
      <p:sp>
        <p:nvSpPr>
          <p:cNvPr id="18" name="">
            <a:extLst xmlns:a="http://schemas.openxmlformats.org/drawingml/2006/main">
              <a:ext uri="{FF2B5EF4-FFF2-40B4-BE49-F238E27FC236}">
                <a16:creationId xmlns:a16="http://schemas.microsoft.com/office/drawing/2014/main" id="{9155C15D-C192-4802-954C-17E266664FB1}"/>
              </a:ext>
            </a:extLst>
          </p:cNvPr>
          <p:cNvSpPr>
            <a:spLocks xmlns:a="http://schemas.openxmlformats.org/drawingml/2006/main" noGrp="1"/>
          </p:cNvSpPr>
          <p:nvPr/>
        </p:nvSpPr>
        <p:spPr>
          <a:xfrm xmlns:a="http://schemas.openxmlformats.org/drawingml/2006/main">
            <a:off x="666750" y="6429375"/>
            <a:ext cx="10858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825" b="0">
                <a:solidFill>
                  <a:srgbClr val="64748B"/>
                </a:solidFill>
              </a:defRPr>
            </a:defPPr>
          </a:lstStyle>
          <a:p xmlns:a="http://schemas.openxmlformats.org/drawingml/2006/main">
            <a:pPr algn="r">
              <a:defRPr sz="825" b="0">
                <a:solidFill>
                  <a:srgbClr val="64748B"/>
                </a:solidFill>
              </a:defRPr>
            </a:pPr>
            <a:r>
              <a:rPr sz="825" b="0">
                <a:solidFill>
                  <a:srgbClr val="64748B"/>
                </a:solidFill>
              </a:rPr>
              <a:t>Evaluation uses held-out proofs across fresh runs. The experiment has not established improvement yet.</a:t>
            </a:r>
          </a:p>
        </p:txBody>
      </p:sp>
    </p:spTree>
    <p:extLst>
      <p:ext uri="{BB962C8B-B14F-4D97-AF65-F5344CB8AC3E}">
        <p14:creationId xmlns:p14="http://schemas.microsoft.com/office/powerpoint/2010/main" val="1118027988"/>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62F6A55E-15C0-4A34-9833-ACE3734E7A26}"/>
              </a:ext>
            </a:extLst>
          </p:cNvPr>
          <p:cNvSpPr>
            <a:spLocks xmlns:a="http://schemas.openxmlformats.org/drawingml/2006/main" noGrp="1"/>
          </p:cNvSpPr>
          <p:nvPr/>
        </p:nvSpPr>
        <p:spPr>
          <a:xfrm xmlns:a="http://schemas.openxmlformats.org/drawingml/2006/main">
            <a:off x="666750" y="361950"/>
            <a:ext cx="4191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975" b="1">
                <a:solidFill>
                  <a:srgbClr val="2563EB"/>
                </a:solidFill>
              </a:defRPr>
            </a:defPPr>
          </a:lstStyle>
          <a:p xmlns:a="http://schemas.openxmlformats.org/drawingml/2006/main">
            <a:pPr algn="l">
              <a:defRPr sz="975" b="1">
                <a:solidFill>
                  <a:srgbClr val="2563EB"/>
                </a:solidFill>
              </a:defRPr>
            </a:pPr>
            <a:r>
              <a:rPr sz="975" b="1">
                <a:solidFill>
                  <a:srgbClr val="2563EB"/>
                </a:solidFill>
              </a:rPr>
              <a:t>04</a:t>
            </a:r>
          </a:p>
        </p:txBody>
      </p:sp>
      <p:sp>
        <p:nvSpPr>
          <p:cNvPr id="2" name="">
            <a:extLst xmlns:a="http://schemas.openxmlformats.org/drawingml/2006/main">
              <a:ext uri="{FF2B5EF4-FFF2-40B4-BE49-F238E27FC236}">
                <a16:creationId xmlns:a16="http://schemas.microsoft.com/office/drawing/2014/main" id="{DE04E9AE-B4FA-4174-B049-6D83A5209863}"/>
              </a:ext>
            </a:extLst>
          </p:cNvPr>
          <p:cNvSpPr>
            <a:spLocks xmlns:a="http://schemas.openxmlformats.org/drawingml/2006/main" noGrp="1"/>
          </p:cNvSpPr>
          <p:nvPr/>
        </p:nvSpPr>
        <p:spPr>
          <a:xfrm xmlns:a="http://schemas.openxmlformats.org/drawingml/2006/main">
            <a:off x="666750" y="685800"/>
            <a:ext cx="1047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400" b="1">
                <a:solidFill>
                  <a:srgbClr val="0B1739"/>
                </a:solidFill>
              </a:defRPr>
            </a:defPPr>
          </a:lstStyle>
          <a:p xmlns:a="http://schemas.openxmlformats.org/drawingml/2006/main">
            <a:pPr algn="l">
              <a:defRPr sz="2400" b="1">
                <a:solidFill>
                  <a:srgbClr val="0B1739"/>
                </a:solidFill>
              </a:defRPr>
            </a:pPr>
            <a:r>
              <a:rPr sz="2400" b="1">
                <a:solidFill>
                  <a:srgbClr val="0B1739"/>
                </a:solidFill>
              </a:rPr>
              <a:t>Proposed isolation: one repo, separate agent containers</a:t>
            </a:r>
          </a:p>
        </p:txBody>
      </p:sp>
      <p:sp>
        <p:nvSpPr>
          <p:cNvPr id="3" name="">
            <a:extLst xmlns:a="http://schemas.openxmlformats.org/drawingml/2006/main">
              <a:ext uri="{FF2B5EF4-FFF2-40B4-BE49-F238E27FC236}">
                <a16:creationId xmlns:a16="http://schemas.microsoft.com/office/drawing/2014/main" id="{D1BAFFB4-5C1D-400A-9708-05465C8AA940}"/>
              </a:ext>
            </a:extLst>
          </p:cNvPr>
          <p:cNvSpPr>
            <a:spLocks xmlns:a="http://schemas.openxmlformats.org/drawingml/2006/main" noGrp="1"/>
          </p:cNvSpPr>
          <p:nvPr/>
        </p:nvSpPr>
        <p:spPr>
          <a:xfrm xmlns:a="http://schemas.openxmlformats.org/drawingml/2006/main" flipH="0" flipV="0">
            <a:off x="666750" y="1333500"/>
            <a:ext cx="108585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4" name="">
            <a:extLst xmlns:a="http://schemas.openxmlformats.org/drawingml/2006/main">
              <a:ext uri="{FF2B5EF4-FFF2-40B4-BE49-F238E27FC236}">
                <a16:creationId xmlns:a16="http://schemas.microsoft.com/office/drawing/2014/main" id="{32F07814-F2F0-45B9-9D31-70174C8E2A61}"/>
              </a:ext>
            </a:extLst>
          </p:cNvPr>
          <p:cNvSpPr>
            <a:spLocks xmlns:a="http://schemas.openxmlformats.org/drawingml/2006/main" noGrp="1"/>
          </p:cNvSpPr>
          <p:nvPr/>
        </p:nvSpPr>
        <p:spPr>
          <a:xfrm xmlns:a="http://schemas.openxmlformats.org/drawingml/2006/main">
            <a:off x="666750" y="1457325"/>
            <a:ext cx="10858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00" b="0">
                <a:solidFill>
                  <a:srgbClr val="64748B"/>
                </a:solidFill>
              </a:defRPr>
            </a:defPPr>
          </a:lstStyle>
          <a:p xmlns:a="http://schemas.openxmlformats.org/drawingml/2006/main">
            <a:pPr algn="l">
              <a:defRPr sz="1500" b="0">
                <a:solidFill>
                  <a:srgbClr val="64748B"/>
                </a:solidFill>
              </a:defRPr>
            </a:pPr>
            <a:r>
              <a:rPr sz="1500" b="0">
                <a:solidFill>
                  <a:srgbClr val="64748B"/>
                </a:solidFill>
              </a:rPr>
              <a:t>Each run receives only its permitted files. The agent runner and all file tools execute inside the container.</a:t>
            </a:r>
          </a:p>
        </p:txBody>
      </p:sp>
      <p:sp>
        <p:nvSpPr>
          <p:cNvPr id="5" name="">
            <a:extLst xmlns:a="http://schemas.openxmlformats.org/drawingml/2006/main">
              <a:ext uri="{FF2B5EF4-FFF2-40B4-BE49-F238E27FC236}">
                <a16:creationId xmlns:a16="http://schemas.microsoft.com/office/drawing/2014/main" id="{0AA289C7-2DEE-438E-B195-241263DACACA}"/>
              </a:ext>
            </a:extLst>
          </p:cNvPr>
          <p:cNvSpPr>
            <a:spLocks xmlns:a="http://schemas.openxmlformats.org/drawingml/2006/main" noGrp="1"/>
          </p:cNvSpPr>
          <p:nvPr/>
        </p:nvSpPr>
        <p:spPr>
          <a:xfrm xmlns:a="http://schemas.openxmlformats.org/drawingml/2006/main">
            <a:off x="3571875" y="2095500"/>
            <a:ext cx="5048250" cy="619125"/>
          </a:xfrm>
          <a:prstGeom xmlns:a="http://schemas.openxmlformats.org/drawingml/2006/main" prst="roundRect">
            <a:avLst>
              <a:gd name="adj" fmla="val 12308"/>
            </a:avLst>
          </a:prstGeom>
          <a:solidFill xmlns:a="http://schemas.openxmlformats.org/drawingml/2006/main">
            <a:srgbClr val="0B1739"/>
          </a:solidFill>
          <a:ln xmlns:a="http://schemas.openxmlformats.org/drawingml/2006/main" w="9525">
            <a:solidFill>
              <a:srgbClr val="0B1739"/>
            </a:solidFill>
            <a:prstDash val="solid"/>
          </a:ln>
        </p:spPr>
      </p:sp>
      <p:sp>
        <p:nvSpPr>
          <p:cNvPr id="6" name="">
            <a:extLst xmlns:a="http://schemas.openxmlformats.org/drawingml/2006/main">
              <a:ext uri="{FF2B5EF4-FFF2-40B4-BE49-F238E27FC236}">
                <a16:creationId xmlns:a16="http://schemas.microsoft.com/office/drawing/2014/main" id="{98747758-E00E-4BF1-835A-4CC0EB515735}"/>
              </a:ext>
            </a:extLst>
          </p:cNvPr>
          <p:cNvSpPr>
            <a:spLocks xmlns:a="http://schemas.openxmlformats.org/drawingml/2006/main" noGrp="1"/>
          </p:cNvSpPr>
          <p:nvPr/>
        </p:nvSpPr>
        <p:spPr>
          <a:xfrm xmlns:a="http://schemas.openxmlformats.org/drawingml/2006/main">
            <a:off x="3762375" y="2190750"/>
            <a:ext cx="4667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575" b="1">
                <a:solidFill>
                  <a:srgbClr val="FFFFFF"/>
                </a:solidFill>
              </a:defRPr>
            </a:defPPr>
          </a:lstStyle>
          <a:p xmlns:a="http://schemas.openxmlformats.org/drawingml/2006/main">
            <a:pPr algn="ctr">
              <a:defRPr sz="1575" b="1">
                <a:solidFill>
                  <a:srgbClr val="FFFFFF"/>
                </a:solidFill>
              </a:defRPr>
            </a:pPr>
            <a:r>
              <a:rPr sz="1575" b="1">
                <a:solidFill>
                  <a:srgbClr val="FFFFFF"/>
                </a:solidFill>
              </a:rPr>
              <a:t>Monorepo: code, experiment specs, master artifacts</a:t>
            </a:r>
          </a:p>
        </p:txBody>
      </p:sp>
      <p:sp>
        <p:nvSpPr>
          <p:cNvPr id="7" name="">
            <a:extLst xmlns:a="http://schemas.openxmlformats.org/drawingml/2006/main">
              <a:ext uri="{FF2B5EF4-FFF2-40B4-BE49-F238E27FC236}">
                <a16:creationId xmlns:a16="http://schemas.microsoft.com/office/drawing/2014/main" id="{845A348F-8468-428B-97EA-E4FFB93B0E46}"/>
              </a:ext>
            </a:extLst>
          </p:cNvPr>
          <p:cNvSpPr>
            <a:spLocks xmlns:a="http://schemas.openxmlformats.org/drawingml/2006/main" noGrp="1"/>
          </p:cNvSpPr>
          <p:nvPr/>
        </p:nvSpPr>
        <p:spPr>
          <a:xfrm xmlns:a="http://schemas.openxmlformats.org/drawingml/2006/main" flipH="0" flipV="0">
            <a:off x="6096000" y="2714625"/>
            <a:ext cx="0" cy="238125"/>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sp>
      <p:sp>
        <p:nvSpPr>
          <p:cNvPr id="8" name="">
            <a:extLst xmlns:a="http://schemas.openxmlformats.org/drawingml/2006/main">
              <a:ext uri="{FF2B5EF4-FFF2-40B4-BE49-F238E27FC236}">
                <a16:creationId xmlns:a16="http://schemas.microsoft.com/office/drawing/2014/main" id="{A148C481-2CC0-4C2D-B658-D0D4F0AB8BB9}"/>
              </a:ext>
            </a:extLst>
          </p:cNvPr>
          <p:cNvSpPr>
            <a:spLocks xmlns:a="http://schemas.openxmlformats.org/drawingml/2006/main" noGrp="1"/>
          </p:cNvSpPr>
          <p:nvPr/>
        </p:nvSpPr>
        <p:spPr>
          <a:xfrm xmlns:a="http://schemas.openxmlformats.org/drawingml/2006/main" flipH="0" flipV="0">
            <a:off x="3381375" y="2952750"/>
            <a:ext cx="5429250" cy="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sp>
      <p:sp>
        <p:nvSpPr>
          <p:cNvPr id="9" name="">
            <a:extLst xmlns:a="http://schemas.openxmlformats.org/drawingml/2006/main">
              <a:ext uri="{FF2B5EF4-FFF2-40B4-BE49-F238E27FC236}">
                <a16:creationId xmlns:a16="http://schemas.microsoft.com/office/drawing/2014/main" id="{8DEA08A2-DDBC-4FA3-9E82-9DFF1CF430CF}"/>
              </a:ext>
            </a:extLst>
          </p:cNvPr>
          <p:cNvSpPr>
            <a:spLocks xmlns:a="http://schemas.openxmlformats.org/drawingml/2006/main" noGrp="1"/>
          </p:cNvSpPr>
          <p:nvPr/>
        </p:nvSpPr>
        <p:spPr>
          <a:xfrm xmlns:a="http://schemas.openxmlformats.org/drawingml/2006/main" flipH="0" flipV="0">
            <a:off x="3381375" y="2952750"/>
            <a:ext cx="0" cy="285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sp>
      <p:sp>
        <p:nvSpPr>
          <p:cNvPr id="10" name="">
            <a:extLst xmlns:a="http://schemas.openxmlformats.org/drawingml/2006/main">
              <a:ext uri="{FF2B5EF4-FFF2-40B4-BE49-F238E27FC236}">
                <a16:creationId xmlns:a16="http://schemas.microsoft.com/office/drawing/2014/main" id="{030994B6-0C92-4A58-8BE1-62906DE28EF5}"/>
              </a:ext>
            </a:extLst>
          </p:cNvPr>
          <p:cNvSpPr>
            <a:spLocks xmlns:a="http://schemas.openxmlformats.org/drawingml/2006/main" noGrp="1"/>
          </p:cNvSpPr>
          <p:nvPr/>
        </p:nvSpPr>
        <p:spPr>
          <a:xfrm xmlns:a="http://schemas.openxmlformats.org/drawingml/2006/main" flipH="0" flipV="0">
            <a:off x="8810625" y="2952750"/>
            <a:ext cx="0" cy="285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sp>
      <p:sp>
        <p:nvSpPr>
          <p:cNvPr id="11" name="">
            <a:extLst xmlns:a="http://schemas.openxmlformats.org/drawingml/2006/main">
              <a:ext uri="{FF2B5EF4-FFF2-40B4-BE49-F238E27FC236}">
                <a16:creationId xmlns:a16="http://schemas.microsoft.com/office/drawing/2014/main" id="{920D56DF-273B-4B7A-B534-48078E4B4D1A}"/>
              </a:ext>
            </a:extLst>
          </p:cNvPr>
          <p:cNvSpPr>
            <a:spLocks xmlns:a="http://schemas.openxmlformats.org/drawingml/2006/main" noGrp="1"/>
          </p:cNvSpPr>
          <p:nvPr/>
        </p:nvSpPr>
        <p:spPr>
          <a:xfrm xmlns:a="http://schemas.openxmlformats.org/drawingml/2006/main">
            <a:off x="857250" y="3238500"/>
            <a:ext cx="5048250" cy="2000250"/>
          </a:xfrm>
          <a:prstGeom xmlns:a="http://schemas.openxmlformats.org/drawingml/2006/main" prst="roundRect">
            <a:avLst>
              <a:gd name="adj" fmla="val 3810"/>
            </a:avLst>
          </a:prstGeom>
          <a:solidFill xmlns:a="http://schemas.openxmlformats.org/drawingml/2006/main">
            <a:srgbClr val="F7F9FC"/>
          </a:solidFill>
          <a:ln xmlns:a="http://schemas.openxmlformats.org/drawingml/2006/main" w="19050">
            <a:solidFill>
              <a:srgbClr val="CBD5E1"/>
            </a:solidFill>
            <a:prstDash val="solid"/>
          </a:ln>
        </p:spPr>
      </p:sp>
      <p:sp>
        <p:nvSpPr>
          <p:cNvPr id="12" name="">
            <a:extLst xmlns:a="http://schemas.openxmlformats.org/drawingml/2006/main">
              <a:ext uri="{FF2B5EF4-FFF2-40B4-BE49-F238E27FC236}">
                <a16:creationId xmlns:a16="http://schemas.microsoft.com/office/drawing/2014/main" id="{AD98BF42-C852-4C0A-9652-A3828DD7CE82}"/>
              </a:ext>
            </a:extLst>
          </p:cNvPr>
          <p:cNvSpPr>
            <a:spLocks xmlns:a="http://schemas.openxmlformats.org/drawingml/2006/main" noGrp="1"/>
          </p:cNvSpPr>
          <p:nvPr/>
        </p:nvSpPr>
        <p:spPr>
          <a:xfrm xmlns:a="http://schemas.openxmlformats.org/drawingml/2006/main">
            <a:off x="1095375" y="3381375"/>
            <a:ext cx="4572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875" b="1">
                <a:solidFill>
                  <a:srgbClr val="0B1739"/>
                </a:solidFill>
              </a:defRPr>
            </a:defPPr>
          </a:lstStyle>
          <a:p xmlns:a="http://schemas.openxmlformats.org/drawingml/2006/main">
            <a:pPr algn="l">
              <a:defRPr sz="1875" b="1">
                <a:solidFill>
                  <a:srgbClr val="0B1739"/>
                </a:solidFill>
              </a:defRPr>
            </a:pPr>
            <a:r>
              <a:rPr sz="1875" b="1">
                <a:solidFill>
                  <a:srgbClr val="0B1739"/>
                </a:solidFill>
              </a:rPr>
              <a:t>Stateless container</a:t>
            </a:r>
          </a:p>
        </p:txBody>
      </p:sp>
      <p:sp>
        <p:nvSpPr>
          <p:cNvPr id="13" name="">
            <a:extLst xmlns:a="http://schemas.openxmlformats.org/drawingml/2006/main">
              <a:ext uri="{FF2B5EF4-FFF2-40B4-BE49-F238E27FC236}">
                <a16:creationId xmlns:a16="http://schemas.microsoft.com/office/drawing/2014/main" id="{AF78CA94-E2F4-4FAF-B059-87AF9ACD130E}"/>
              </a:ext>
            </a:extLst>
          </p:cNvPr>
          <p:cNvSpPr>
            <a:spLocks xmlns:a="http://schemas.openxmlformats.org/drawingml/2006/main" noGrp="1"/>
          </p:cNvSpPr>
          <p:nvPr/>
        </p:nvSpPr>
        <p:spPr>
          <a:xfrm xmlns:a="http://schemas.openxmlformats.org/drawingml/2006/main">
            <a:off x="1095375" y="3857625"/>
            <a:ext cx="45720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650" b="0">
                <a:solidFill>
                  <a:srgbClr val="172033"/>
                </a:solidFill>
              </a:defRPr>
            </a:defPPr>
          </a:lstStyle>
          <a:p xmlns:a="http://schemas.openxmlformats.org/drawingml/2006/main">
            <a:pPr algn="l">
              <a:defRPr sz="1650" b="0">
                <a:solidFill>
                  <a:srgbClr val="172033"/>
                </a:solidFill>
              </a:defRPr>
            </a:pPr>
            <a:r>
              <a:rPr sz="1650" b="0">
                <a:solidFill>
                  <a:srgbClr val="172033"/>
                </a:solidFill>
              </a:rPr>
              <a:t>Agent CLI + Lean 4.28.0 + Mathlib</a:t>
            </a:r>
          </a:p>
          <a:p xmlns:a="http://schemas.openxmlformats.org/drawingml/2006/main">
            <a:pPr algn="l">
              <a:defRPr sz="1650" b="0">
                <a:solidFill>
                  <a:srgbClr val="172033"/>
                </a:solidFill>
              </a:defRPr>
            </a:pPr>
            <a:r>
              <a:rPr sz="1650" b="0">
                <a:solidFill>
                  <a:srgbClr val="172033"/>
                </a:solidFill>
              </a:rPr>
              <a:t>/workspace: identical starting code</a:t>
            </a:r>
          </a:p>
          <a:p xmlns:a="http://schemas.openxmlformats.org/drawingml/2006/main">
            <a:pPr algn="l">
              <a:defRPr sz="1650" b="0">
                <a:solidFill>
                  <a:srgbClr val="172033"/>
                </a:solidFill>
              </a:defRPr>
            </a:pPr>
            <a:r>
              <a:rPr sz="1650" b="0">
                <a:solidFill>
                  <a:srgbClr val="172033"/>
                </a:solidFill>
              </a:rPr>
              <a:t>Fresh session, no research memory</a:t>
            </a:r>
          </a:p>
        </p:txBody>
      </p:sp>
      <p:sp>
        <p:nvSpPr>
          <p:cNvPr id="14" name="">
            <a:extLst xmlns:a="http://schemas.openxmlformats.org/drawingml/2006/main">
              <a:ext uri="{FF2B5EF4-FFF2-40B4-BE49-F238E27FC236}">
                <a16:creationId xmlns:a16="http://schemas.microsoft.com/office/drawing/2014/main" id="{BD7280F5-BB45-4616-9875-200CCE2FDB0D}"/>
              </a:ext>
            </a:extLst>
          </p:cNvPr>
          <p:cNvSpPr>
            <a:spLocks xmlns:a="http://schemas.openxmlformats.org/drawingml/2006/main" noGrp="1"/>
          </p:cNvSpPr>
          <p:nvPr/>
        </p:nvSpPr>
        <p:spPr>
          <a:xfrm xmlns:a="http://schemas.openxmlformats.org/drawingml/2006/main">
            <a:off x="6286500" y="3238500"/>
            <a:ext cx="5048250" cy="2000250"/>
          </a:xfrm>
          <a:prstGeom xmlns:a="http://schemas.openxmlformats.org/drawingml/2006/main" prst="roundRect">
            <a:avLst>
              <a:gd name="adj" fmla="val 3810"/>
            </a:avLst>
          </a:prstGeom>
          <a:solidFill xmlns:a="http://schemas.openxmlformats.org/drawingml/2006/main">
            <a:srgbClr val="EFF6FF"/>
          </a:solidFill>
          <a:ln xmlns:a="http://schemas.openxmlformats.org/drawingml/2006/main" w="19050">
            <a:solidFill>
              <a:srgbClr val="2563EB"/>
            </a:solidFill>
            <a:prstDash val="solid"/>
          </a:ln>
        </p:spPr>
      </p:sp>
      <p:sp>
        <p:nvSpPr>
          <p:cNvPr id="15" name="">
            <a:extLst xmlns:a="http://schemas.openxmlformats.org/drawingml/2006/main">
              <a:ext uri="{FF2B5EF4-FFF2-40B4-BE49-F238E27FC236}">
                <a16:creationId xmlns:a16="http://schemas.microsoft.com/office/drawing/2014/main" id="{FA4D9149-F5BF-45C0-A143-DCB0D4867037}"/>
              </a:ext>
            </a:extLst>
          </p:cNvPr>
          <p:cNvSpPr>
            <a:spLocks xmlns:a="http://schemas.openxmlformats.org/drawingml/2006/main" noGrp="1"/>
          </p:cNvSpPr>
          <p:nvPr/>
        </p:nvSpPr>
        <p:spPr>
          <a:xfrm xmlns:a="http://schemas.openxmlformats.org/drawingml/2006/main">
            <a:off x="6524625" y="3381375"/>
            <a:ext cx="4572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875" b="1">
                <a:solidFill>
                  <a:srgbClr val="2563EB"/>
                </a:solidFill>
              </a:defRPr>
            </a:defPPr>
          </a:lstStyle>
          <a:p xmlns:a="http://schemas.openxmlformats.org/drawingml/2006/main">
            <a:pPr algn="l">
              <a:defRPr sz="1875" b="1">
                <a:solidFill>
                  <a:srgbClr val="2563EB"/>
                </a:solidFill>
              </a:defRPr>
            </a:pPr>
            <a:r>
              <a:rPr sz="1875" b="1">
                <a:solidFill>
                  <a:srgbClr val="2563EB"/>
                </a:solidFill>
              </a:rPr>
              <a:t>Retrieved container</a:t>
            </a:r>
          </a:p>
        </p:txBody>
      </p:sp>
      <p:sp>
        <p:nvSpPr>
          <p:cNvPr id="16" name="">
            <a:extLst xmlns:a="http://schemas.openxmlformats.org/drawingml/2006/main">
              <a:ext uri="{FF2B5EF4-FFF2-40B4-BE49-F238E27FC236}">
                <a16:creationId xmlns:a16="http://schemas.microsoft.com/office/drawing/2014/main" id="{1235ED72-15A8-4872-8800-645A63B2E44E}"/>
              </a:ext>
            </a:extLst>
          </p:cNvPr>
          <p:cNvSpPr>
            <a:spLocks xmlns:a="http://schemas.openxmlformats.org/drawingml/2006/main" noGrp="1"/>
          </p:cNvSpPr>
          <p:nvPr/>
        </p:nvSpPr>
        <p:spPr>
          <a:xfrm xmlns:a="http://schemas.openxmlformats.org/drawingml/2006/main">
            <a:off x="6524625" y="3857625"/>
            <a:ext cx="45720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650" b="0">
                <a:solidFill>
                  <a:srgbClr val="172033"/>
                </a:solidFill>
              </a:defRPr>
            </a:defPPr>
          </a:lstStyle>
          <a:p xmlns:a="http://schemas.openxmlformats.org/drawingml/2006/main">
            <a:pPr algn="l">
              <a:defRPr sz="1650" b="0">
                <a:solidFill>
                  <a:srgbClr val="172033"/>
                </a:solidFill>
              </a:defRPr>
            </a:pPr>
            <a:r>
              <a:rPr sz="1650" b="0">
                <a:solidFill>
                  <a:srgbClr val="172033"/>
                </a:solidFill>
              </a:rPr>
              <a:t>Same agent and Lean environment</a:t>
            </a:r>
          </a:p>
          <a:p xmlns:a="http://schemas.openxmlformats.org/drawingml/2006/main">
            <a:pPr algn="l">
              <a:defRPr sz="1650" b="0">
                <a:solidFill>
                  <a:srgbClr val="172033"/>
                </a:solidFill>
              </a:defRPr>
            </a:pPr>
            <a:r>
              <a:rPr sz="1650" b="0">
                <a:solidFill>
                  <a:srgbClr val="172033"/>
                </a:solidFill>
              </a:rPr>
              <a:t>/workspace: identical starting code</a:t>
            </a:r>
          </a:p>
          <a:p xmlns:a="http://schemas.openxmlformats.org/drawingml/2006/main">
            <a:pPr algn="l">
              <a:defRPr sz="1650" b="0">
                <a:solidFill>
                  <a:srgbClr val="172033"/>
                </a:solidFill>
              </a:defRPr>
            </a:pPr>
            <a:r>
              <a:rPr sz="1650" b="0">
                <a:solidFill>
                  <a:srgbClr val="172033"/>
                </a:solidFill>
              </a:rPr>
              <a:t>/memory: frozen snapshot, read-only</a:t>
            </a:r>
          </a:p>
        </p:txBody>
      </p:sp>
      <p:sp>
        <p:nvSpPr>
          <p:cNvPr id="17" name="">
            <a:extLst xmlns:a="http://schemas.openxmlformats.org/drawingml/2006/main">
              <a:ext uri="{FF2B5EF4-FFF2-40B4-BE49-F238E27FC236}">
                <a16:creationId xmlns:a16="http://schemas.microsoft.com/office/drawing/2014/main" id="{D1CF68B4-7F10-4020-B2E0-603277737AE4}"/>
              </a:ext>
            </a:extLst>
          </p:cNvPr>
          <p:cNvSpPr>
            <a:spLocks xmlns:a="http://schemas.openxmlformats.org/drawingml/2006/main" noGrp="1"/>
          </p:cNvSpPr>
          <p:nvPr/>
        </p:nvSpPr>
        <p:spPr>
          <a:xfrm xmlns:a="http://schemas.openxmlformats.org/drawingml/2006/main">
            <a:off x="857250" y="5505450"/>
            <a:ext cx="2000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75" b="1">
                <a:solidFill>
                  <a:srgbClr val="0B1739"/>
                </a:solidFill>
              </a:defRPr>
            </a:defPPr>
          </a:lstStyle>
          <a:p xmlns:a="http://schemas.openxmlformats.org/drawingml/2006/main">
            <a:pPr algn="l">
              <a:defRPr sz="1575" b="1">
                <a:solidFill>
                  <a:srgbClr val="0B1739"/>
                </a:solidFill>
              </a:defRPr>
            </a:pPr>
            <a:r>
              <a:rPr sz="1575" b="1">
                <a:solidFill>
                  <a:srgbClr val="0B1739"/>
                </a:solidFill>
              </a:rPr>
              <a:t>Isolation rules</a:t>
            </a:r>
          </a:p>
        </p:txBody>
      </p:sp>
      <p:sp>
        <p:nvSpPr>
          <p:cNvPr id="18" name="">
            <a:extLst xmlns:a="http://schemas.openxmlformats.org/drawingml/2006/main">
              <a:ext uri="{FF2B5EF4-FFF2-40B4-BE49-F238E27FC236}">
                <a16:creationId xmlns:a16="http://schemas.microsoft.com/office/drawing/2014/main" id="{D8AC9DDE-C93A-4091-9F61-7C2514D5FDA1}"/>
              </a:ext>
            </a:extLst>
          </p:cNvPr>
          <p:cNvSpPr>
            <a:spLocks xmlns:a="http://schemas.openxmlformats.org/drawingml/2006/main" noGrp="1"/>
          </p:cNvSpPr>
          <p:nvPr/>
        </p:nvSpPr>
        <p:spPr>
          <a:xfrm xmlns:a="http://schemas.openxmlformats.org/drawingml/2006/main">
            <a:off x="2952750" y="5467350"/>
            <a:ext cx="8382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500" b="0">
                <a:solidFill>
                  <a:srgbClr val="172033"/>
                </a:solidFill>
              </a:defRPr>
            </a:defPPr>
          </a:lstStyle>
          <a:p xmlns:a="http://schemas.openxmlformats.org/drawingml/2006/main">
            <a:pPr algn="l">
              <a:defRPr sz="1500" b="0">
                <a:solidFill>
                  <a:srgbClr val="172033"/>
                </a:solidFill>
              </a:defRPr>
            </a:pPr>
            <a:r>
              <a:rPr sz="1500" b="0">
                <a:solidFill>
                  <a:srgbClr val="172033"/>
                </a:solidFill>
              </a:rPr>
              <a:t>Mount selected files only. Exclude answer-bearing Git history and build caches.</a:t>
            </a:r>
          </a:p>
          <a:p xmlns:a="http://schemas.openxmlformats.org/drawingml/2006/main">
            <a:pPr algn="l">
              <a:defRPr sz="1500" b="0">
                <a:solidFill>
                  <a:srgbClr val="172033"/>
                </a:solidFill>
              </a:defRPr>
            </a:pPr>
            <a:r>
              <a:rPr sz="1500" b="0">
                <a:solidFill>
                  <a:srgbClr val="172033"/>
                </a:solidFill>
              </a:rPr>
              <a:t>Restrict network and external tools. Export logs and proofs for independent verification.</a:t>
            </a:r>
          </a:p>
        </p:txBody>
      </p:sp>
      <p:sp>
        <p:nvSpPr>
          <p:cNvPr id="19" name="">
            <a:extLst xmlns:a="http://schemas.openxmlformats.org/drawingml/2006/main">
              <a:ext uri="{FF2B5EF4-FFF2-40B4-BE49-F238E27FC236}">
                <a16:creationId xmlns:a16="http://schemas.microsoft.com/office/drawing/2014/main" id="{0DB2E849-6DE8-4C66-91C4-0434B5F0A447}"/>
              </a:ext>
            </a:extLst>
          </p:cNvPr>
          <p:cNvSpPr>
            <a:spLocks xmlns:a="http://schemas.openxmlformats.org/drawingml/2006/main" noGrp="1"/>
          </p:cNvSpPr>
          <p:nvPr/>
        </p:nvSpPr>
        <p:spPr>
          <a:xfrm xmlns:a="http://schemas.openxmlformats.org/drawingml/2006/main">
            <a:off x="666750" y="6429375"/>
            <a:ext cx="10858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825" b="0">
                <a:solidFill>
                  <a:srgbClr val="64748B"/>
                </a:solidFill>
              </a:defRPr>
            </a:defPPr>
          </a:lstStyle>
          <a:p xmlns:a="http://schemas.openxmlformats.org/drawingml/2006/main">
            <a:pPr algn="r">
              <a:defRPr sz="825" b="0">
                <a:solidFill>
                  <a:srgbClr val="64748B"/>
                </a:solidFill>
              </a:defRPr>
            </a:pPr>
            <a:r>
              <a:rPr sz="825" b="0">
                <a:solidFill>
                  <a:srgbClr val="64748B"/>
                </a:solidFill>
              </a:rPr>
              <a:t>Planned next step: build the common image, test access boundaries, then pilot the two conditions.</a:t>
            </a:r>
          </a:p>
        </p:txBody>
      </p:sp>
    </p:spTree>
    <p:extLst>
      <p:ext uri="{BB962C8B-B14F-4D97-AF65-F5344CB8AC3E}">
        <p14:creationId xmlns:p14="http://schemas.microsoft.com/office/powerpoint/2010/main" val="1822547517"/>
      </p:ext>
    </p:extLst>
  </p:cSld>
</p:sld>
</file>

<file path=ppt/slides/slide5.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D138DFE8-A4D5-4137-9809-D94234A044C4}"/>
              </a:ext>
            </a:extLst>
          </p:cNvPr>
          <p:cNvSpPr>
            <a:spLocks xmlns:a="http://schemas.openxmlformats.org/drawingml/2006/main" noGrp="1"/>
          </p:cNvSpPr>
          <p:nvPr/>
        </p:nvSpPr>
        <p:spPr>
          <a:xfrm xmlns:a="http://schemas.openxmlformats.org/drawingml/2006/main">
            <a:off x="666750" y="361950"/>
            <a:ext cx="4191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975" b="1">
                <a:solidFill>
                  <a:srgbClr val="2563EB"/>
                </a:solidFill>
              </a:defRPr>
            </a:defPPr>
          </a:lstStyle>
          <a:p xmlns:a="http://schemas.openxmlformats.org/drawingml/2006/main">
            <a:pPr algn="l">
              <a:defRPr sz="975" b="1">
                <a:solidFill>
                  <a:srgbClr val="2563EB"/>
                </a:solidFill>
              </a:defRPr>
            </a:pPr>
            <a:r>
              <a:rPr sz="975" b="1">
                <a:solidFill>
                  <a:srgbClr val="2563EB"/>
                </a:solidFill>
              </a:rPr>
              <a:t>05</a:t>
            </a:r>
          </a:p>
        </p:txBody>
      </p:sp>
      <p:sp>
        <p:nvSpPr>
          <p:cNvPr id="2" name="">
            <a:extLst xmlns:a="http://schemas.openxmlformats.org/drawingml/2006/main">
              <a:ext uri="{FF2B5EF4-FFF2-40B4-BE49-F238E27FC236}">
                <a16:creationId xmlns:a16="http://schemas.microsoft.com/office/drawing/2014/main" id="{F5A0529D-412D-4F90-BB8F-5C6194ACD298}"/>
              </a:ext>
            </a:extLst>
          </p:cNvPr>
          <p:cNvSpPr>
            <a:spLocks xmlns:a="http://schemas.openxmlformats.org/drawingml/2006/main" noGrp="1"/>
          </p:cNvSpPr>
          <p:nvPr/>
        </p:nvSpPr>
        <p:spPr>
          <a:xfrm xmlns:a="http://schemas.openxmlformats.org/drawingml/2006/main">
            <a:off x="666750" y="685800"/>
            <a:ext cx="1047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400" b="1">
                <a:solidFill>
                  <a:srgbClr val="0B1739"/>
                </a:solidFill>
              </a:defRPr>
            </a:defPPr>
          </a:lstStyle>
          <a:p xmlns:a="http://schemas.openxmlformats.org/drawingml/2006/main">
            <a:pPr algn="l">
              <a:defRPr sz="2400" b="1">
                <a:solidFill>
                  <a:srgbClr val="0B1739"/>
                </a:solidFill>
              </a:defRPr>
            </a:pPr>
            <a:r>
              <a:rPr sz="2400" b="1">
                <a:solidFill>
                  <a:srgbClr val="0B1739"/>
                </a:solidFill>
              </a:rPr>
              <a:t>Future questions: beyond memory reuse</a:t>
            </a:r>
          </a:p>
        </p:txBody>
      </p:sp>
      <p:sp>
        <p:nvSpPr>
          <p:cNvPr id="3" name="">
            <a:extLst xmlns:a="http://schemas.openxmlformats.org/drawingml/2006/main">
              <a:ext uri="{FF2B5EF4-FFF2-40B4-BE49-F238E27FC236}">
                <a16:creationId xmlns:a16="http://schemas.microsoft.com/office/drawing/2014/main" id="{8F8EED36-D60C-499E-A842-83D2FC81473D}"/>
              </a:ext>
            </a:extLst>
          </p:cNvPr>
          <p:cNvSpPr>
            <a:spLocks xmlns:a="http://schemas.openxmlformats.org/drawingml/2006/main" noGrp="1"/>
          </p:cNvSpPr>
          <p:nvPr/>
        </p:nvSpPr>
        <p:spPr>
          <a:xfrm xmlns:a="http://schemas.openxmlformats.org/drawingml/2006/main" flipH="0" flipV="0">
            <a:off x="666750" y="1333500"/>
            <a:ext cx="108585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4" name="">
            <a:extLst xmlns:a="http://schemas.openxmlformats.org/drawingml/2006/main">
              <a:ext uri="{FF2B5EF4-FFF2-40B4-BE49-F238E27FC236}">
                <a16:creationId xmlns:a16="http://schemas.microsoft.com/office/drawing/2014/main" id="{E496D008-F3B5-476D-935A-1EED8E2162B7}"/>
              </a:ext>
            </a:extLst>
          </p:cNvPr>
          <p:cNvSpPr>
            <a:spLocks xmlns:a="http://schemas.openxmlformats.org/drawingml/2006/main" noGrp="1"/>
          </p:cNvSpPr>
          <p:nvPr/>
        </p:nvSpPr>
        <p:spPr>
          <a:xfrm xmlns:a="http://schemas.openxmlformats.org/drawingml/2006/main">
            <a:off x="666750" y="1457325"/>
            <a:ext cx="10858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650" b="0">
                <a:solidFill>
                  <a:srgbClr val="64748B"/>
                </a:solidFill>
              </a:defRPr>
            </a:defPPr>
          </a:lstStyle>
          <a:p xmlns:a="http://schemas.openxmlformats.org/drawingml/2006/main">
            <a:pPr algn="l">
              <a:defRPr sz="1650" b="0">
                <a:solidFill>
                  <a:srgbClr val="64748B"/>
                </a:solidFill>
              </a:defRPr>
            </a:pPr>
            <a:r>
              <a:rPr sz="1650" b="0">
                <a:solidFill>
                  <a:srgbClr val="64748B"/>
                </a:solidFill>
              </a:rPr>
              <a:t>The Agent Plasticity paper finds that high reuse alone does not guarantee improvement. Gains vary by model and task.</a:t>
            </a:r>
          </a:p>
        </p:txBody>
      </p:sp>
      <p:sp>
        <p:nvSpPr>
          <p:cNvPr id="5" name="">
            <a:extLst xmlns:a="http://schemas.openxmlformats.org/drawingml/2006/main">
              <a:ext uri="{FF2B5EF4-FFF2-40B4-BE49-F238E27FC236}">
                <a16:creationId xmlns:a16="http://schemas.microsoft.com/office/drawing/2014/main" id="{A382EDCA-F16D-4517-9E11-16285B890082}"/>
              </a:ext>
            </a:extLst>
          </p:cNvPr>
          <p:cNvSpPr>
            <a:spLocks xmlns:a="http://schemas.openxmlformats.org/drawingml/2006/main" noGrp="1"/>
          </p:cNvSpPr>
          <p:nvPr/>
        </p:nvSpPr>
        <p:spPr>
          <a:xfrm xmlns:a="http://schemas.openxmlformats.org/drawingml/2006/main">
            <a:off x="666750" y="2286000"/>
            <a:ext cx="4667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00" b="1">
                <a:solidFill>
                  <a:srgbClr val="64748B"/>
                </a:solidFill>
              </a:defRPr>
            </a:defPPr>
          </a:lstStyle>
          <a:p xmlns:a="http://schemas.openxmlformats.org/drawingml/2006/main">
            <a:pPr algn="l">
              <a:defRPr sz="1500" b="1">
                <a:solidFill>
                  <a:srgbClr val="64748B"/>
                </a:solidFill>
              </a:defRPr>
            </a:pPr>
            <a:r>
              <a:rPr sz="1500" b="1">
                <a:solidFill>
                  <a:srgbClr val="64748B"/>
                </a:solidFill>
              </a:rPr>
              <a:t>Question</a:t>
            </a:r>
          </a:p>
        </p:txBody>
      </p:sp>
      <p:sp>
        <p:nvSpPr>
          <p:cNvPr id="6" name="">
            <a:extLst xmlns:a="http://schemas.openxmlformats.org/drawingml/2006/main">
              <a:ext uri="{FF2B5EF4-FFF2-40B4-BE49-F238E27FC236}">
                <a16:creationId xmlns:a16="http://schemas.microsoft.com/office/drawing/2014/main" id="{76EBA0C9-B0C7-4785-B59C-2C1292DD6A94}"/>
              </a:ext>
            </a:extLst>
          </p:cNvPr>
          <p:cNvSpPr>
            <a:spLocks xmlns:a="http://schemas.openxmlformats.org/drawingml/2006/main" noGrp="1"/>
          </p:cNvSpPr>
          <p:nvPr/>
        </p:nvSpPr>
        <p:spPr>
          <a:xfrm xmlns:a="http://schemas.openxmlformats.org/drawingml/2006/main">
            <a:off x="5905500" y="2286000"/>
            <a:ext cx="5619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00" b="1">
                <a:solidFill>
                  <a:srgbClr val="64748B"/>
                </a:solidFill>
              </a:defRPr>
            </a:defPPr>
          </a:lstStyle>
          <a:p xmlns:a="http://schemas.openxmlformats.org/drawingml/2006/main">
            <a:pPr algn="l">
              <a:defRPr sz="1500" b="1">
                <a:solidFill>
                  <a:srgbClr val="64748B"/>
                </a:solidFill>
              </a:defRPr>
            </a:pPr>
            <a:r>
              <a:rPr sz="1500" b="1">
                <a:solidFill>
                  <a:srgbClr val="64748B"/>
                </a:solidFill>
              </a:rPr>
              <a:t>Follow-up experiment</a:t>
            </a:r>
          </a:p>
        </p:txBody>
      </p:sp>
      <p:sp>
        <p:nvSpPr>
          <p:cNvPr id="7" name="">
            <a:extLst xmlns:a="http://schemas.openxmlformats.org/drawingml/2006/main">
              <a:ext uri="{FF2B5EF4-FFF2-40B4-BE49-F238E27FC236}">
                <a16:creationId xmlns:a16="http://schemas.microsoft.com/office/drawing/2014/main" id="{99820999-276F-4028-BAA1-0D43F9346162}"/>
              </a:ext>
            </a:extLst>
          </p:cNvPr>
          <p:cNvSpPr>
            <a:spLocks xmlns:a="http://schemas.openxmlformats.org/drawingml/2006/main" noGrp="1"/>
          </p:cNvSpPr>
          <p:nvPr/>
        </p:nvSpPr>
        <p:spPr>
          <a:xfrm xmlns:a="http://schemas.openxmlformats.org/drawingml/2006/main" flipH="0" flipV="0">
            <a:off x="666750" y="2705100"/>
            <a:ext cx="108585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8" name="">
            <a:extLst xmlns:a="http://schemas.openxmlformats.org/drawingml/2006/main">
              <a:ext uri="{FF2B5EF4-FFF2-40B4-BE49-F238E27FC236}">
                <a16:creationId xmlns:a16="http://schemas.microsoft.com/office/drawing/2014/main" id="{F7ECA185-6FFB-417C-A8D6-A7EE0250B198}"/>
              </a:ext>
            </a:extLst>
          </p:cNvPr>
          <p:cNvSpPr>
            <a:spLocks xmlns:a="http://schemas.openxmlformats.org/drawingml/2006/main" noGrp="1"/>
          </p:cNvSpPr>
          <p:nvPr/>
        </p:nvSpPr>
        <p:spPr>
          <a:xfrm xmlns:a="http://schemas.openxmlformats.org/drawingml/2006/main">
            <a:off x="666750" y="2876550"/>
            <a:ext cx="46672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800" b="1">
                <a:solidFill>
                  <a:srgbClr val="0B1739"/>
                </a:solidFill>
              </a:defRPr>
            </a:defPPr>
          </a:lstStyle>
          <a:p xmlns:a="http://schemas.openxmlformats.org/drawingml/2006/main">
            <a:pPr algn="l">
              <a:defRPr sz="1800" b="1">
                <a:solidFill>
                  <a:srgbClr val="0B1739"/>
                </a:solidFill>
              </a:defRPr>
            </a:pPr>
            <a:r>
              <a:rPr sz="1800" b="1">
                <a:solidFill>
                  <a:srgbClr val="0B1739"/>
                </a:solidFill>
              </a:rPr>
              <a:t>Does the agent find and apply the lesson?</a:t>
            </a:r>
          </a:p>
        </p:txBody>
      </p:sp>
      <p:sp>
        <p:nvSpPr>
          <p:cNvPr id="9" name="">
            <a:extLst xmlns:a="http://schemas.openxmlformats.org/drawingml/2006/main">
              <a:ext uri="{FF2B5EF4-FFF2-40B4-BE49-F238E27FC236}">
                <a16:creationId xmlns:a16="http://schemas.microsoft.com/office/drawing/2014/main" id="{6DCE5A70-13E6-434A-969D-04A44EEF866A}"/>
              </a:ext>
            </a:extLst>
          </p:cNvPr>
          <p:cNvSpPr>
            <a:spLocks xmlns:a="http://schemas.openxmlformats.org/drawingml/2006/main" noGrp="1"/>
          </p:cNvSpPr>
          <p:nvPr/>
        </p:nvSpPr>
        <p:spPr>
          <a:xfrm xmlns:a="http://schemas.openxmlformats.org/drawingml/2006/main">
            <a:off x="5905500" y="2876550"/>
            <a:ext cx="56197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650" b="0">
                <a:solidFill>
                  <a:srgbClr val="172033"/>
                </a:solidFill>
              </a:defRPr>
            </a:defPPr>
          </a:lstStyle>
          <a:p xmlns:a="http://schemas.openxmlformats.org/drawingml/2006/main">
            <a:pPr algn="l">
              <a:defRPr sz="1650" b="0">
                <a:solidFill>
                  <a:srgbClr val="172033"/>
                </a:solidFill>
              </a:defRPr>
            </a:pPr>
            <a:r>
              <a:rPr sz="1650" b="0">
                <a:solidFill>
                  <a:srgbClr val="172033"/>
                </a:solidFill>
              </a:rPr>
              <a:t>Compare normal retrieval with a relevant lesson supplied directly.</a:t>
            </a:r>
          </a:p>
        </p:txBody>
      </p:sp>
      <p:sp>
        <p:nvSpPr>
          <p:cNvPr id="10" name="">
            <a:extLst xmlns:a="http://schemas.openxmlformats.org/drawingml/2006/main">
              <a:ext uri="{FF2B5EF4-FFF2-40B4-BE49-F238E27FC236}">
                <a16:creationId xmlns:a16="http://schemas.microsoft.com/office/drawing/2014/main" id="{9F007089-26B2-4A11-9B82-AC5F94A7630C}"/>
              </a:ext>
            </a:extLst>
          </p:cNvPr>
          <p:cNvSpPr>
            <a:spLocks xmlns:a="http://schemas.openxmlformats.org/drawingml/2006/main" noGrp="1"/>
          </p:cNvSpPr>
          <p:nvPr/>
        </p:nvSpPr>
        <p:spPr>
          <a:xfrm xmlns:a="http://schemas.openxmlformats.org/drawingml/2006/main" flipH="0" flipV="0">
            <a:off x="666750" y="3676650"/>
            <a:ext cx="108585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11" name="">
            <a:extLst xmlns:a="http://schemas.openxmlformats.org/drawingml/2006/main">
              <a:ext uri="{FF2B5EF4-FFF2-40B4-BE49-F238E27FC236}">
                <a16:creationId xmlns:a16="http://schemas.microsoft.com/office/drawing/2014/main" id="{5434EC80-26A2-45E8-9A61-39193D1B468D}"/>
              </a:ext>
            </a:extLst>
          </p:cNvPr>
          <p:cNvSpPr>
            <a:spLocks xmlns:a="http://schemas.openxmlformats.org/drawingml/2006/main" noGrp="1"/>
          </p:cNvSpPr>
          <p:nvPr/>
        </p:nvSpPr>
        <p:spPr>
          <a:xfrm xmlns:a="http://schemas.openxmlformats.org/drawingml/2006/main">
            <a:off x="666750" y="3800475"/>
            <a:ext cx="46672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800" b="1">
                <a:solidFill>
                  <a:srgbClr val="0B1739"/>
                </a:solidFill>
              </a:defRPr>
            </a:defPPr>
          </a:lstStyle>
          <a:p xmlns:a="http://schemas.openxmlformats.org/drawingml/2006/main">
            <a:pPr algn="l">
              <a:defRPr sz="1800" b="1">
                <a:solidFill>
                  <a:srgbClr val="0B1739"/>
                </a:solidFill>
              </a:defRPr>
            </a:pPr>
            <a:r>
              <a:rPr sz="1800" b="1">
                <a:solidFill>
                  <a:srgbClr val="0B1739"/>
                </a:solidFill>
              </a:rPr>
              <a:t>Can reflection produce better lessons?</a:t>
            </a:r>
          </a:p>
        </p:txBody>
      </p:sp>
      <p:sp>
        <p:nvSpPr>
          <p:cNvPr id="12" name="">
            <a:extLst xmlns:a="http://schemas.openxmlformats.org/drawingml/2006/main">
              <a:ext uri="{FF2B5EF4-FFF2-40B4-BE49-F238E27FC236}">
                <a16:creationId xmlns:a16="http://schemas.microsoft.com/office/drawing/2014/main" id="{098BF3B4-C88E-418F-83AC-9A6E3ABC2AB1}"/>
              </a:ext>
            </a:extLst>
          </p:cNvPr>
          <p:cNvSpPr>
            <a:spLocks xmlns:a="http://schemas.openxmlformats.org/drawingml/2006/main" noGrp="1"/>
          </p:cNvSpPr>
          <p:nvPr/>
        </p:nvSpPr>
        <p:spPr>
          <a:xfrm xmlns:a="http://schemas.openxmlformats.org/drawingml/2006/main">
            <a:off x="5905500" y="3800475"/>
            <a:ext cx="56197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650" b="0">
                <a:solidFill>
                  <a:srgbClr val="172033"/>
                </a:solidFill>
              </a:defRPr>
            </a:defPPr>
          </a:lstStyle>
          <a:p xmlns:a="http://schemas.openxmlformats.org/drawingml/2006/main">
            <a:pPr algn="l">
              <a:defRPr sz="1650" b="0">
                <a:solidFill>
                  <a:srgbClr val="172033"/>
                </a:solidFill>
              </a:defRPr>
            </a:pPr>
            <a:r>
              <a:rPr sz="1650" b="0">
                <a:solidFill>
                  <a:srgbClr val="172033"/>
                </a:solidFill>
              </a:rPr>
              <a:t>Use compiler failures to revise lessons. Compare with human-curated memory.</a:t>
            </a:r>
          </a:p>
        </p:txBody>
      </p:sp>
      <p:sp>
        <p:nvSpPr>
          <p:cNvPr id="13" name="">
            <a:extLst xmlns:a="http://schemas.openxmlformats.org/drawingml/2006/main">
              <a:ext uri="{FF2B5EF4-FFF2-40B4-BE49-F238E27FC236}">
                <a16:creationId xmlns:a16="http://schemas.microsoft.com/office/drawing/2014/main" id="{F995A80C-DEE8-4699-B0C5-C9B19604B8F5}"/>
              </a:ext>
            </a:extLst>
          </p:cNvPr>
          <p:cNvSpPr>
            <a:spLocks xmlns:a="http://schemas.openxmlformats.org/drawingml/2006/main" noGrp="1"/>
          </p:cNvSpPr>
          <p:nvPr/>
        </p:nvSpPr>
        <p:spPr>
          <a:xfrm xmlns:a="http://schemas.openxmlformats.org/drawingml/2006/main" flipH="0" flipV="0">
            <a:off x="666750" y="4600575"/>
            <a:ext cx="108585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14" name="">
            <a:extLst xmlns:a="http://schemas.openxmlformats.org/drawingml/2006/main">
              <a:ext uri="{FF2B5EF4-FFF2-40B4-BE49-F238E27FC236}">
                <a16:creationId xmlns:a16="http://schemas.microsoft.com/office/drawing/2014/main" id="{74842553-5B74-47E8-A4ED-DC27A7BADE3C}"/>
              </a:ext>
            </a:extLst>
          </p:cNvPr>
          <p:cNvSpPr>
            <a:spLocks xmlns:a="http://schemas.openxmlformats.org/drawingml/2006/main" noGrp="1"/>
          </p:cNvSpPr>
          <p:nvPr/>
        </p:nvSpPr>
        <p:spPr>
          <a:xfrm xmlns:a="http://schemas.openxmlformats.org/drawingml/2006/main">
            <a:off x="666750" y="4724400"/>
            <a:ext cx="46672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800" b="1">
                <a:solidFill>
                  <a:srgbClr val="0B1739"/>
                </a:solidFill>
              </a:defRPr>
            </a:defPPr>
          </a:lstStyle>
          <a:p xmlns:a="http://schemas.openxmlformats.org/drawingml/2006/main">
            <a:pPr algn="l">
              <a:defRPr sz="1800" b="1">
                <a:solidFill>
                  <a:srgbClr val="0B1739"/>
                </a:solidFill>
              </a:defRPr>
            </a:pPr>
            <a:r>
              <a:rPr sz="1800" b="1">
                <a:solidFill>
                  <a:srgbClr val="0B1739"/>
                </a:solidFill>
              </a:rPr>
              <a:t>Do executable skills help more than notes?</a:t>
            </a:r>
          </a:p>
        </p:txBody>
      </p:sp>
      <p:sp>
        <p:nvSpPr>
          <p:cNvPr id="15" name="">
            <a:extLst xmlns:a="http://schemas.openxmlformats.org/drawingml/2006/main">
              <a:ext uri="{FF2B5EF4-FFF2-40B4-BE49-F238E27FC236}">
                <a16:creationId xmlns:a16="http://schemas.microsoft.com/office/drawing/2014/main" id="{D4CE8824-517E-430B-BC50-C4849D8EBC90}"/>
              </a:ext>
            </a:extLst>
          </p:cNvPr>
          <p:cNvSpPr>
            <a:spLocks xmlns:a="http://schemas.openxmlformats.org/drawingml/2006/main" noGrp="1"/>
          </p:cNvSpPr>
          <p:nvPr/>
        </p:nvSpPr>
        <p:spPr>
          <a:xfrm xmlns:a="http://schemas.openxmlformats.org/drawingml/2006/main">
            <a:off x="5905500" y="4724400"/>
            <a:ext cx="56197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650" b="0">
                <a:solidFill>
                  <a:srgbClr val="172033"/>
                </a:solidFill>
              </a:defRPr>
            </a:defPPr>
          </a:lstStyle>
          <a:p xmlns:a="http://schemas.openxmlformats.org/drawingml/2006/main">
            <a:pPr algn="l">
              <a:defRPr sz="1650" b="0">
                <a:solidFill>
                  <a:srgbClr val="172033"/>
                </a:solidFill>
              </a:defRPr>
            </a:pPr>
            <a:r>
              <a:rPr sz="1650" b="0">
                <a:solidFill>
                  <a:srgbClr val="172033"/>
                </a:solidFill>
              </a:rPr>
              <a:t>Compare textual advice with tested search helpers or proof procedures.</a:t>
            </a:r>
          </a:p>
        </p:txBody>
      </p:sp>
      <p:sp>
        <p:nvSpPr>
          <p:cNvPr id="16" name="">
            <a:extLst xmlns:a="http://schemas.openxmlformats.org/drawingml/2006/main">
              <a:ext uri="{FF2B5EF4-FFF2-40B4-BE49-F238E27FC236}">
                <a16:creationId xmlns:a16="http://schemas.microsoft.com/office/drawing/2014/main" id="{CFE322D5-6BDC-466A-A717-71FF01422BEC}"/>
              </a:ext>
            </a:extLst>
          </p:cNvPr>
          <p:cNvSpPr>
            <a:spLocks xmlns:a="http://schemas.openxmlformats.org/drawingml/2006/main" noGrp="1"/>
          </p:cNvSpPr>
          <p:nvPr/>
        </p:nvSpPr>
        <p:spPr>
          <a:xfrm xmlns:a="http://schemas.openxmlformats.org/drawingml/2006/main">
            <a:off x="666750" y="5772150"/>
            <a:ext cx="10858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725" b="1">
                <a:solidFill>
                  <a:srgbClr val="2563EB"/>
                </a:solidFill>
              </a:defRPr>
            </a:defPPr>
          </a:lstStyle>
          <a:p xmlns:a="http://schemas.openxmlformats.org/drawingml/2006/main">
            <a:pPr algn="l">
              <a:defRPr sz="1725" b="1">
                <a:solidFill>
                  <a:srgbClr val="2563EB"/>
                </a:solidFill>
              </a:defRPr>
            </a:pPr>
            <a:r>
              <a:rPr sz="1725" b="1">
                <a:solidFill>
                  <a:srgbClr val="2563EB"/>
                </a:solidFill>
              </a:rPr>
              <a:t>First milestone: reliable memory access and a fair baseline comparison</a:t>
            </a:r>
          </a:p>
        </p:txBody>
      </p:sp>
      <p:sp>
        <p:nvSpPr>
          <p:cNvPr id="17" name="">
            <a:extLst xmlns:a="http://schemas.openxmlformats.org/drawingml/2006/main">
              <a:ext uri="{FF2B5EF4-FFF2-40B4-BE49-F238E27FC236}">
                <a16:creationId xmlns:a16="http://schemas.microsoft.com/office/drawing/2014/main" id="{083B5CAE-4DB5-4729-A808-B92F73E9F3B4}"/>
              </a:ext>
            </a:extLst>
          </p:cNvPr>
          <p:cNvSpPr>
            <a:spLocks xmlns:a="http://schemas.openxmlformats.org/drawingml/2006/main" noGrp="1"/>
          </p:cNvSpPr>
          <p:nvPr/>
        </p:nvSpPr>
        <p:spPr>
          <a:xfrm xmlns:a="http://schemas.openxmlformats.org/drawingml/2006/main">
            <a:off x="666750" y="6429375"/>
            <a:ext cx="10858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825" b="0">
                <a:solidFill>
                  <a:srgbClr val="64748B"/>
                </a:solidFill>
              </a:defRPr>
            </a:defPPr>
          </a:lstStyle>
          <a:p xmlns:a="http://schemas.openxmlformats.org/drawingml/2006/main">
            <a:pPr algn="r">
              <a:defRPr sz="825" b="0">
                <a:solidFill>
                  <a:srgbClr val="64748B"/>
                </a:solidFill>
              </a:defRPr>
            </a:pPr>
            <a:r>
              <a:rPr sz="825" b="0">
                <a:solidFill>
                  <a:srgbClr val="64748B"/>
                </a:solidFill>
              </a:rPr>
              <a:t>Evaluate unseen proofs and include preparation cost. Post-training remains a later question.</a:t>
            </a:r>
          </a:p>
        </p:txBody>
      </p:sp>
    </p:spTree>
    <p:extLst>
      <p:ext uri="{BB962C8B-B14F-4D97-AF65-F5344CB8AC3E}">
        <p14:creationId xmlns:p14="http://schemas.microsoft.com/office/powerpoint/2010/main" val="153510734"/>
      </p:ext>
    </p:extLst>
  </p:cSld>
</p:sld>
</file>

<file path=ppt/slides/slide6.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A7BE1628-75B1-47C7-BC30-9F4B344E35E0}"/>
              </a:ext>
            </a:extLst>
          </p:cNvPr>
          <p:cNvSpPr>
            <a:spLocks xmlns:a="http://schemas.openxmlformats.org/drawingml/2006/main" noGrp="1"/>
          </p:cNvSpPr>
          <p:nvPr/>
        </p:nvSpPr>
        <p:spPr>
          <a:xfrm xmlns:a="http://schemas.openxmlformats.org/drawingml/2006/main">
            <a:off x="666750" y="361950"/>
            <a:ext cx="4191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975" b="1">
                <a:solidFill>
                  <a:srgbClr val="2563EB"/>
                </a:solidFill>
              </a:defRPr>
            </a:defPPr>
          </a:lstStyle>
          <a:p xmlns:a="http://schemas.openxmlformats.org/drawingml/2006/main">
            <a:pPr algn="l">
              <a:defRPr sz="975" b="1">
                <a:solidFill>
                  <a:srgbClr val="2563EB"/>
                </a:solidFill>
              </a:defRPr>
            </a:pPr>
            <a:r>
              <a:rPr sz="975" b="1">
                <a:solidFill>
                  <a:srgbClr val="2563EB"/>
                </a:solidFill>
              </a:rPr>
              <a:t>06</a:t>
            </a:r>
          </a:p>
        </p:txBody>
      </p:sp>
      <p:sp>
        <p:nvSpPr>
          <p:cNvPr id="2" name="">
            <a:extLst xmlns:a="http://schemas.openxmlformats.org/drawingml/2006/main">
              <a:ext uri="{FF2B5EF4-FFF2-40B4-BE49-F238E27FC236}">
                <a16:creationId xmlns:a16="http://schemas.microsoft.com/office/drawing/2014/main" id="{E5DDDEBD-4498-447F-AE5A-8CE3CD112093}"/>
              </a:ext>
            </a:extLst>
          </p:cNvPr>
          <p:cNvSpPr>
            <a:spLocks xmlns:a="http://schemas.openxmlformats.org/drawingml/2006/main" noGrp="1"/>
          </p:cNvSpPr>
          <p:nvPr/>
        </p:nvSpPr>
        <p:spPr>
          <a:xfrm xmlns:a="http://schemas.openxmlformats.org/drawingml/2006/main">
            <a:off x="666750" y="685800"/>
            <a:ext cx="1047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400" b="1">
                <a:solidFill>
                  <a:srgbClr val="0B1739"/>
                </a:solidFill>
              </a:defRPr>
            </a:defPPr>
          </a:lstStyle>
          <a:p xmlns:a="http://schemas.openxmlformats.org/drawingml/2006/main">
            <a:pPr algn="l">
              <a:defRPr sz="2400" b="1">
                <a:solidFill>
                  <a:srgbClr val="0B1739"/>
                </a:solidFill>
              </a:defRPr>
            </a:pPr>
            <a:r>
              <a:rPr sz="2400" b="1">
                <a:solidFill>
                  <a:srgbClr val="0B1739"/>
                </a:solidFill>
              </a:rPr>
              <a:t>Proposed architecture: proof runs and verified memory</a:t>
            </a:r>
          </a:p>
        </p:txBody>
      </p:sp>
      <p:sp>
        <p:nvSpPr>
          <p:cNvPr id="3" name="">
            <a:extLst xmlns:a="http://schemas.openxmlformats.org/drawingml/2006/main">
              <a:ext uri="{FF2B5EF4-FFF2-40B4-BE49-F238E27FC236}">
                <a16:creationId xmlns:a16="http://schemas.microsoft.com/office/drawing/2014/main" id="{C18CA572-8EE0-4645-BF41-C06932F68C8B}"/>
              </a:ext>
            </a:extLst>
          </p:cNvPr>
          <p:cNvSpPr>
            <a:spLocks xmlns:a="http://schemas.openxmlformats.org/drawingml/2006/main" noGrp="1"/>
          </p:cNvSpPr>
          <p:nvPr/>
        </p:nvSpPr>
        <p:spPr>
          <a:xfrm xmlns:a="http://schemas.openxmlformats.org/drawingml/2006/main" flipH="0" flipV="0">
            <a:off x="666750" y="1333500"/>
            <a:ext cx="108585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4" name="">
            <a:extLst xmlns:a="http://schemas.openxmlformats.org/drawingml/2006/main">
              <a:ext uri="{FF2B5EF4-FFF2-40B4-BE49-F238E27FC236}">
                <a16:creationId xmlns:a16="http://schemas.microsoft.com/office/drawing/2014/main" id="{C3932900-38E4-45BA-AEBD-718E55634529}"/>
              </a:ext>
            </a:extLst>
          </p:cNvPr>
          <p:cNvSpPr>
            <a:spLocks xmlns:a="http://schemas.openxmlformats.org/drawingml/2006/main" noGrp="1"/>
          </p:cNvSpPr>
          <p:nvPr/>
        </p:nvSpPr>
        <p:spPr>
          <a:xfrm xmlns:a="http://schemas.openxmlformats.org/drawingml/2006/main">
            <a:off x="666750" y="1457325"/>
            <a:ext cx="10858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00" b="0">
                <a:solidFill>
                  <a:srgbClr val="64748B"/>
                </a:solidFill>
              </a:defRPr>
            </a:defPPr>
          </a:lstStyle>
          <a:p xmlns:a="http://schemas.openxmlformats.org/drawingml/2006/main">
            <a:pPr algn="l">
              <a:defRPr sz="1500" b="0">
                <a:solidFill>
                  <a:srgbClr val="64748B"/>
                </a:solidFill>
              </a:defRPr>
            </a:pPr>
            <a:r>
              <a:rPr sz="1500" b="0">
                <a:solidFill>
                  <a:srgbClr val="64748B"/>
                </a:solidFill>
              </a:rPr>
              <a:t>A deterministic orchestration script prepares runs and collects evidence. Human review controls the theorem and lessons.</a:t>
            </a:r>
          </a:p>
        </p:txBody>
      </p:sp>
      <p:sp>
        <p:nvSpPr>
          <p:cNvPr id="5" name="">
            <a:extLst xmlns:a="http://schemas.openxmlformats.org/drawingml/2006/main">
              <a:ext uri="{FF2B5EF4-FFF2-40B4-BE49-F238E27FC236}">
                <a16:creationId xmlns:a16="http://schemas.microsoft.com/office/drawing/2014/main" id="{60CD9800-947C-4742-B6CB-E77EF9369DFE}"/>
              </a:ext>
            </a:extLst>
          </p:cNvPr>
          <p:cNvSpPr>
            <a:spLocks xmlns:a="http://schemas.openxmlformats.org/drawingml/2006/main" noGrp="1"/>
          </p:cNvSpPr>
          <p:nvPr/>
        </p:nvSpPr>
        <p:spPr>
          <a:xfrm xmlns:a="http://schemas.openxmlformats.org/drawingml/2006/main" flipH="0" flipV="0">
            <a:off x="2571750" y="3190875"/>
            <a:ext cx="333375" cy="0"/>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6" name="">
            <a:extLst xmlns:a="http://schemas.openxmlformats.org/drawingml/2006/main">
              <a:ext uri="{FF2B5EF4-FFF2-40B4-BE49-F238E27FC236}">
                <a16:creationId xmlns:a16="http://schemas.microsoft.com/office/drawing/2014/main" id="{8A571043-A698-4EB2-B03B-0C97F2E0ECF1}"/>
              </a:ext>
            </a:extLst>
          </p:cNvPr>
          <p:cNvSpPr>
            <a:spLocks xmlns:a="http://schemas.openxmlformats.org/drawingml/2006/main" noGrp="1"/>
          </p:cNvSpPr>
          <p:nvPr/>
        </p:nvSpPr>
        <p:spPr>
          <a:xfrm xmlns:a="http://schemas.openxmlformats.org/drawingml/2006/main">
            <a:off x="666750" y="2476500"/>
            <a:ext cx="1905000" cy="1809750"/>
          </a:xfrm>
          <a:prstGeom xmlns:a="http://schemas.openxmlformats.org/drawingml/2006/main" prst="roundRect">
            <a:avLst>
              <a:gd name="adj" fmla="val 4211"/>
            </a:avLst>
          </a:prstGeom>
          <a:solidFill xmlns:a="http://schemas.openxmlformats.org/drawingml/2006/main">
            <a:srgbClr val="FFFFFF"/>
          </a:solidFill>
          <a:ln xmlns:a="http://schemas.openxmlformats.org/drawingml/2006/main" w="9525">
            <a:solidFill>
              <a:srgbClr val="CBD5E1"/>
            </a:solidFill>
            <a:prstDash val="solid"/>
          </a:ln>
        </p:spPr>
      </p:sp>
      <p:sp>
        <p:nvSpPr>
          <p:cNvPr id="7" name="">
            <a:extLst xmlns:a="http://schemas.openxmlformats.org/drawingml/2006/main">
              <a:ext uri="{FF2B5EF4-FFF2-40B4-BE49-F238E27FC236}">
                <a16:creationId xmlns:a16="http://schemas.microsoft.com/office/drawing/2014/main" id="{EAD50154-0A7C-49D1-B3F4-2516BA3C5151}"/>
              </a:ext>
            </a:extLst>
          </p:cNvPr>
          <p:cNvSpPr>
            <a:spLocks xmlns:a="http://schemas.openxmlformats.org/drawingml/2006/main" noGrp="1"/>
          </p:cNvSpPr>
          <p:nvPr/>
        </p:nvSpPr>
        <p:spPr>
          <a:xfrm xmlns:a="http://schemas.openxmlformats.org/drawingml/2006/main">
            <a:off x="809625" y="2619375"/>
            <a:ext cx="1619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800" b="1">
                <a:solidFill>
                  <a:srgbClr val="0B1739"/>
                </a:solidFill>
              </a:defRPr>
            </a:defPPr>
          </a:lstStyle>
          <a:p xmlns:a="http://schemas.openxmlformats.org/drawingml/2006/main">
            <a:pPr algn="l">
              <a:defRPr sz="1800" b="1">
                <a:solidFill>
                  <a:srgbClr val="0B1739"/>
                </a:solidFill>
              </a:defRPr>
            </a:pPr>
            <a:r>
              <a:rPr sz="1800" b="1">
                <a:solidFill>
                  <a:srgbClr val="0B1739"/>
                </a:solidFill>
              </a:rPr>
              <a:t>Monorepo</a:t>
            </a:r>
          </a:p>
        </p:txBody>
      </p:sp>
      <p:sp>
        <p:nvSpPr>
          <p:cNvPr id="8" name="">
            <a:extLst xmlns:a="http://schemas.openxmlformats.org/drawingml/2006/main">
              <a:ext uri="{FF2B5EF4-FFF2-40B4-BE49-F238E27FC236}">
                <a16:creationId xmlns:a16="http://schemas.microsoft.com/office/drawing/2014/main" id="{D81E21C5-E108-4446-8D3B-75133A6E754C}"/>
              </a:ext>
            </a:extLst>
          </p:cNvPr>
          <p:cNvSpPr>
            <a:spLocks xmlns:a="http://schemas.openxmlformats.org/drawingml/2006/main" noGrp="1"/>
          </p:cNvSpPr>
          <p:nvPr/>
        </p:nvSpPr>
        <p:spPr>
          <a:xfrm xmlns:a="http://schemas.openxmlformats.org/drawingml/2006/main">
            <a:off x="809625" y="3143250"/>
            <a:ext cx="16192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500" b="0">
                <a:solidFill>
                  <a:srgbClr val="172033"/>
                </a:solidFill>
              </a:defRPr>
            </a:defPPr>
          </a:lstStyle>
          <a:p xmlns:a="http://schemas.openxmlformats.org/drawingml/2006/main">
            <a:pPr algn="l">
              <a:defRPr sz="1500" b="0">
                <a:solidFill>
                  <a:srgbClr val="172033"/>
                </a:solidFill>
              </a:defRPr>
            </a:pPr>
            <a:r>
              <a:rPr sz="1500" b="0">
                <a:solidFill>
                  <a:srgbClr val="172033"/>
                </a:solidFill>
              </a:rPr>
              <a:t>Task + tests</a:t>
            </a:r>
          </a:p>
          <a:p xmlns:a="http://schemas.openxmlformats.org/drawingml/2006/main">
            <a:pPr algn="l">
              <a:defRPr sz="1500" b="0">
                <a:solidFill>
                  <a:srgbClr val="172033"/>
                </a:solidFill>
              </a:defRPr>
            </a:pPr>
            <a:r>
              <a:rPr sz="1500" b="0">
                <a:solidFill>
                  <a:srgbClr val="172033"/>
                </a:solidFill>
              </a:rPr>
              <a:t>Starting code</a:t>
            </a:r>
          </a:p>
          <a:p xmlns:a="http://schemas.openxmlformats.org/drawingml/2006/main">
            <a:pPr algn="l">
              <a:defRPr sz="1500" b="0">
                <a:solidFill>
                  <a:srgbClr val="172033"/>
                </a:solidFill>
              </a:defRPr>
            </a:pPr>
            <a:r>
              <a:rPr sz="1500" b="0">
                <a:solidFill>
                  <a:srgbClr val="172033"/>
                </a:solidFill>
              </a:rPr>
              <a:t>Frozen memory</a:t>
            </a:r>
          </a:p>
        </p:txBody>
      </p:sp>
      <p:sp>
        <p:nvSpPr>
          <p:cNvPr id="9" name="">
            <a:extLst xmlns:a="http://schemas.openxmlformats.org/drawingml/2006/main">
              <a:ext uri="{FF2B5EF4-FFF2-40B4-BE49-F238E27FC236}">
                <a16:creationId xmlns:a16="http://schemas.microsoft.com/office/drawing/2014/main" id="{EA977E77-ED98-4CEE-A5D6-52DA412BC31B}"/>
              </a:ext>
            </a:extLst>
          </p:cNvPr>
          <p:cNvSpPr>
            <a:spLocks xmlns:a="http://schemas.openxmlformats.org/drawingml/2006/main" noGrp="1"/>
          </p:cNvSpPr>
          <p:nvPr/>
        </p:nvSpPr>
        <p:spPr>
          <a:xfrm xmlns:a="http://schemas.openxmlformats.org/drawingml/2006/main" flipH="0" flipV="0">
            <a:off x="4810125" y="3190875"/>
            <a:ext cx="333375" cy="0"/>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10" name="">
            <a:extLst xmlns:a="http://schemas.openxmlformats.org/drawingml/2006/main">
              <a:ext uri="{FF2B5EF4-FFF2-40B4-BE49-F238E27FC236}">
                <a16:creationId xmlns:a16="http://schemas.microsoft.com/office/drawing/2014/main" id="{4E1FC7C1-DB9E-4D96-ABEF-9BB5AEC9BF90}"/>
              </a:ext>
            </a:extLst>
          </p:cNvPr>
          <p:cNvSpPr>
            <a:spLocks xmlns:a="http://schemas.openxmlformats.org/drawingml/2006/main" noGrp="1"/>
          </p:cNvSpPr>
          <p:nvPr/>
        </p:nvSpPr>
        <p:spPr>
          <a:xfrm xmlns:a="http://schemas.openxmlformats.org/drawingml/2006/main">
            <a:off x="2905125" y="2476500"/>
            <a:ext cx="1905000" cy="1809750"/>
          </a:xfrm>
          <a:prstGeom xmlns:a="http://schemas.openxmlformats.org/drawingml/2006/main" prst="roundRect">
            <a:avLst>
              <a:gd name="adj" fmla="val 4211"/>
            </a:avLst>
          </a:prstGeom>
          <a:solidFill xmlns:a="http://schemas.openxmlformats.org/drawingml/2006/main">
            <a:srgbClr val="FFFFFF"/>
          </a:solidFill>
          <a:ln xmlns:a="http://schemas.openxmlformats.org/drawingml/2006/main" w="9525">
            <a:solidFill>
              <a:srgbClr val="CBD5E1"/>
            </a:solidFill>
            <a:prstDash val="solid"/>
          </a:ln>
        </p:spPr>
      </p:sp>
      <p:sp>
        <p:nvSpPr>
          <p:cNvPr id="11" name="">
            <a:extLst xmlns:a="http://schemas.openxmlformats.org/drawingml/2006/main">
              <a:ext uri="{FF2B5EF4-FFF2-40B4-BE49-F238E27FC236}">
                <a16:creationId xmlns:a16="http://schemas.microsoft.com/office/drawing/2014/main" id="{10E5BFC9-BD3A-45F0-AC17-820FE23B051C}"/>
              </a:ext>
            </a:extLst>
          </p:cNvPr>
          <p:cNvSpPr>
            <a:spLocks xmlns:a="http://schemas.openxmlformats.org/drawingml/2006/main" noGrp="1"/>
          </p:cNvSpPr>
          <p:nvPr/>
        </p:nvSpPr>
        <p:spPr>
          <a:xfrm xmlns:a="http://schemas.openxmlformats.org/drawingml/2006/main">
            <a:off x="3048000" y="2619375"/>
            <a:ext cx="1619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800" b="1">
                <a:solidFill>
                  <a:srgbClr val="0B1739"/>
                </a:solidFill>
              </a:defRPr>
            </a:defPPr>
          </a:lstStyle>
          <a:p xmlns:a="http://schemas.openxmlformats.org/drawingml/2006/main">
            <a:pPr algn="l">
              <a:defRPr sz="1800" b="1">
                <a:solidFill>
                  <a:srgbClr val="0B1739"/>
                </a:solidFill>
              </a:defRPr>
            </a:pPr>
            <a:r>
              <a:rPr sz="1800" b="1">
                <a:solidFill>
                  <a:srgbClr val="0B1739"/>
                </a:solidFill>
              </a:rPr>
              <a:t>Run script</a:t>
            </a:r>
          </a:p>
        </p:txBody>
      </p:sp>
      <p:sp>
        <p:nvSpPr>
          <p:cNvPr id="12" name="">
            <a:extLst xmlns:a="http://schemas.openxmlformats.org/drawingml/2006/main">
              <a:ext uri="{FF2B5EF4-FFF2-40B4-BE49-F238E27FC236}">
                <a16:creationId xmlns:a16="http://schemas.microsoft.com/office/drawing/2014/main" id="{EDFD6129-A8CD-40F9-8EA2-AA8473F3E0AC}"/>
              </a:ext>
            </a:extLst>
          </p:cNvPr>
          <p:cNvSpPr>
            <a:spLocks xmlns:a="http://schemas.openxmlformats.org/drawingml/2006/main" noGrp="1"/>
          </p:cNvSpPr>
          <p:nvPr/>
        </p:nvSpPr>
        <p:spPr>
          <a:xfrm xmlns:a="http://schemas.openxmlformats.org/drawingml/2006/main">
            <a:off x="3048000" y="3143250"/>
            <a:ext cx="16192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500" b="0">
                <a:solidFill>
                  <a:srgbClr val="172033"/>
                </a:solidFill>
              </a:defRPr>
            </a:defPPr>
          </a:lstStyle>
          <a:p xmlns:a="http://schemas.openxmlformats.org/drawingml/2006/main">
            <a:pPr algn="l">
              <a:defRPr sz="1500" b="0">
                <a:solidFill>
                  <a:srgbClr val="172033"/>
                </a:solidFill>
              </a:defRPr>
            </a:pPr>
            <a:r>
              <a:rPr sz="1500" b="0">
                <a:solidFill>
                  <a:srgbClr val="172033"/>
                </a:solidFill>
              </a:rPr>
              <a:t>Prepare files</a:t>
            </a:r>
          </a:p>
          <a:p xmlns:a="http://schemas.openxmlformats.org/drawingml/2006/main">
            <a:pPr algn="l">
              <a:defRPr sz="1500" b="0">
                <a:solidFill>
                  <a:srgbClr val="172033"/>
                </a:solidFill>
              </a:defRPr>
            </a:pPr>
            <a:r>
              <a:rPr sz="1500" b="0">
                <a:solidFill>
                  <a:srgbClr val="172033"/>
                </a:solidFill>
              </a:rPr>
              <a:t>Record settings</a:t>
            </a:r>
          </a:p>
          <a:p xmlns:a="http://schemas.openxmlformats.org/drawingml/2006/main">
            <a:pPr algn="l">
              <a:defRPr sz="1500" b="0">
                <a:solidFill>
                  <a:srgbClr val="172033"/>
                </a:solidFill>
              </a:defRPr>
            </a:pPr>
            <a:r>
              <a:rPr sz="1500" b="0">
                <a:solidFill>
                  <a:srgbClr val="172033"/>
                </a:solidFill>
              </a:rPr>
              <a:t>Launch containers</a:t>
            </a:r>
          </a:p>
        </p:txBody>
      </p:sp>
      <p:sp>
        <p:nvSpPr>
          <p:cNvPr id="13" name="">
            <a:extLst xmlns:a="http://schemas.openxmlformats.org/drawingml/2006/main">
              <a:ext uri="{FF2B5EF4-FFF2-40B4-BE49-F238E27FC236}">
                <a16:creationId xmlns:a16="http://schemas.microsoft.com/office/drawing/2014/main" id="{423346D4-AA2A-4B2A-95D8-867A889FA740}"/>
              </a:ext>
            </a:extLst>
          </p:cNvPr>
          <p:cNvSpPr>
            <a:spLocks xmlns:a="http://schemas.openxmlformats.org/drawingml/2006/main" noGrp="1"/>
          </p:cNvSpPr>
          <p:nvPr/>
        </p:nvSpPr>
        <p:spPr>
          <a:xfrm xmlns:a="http://schemas.openxmlformats.org/drawingml/2006/main" flipH="0" flipV="0">
            <a:off x="7048500" y="3190875"/>
            <a:ext cx="333375" cy="0"/>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14" name="">
            <a:extLst xmlns:a="http://schemas.openxmlformats.org/drawingml/2006/main">
              <a:ext uri="{FF2B5EF4-FFF2-40B4-BE49-F238E27FC236}">
                <a16:creationId xmlns:a16="http://schemas.microsoft.com/office/drawing/2014/main" id="{6EAC195C-EAB4-459A-A0E8-0013D5690496}"/>
              </a:ext>
            </a:extLst>
          </p:cNvPr>
          <p:cNvSpPr>
            <a:spLocks xmlns:a="http://schemas.openxmlformats.org/drawingml/2006/main" noGrp="1"/>
          </p:cNvSpPr>
          <p:nvPr/>
        </p:nvSpPr>
        <p:spPr>
          <a:xfrm xmlns:a="http://schemas.openxmlformats.org/drawingml/2006/main">
            <a:off x="5143500" y="2476500"/>
            <a:ext cx="1905000" cy="1809750"/>
          </a:xfrm>
          <a:prstGeom xmlns:a="http://schemas.openxmlformats.org/drawingml/2006/main" prst="roundRect">
            <a:avLst>
              <a:gd name="adj" fmla="val 4211"/>
            </a:avLst>
          </a:prstGeom>
          <a:solidFill xmlns:a="http://schemas.openxmlformats.org/drawingml/2006/main">
            <a:srgbClr val="FFFFFF"/>
          </a:solidFill>
          <a:ln xmlns:a="http://schemas.openxmlformats.org/drawingml/2006/main" w="9525">
            <a:solidFill>
              <a:srgbClr val="CBD5E1"/>
            </a:solidFill>
            <a:prstDash val="solid"/>
          </a:ln>
        </p:spPr>
      </p:sp>
      <p:sp>
        <p:nvSpPr>
          <p:cNvPr id="15" name="">
            <a:extLst xmlns:a="http://schemas.openxmlformats.org/drawingml/2006/main">
              <a:ext uri="{FF2B5EF4-FFF2-40B4-BE49-F238E27FC236}">
                <a16:creationId xmlns:a16="http://schemas.microsoft.com/office/drawing/2014/main" id="{8FB7A813-DACA-417F-B6D1-B4D30633ECCC}"/>
              </a:ext>
            </a:extLst>
          </p:cNvPr>
          <p:cNvSpPr>
            <a:spLocks xmlns:a="http://schemas.openxmlformats.org/drawingml/2006/main" noGrp="1"/>
          </p:cNvSpPr>
          <p:nvPr/>
        </p:nvSpPr>
        <p:spPr>
          <a:xfrm xmlns:a="http://schemas.openxmlformats.org/drawingml/2006/main">
            <a:off x="5286375" y="2619375"/>
            <a:ext cx="1619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800" b="1">
                <a:solidFill>
                  <a:srgbClr val="0B1739"/>
                </a:solidFill>
              </a:defRPr>
            </a:defPPr>
          </a:lstStyle>
          <a:p xmlns:a="http://schemas.openxmlformats.org/drawingml/2006/main">
            <a:pPr algn="l">
              <a:defRPr sz="1800" b="1">
                <a:solidFill>
                  <a:srgbClr val="0B1739"/>
                </a:solidFill>
              </a:defRPr>
            </a:pPr>
            <a:r>
              <a:rPr sz="1800" b="1">
                <a:solidFill>
                  <a:srgbClr val="0B1739"/>
                </a:solidFill>
              </a:rPr>
              <a:t>Agent runs</a:t>
            </a:r>
          </a:p>
        </p:txBody>
      </p:sp>
      <p:sp>
        <p:nvSpPr>
          <p:cNvPr id="16" name="">
            <a:extLst xmlns:a="http://schemas.openxmlformats.org/drawingml/2006/main">
              <a:ext uri="{FF2B5EF4-FFF2-40B4-BE49-F238E27FC236}">
                <a16:creationId xmlns:a16="http://schemas.microsoft.com/office/drawing/2014/main" id="{D6B7957D-947C-4FA6-B89D-16F18FEBE054}"/>
              </a:ext>
            </a:extLst>
          </p:cNvPr>
          <p:cNvSpPr>
            <a:spLocks xmlns:a="http://schemas.openxmlformats.org/drawingml/2006/main" noGrp="1"/>
          </p:cNvSpPr>
          <p:nvPr/>
        </p:nvSpPr>
        <p:spPr>
          <a:xfrm xmlns:a="http://schemas.openxmlformats.org/drawingml/2006/main">
            <a:off x="5286375" y="3143250"/>
            <a:ext cx="16192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500" b="0">
                <a:solidFill>
                  <a:srgbClr val="172033"/>
                </a:solidFill>
              </a:defRPr>
            </a:defPPr>
          </a:lstStyle>
          <a:p xmlns:a="http://schemas.openxmlformats.org/drawingml/2006/main">
            <a:pPr algn="l">
              <a:defRPr sz="1500" b="0">
                <a:solidFill>
                  <a:srgbClr val="172033"/>
                </a:solidFill>
              </a:defRPr>
            </a:pPr>
            <a:r>
              <a:rPr sz="1500" b="0">
                <a:solidFill>
                  <a:srgbClr val="172033"/>
                </a:solidFill>
              </a:rPr>
              <a:t>Stateless</a:t>
            </a:r>
          </a:p>
          <a:p xmlns:a="http://schemas.openxmlformats.org/drawingml/2006/main">
            <a:pPr algn="l">
              <a:defRPr sz="1500" b="0">
                <a:solidFill>
                  <a:srgbClr val="172033"/>
                </a:solidFill>
              </a:defRPr>
            </a:pPr>
            <a:r>
              <a:rPr sz="1500" b="0">
                <a:solidFill>
                  <a:srgbClr val="172033"/>
                </a:solidFill>
              </a:rPr>
              <a:t>Retrieved</a:t>
            </a:r>
          </a:p>
          <a:p xmlns:a="http://schemas.openxmlformats.org/drawingml/2006/main">
            <a:pPr algn="l">
              <a:defRPr sz="1500" b="0">
                <a:solidFill>
                  <a:srgbClr val="172033"/>
                </a:solidFill>
              </a:defRPr>
            </a:pPr>
            <a:r>
              <a:rPr sz="1500" b="0">
                <a:solidFill>
                  <a:srgbClr val="172033"/>
                </a:solidFill>
              </a:rPr>
              <a:t>Compile and repair</a:t>
            </a:r>
          </a:p>
        </p:txBody>
      </p:sp>
      <p:sp>
        <p:nvSpPr>
          <p:cNvPr id="17" name="">
            <a:extLst xmlns:a="http://schemas.openxmlformats.org/drawingml/2006/main">
              <a:ext uri="{FF2B5EF4-FFF2-40B4-BE49-F238E27FC236}">
                <a16:creationId xmlns:a16="http://schemas.microsoft.com/office/drawing/2014/main" id="{902DAD1D-407A-4D17-9160-F3C37375CCCB}"/>
              </a:ext>
            </a:extLst>
          </p:cNvPr>
          <p:cNvSpPr>
            <a:spLocks xmlns:a="http://schemas.openxmlformats.org/drawingml/2006/main" noGrp="1"/>
          </p:cNvSpPr>
          <p:nvPr/>
        </p:nvSpPr>
        <p:spPr>
          <a:xfrm xmlns:a="http://schemas.openxmlformats.org/drawingml/2006/main" flipH="0" flipV="0">
            <a:off x="9286875" y="3190875"/>
            <a:ext cx="333375" cy="0"/>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18" name="">
            <a:extLst xmlns:a="http://schemas.openxmlformats.org/drawingml/2006/main">
              <a:ext uri="{FF2B5EF4-FFF2-40B4-BE49-F238E27FC236}">
                <a16:creationId xmlns:a16="http://schemas.microsoft.com/office/drawing/2014/main" id="{5B44197B-E592-46AA-98DB-6F7F2DE46FC8}"/>
              </a:ext>
            </a:extLst>
          </p:cNvPr>
          <p:cNvSpPr>
            <a:spLocks xmlns:a="http://schemas.openxmlformats.org/drawingml/2006/main" noGrp="1"/>
          </p:cNvSpPr>
          <p:nvPr/>
        </p:nvSpPr>
        <p:spPr>
          <a:xfrm xmlns:a="http://schemas.openxmlformats.org/drawingml/2006/main">
            <a:off x="7381875" y="2476500"/>
            <a:ext cx="1905000" cy="1809750"/>
          </a:xfrm>
          <a:prstGeom xmlns:a="http://schemas.openxmlformats.org/drawingml/2006/main" prst="roundRect">
            <a:avLst>
              <a:gd name="adj" fmla="val 4211"/>
            </a:avLst>
          </a:prstGeom>
          <a:solidFill xmlns:a="http://schemas.openxmlformats.org/drawingml/2006/main">
            <a:srgbClr val="DCFCE7"/>
          </a:solidFill>
          <a:ln xmlns:a="http://schemas.openxmlformats.org/drawingml/2006/main" w="9525">
            <a:solidFill>
              <a:srgbClr val="16A34A"/>
            </a:solidFill>
            <a:prstDash val="solid"/>
          </a:ln>
        </p:spPr>
      </p:sp>
      <p:sp>
        <p:nvSpPr>
          <p:cNvPr id="19" name="">
            <a:extLst xmlns:a="http://schemas.openxmlformats.org/drawingml/2006/main">
              <a:ext uri="{FF2B5EF4-FFF2-40B4-BE49-F238E27FC236}">
                <a16:creationId xmlns:a16="http://schemas.microsoft.com/office/drawing/2014/main" id="{67F02CBE-D22E-4505-B5B9-1000F90EE98F}"/>
              </a:ext>
            </a:extLst>
          </p:cNvPr>
          <p:cNvSpPr>
            <a:spLocks xmlns:a="http://schemas.openxmlformats.org/drawingml/2006/main" noGrp="1"/>
          </p:cNvSpPr>
          <p:nvPr/>
        </p:nvSpPr>
        <p:spPr>
          <a:xfrm xmlns:a="http://schemas.openxmlformats.org/drawingml/2006/main">
            <a:off x="7524750" y="2619375"/>
            <a:ext cx="1619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800" b="1">
                <a:solidFill>
                  <a:srgbClr val="0B1739"/>
                </a:solidFill>
              </a:defRPr>
            </a:defPPr>
          </a:lstStyle>
          <a:p xmlns:a="http://schemas.openxmlformats.org/drawingml/2006/main">
            <a:pPr algn="l">
              <a:defRPr sz="1800" b="1">
                <a:solidFill>
                  <a:srgbClr val="0B1739"/>
                </a:solidFill>
              </a:defRPr>
            </a:pPr>
            <a:r>
              <a:rPr sz="1800" b="1">
                <a:solidFill>
                  <a:srgbClr val="0B1739"/>
                </a:solidFill>
              </a:rPr>
              <a:t>Verification</a:t>
            </a:r>
          </a:p>
        </p:txBody>
      </p:sp>
      <p:sp>
        <p:nvSpPr>
          <p:cNvPr id="20" name="">
            <a:extLst xmlns:a="http://schemas.openxmlformats.org/drawingml/2006/main">
              <a:ext uri="{FF2B5EF4-FFF2-40B4-BE49-F238E27FC236}">
                <a16:creationId xmlns:a16="http://schemas.microsoft.com/office/drawing/2014/main" id="{CB03E1EB-EE90-469C-95C4-14B7DDFA7121}"/>
              </a:ext>
            </a:extLst>
          </p:cNvPr>
          <p:cNvSpPr>
            <a:spLocks xmlns:a="http://schemas.openxmlformats.org/drawingml/2006/main" noGrp="1"/>
          </p:cNvSpPr>
          <p:nvPr/>
        </p:nvSpPr>
        <p:spPr>
          <a:xfrm xmlns:a="http://schemas.openxmlformats.org/drawingml/2006/main">
            <a:off x="7524750" y="3143250"/>
            <a:ext cx="16192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500" b="0">
                <a:solidFill>
                  <a:srgbClr val="172033"/>
                </a:solidFill>
              </a:defRPr>
            </a:defPPr>
          </a:lstStyle>
          <a:p xmlns:a="http://schemas.openxmlformats.org/drawingml/2006/main">
            <a:pPr algn="l">
              <a:defRPr sz="1500" b="0">
                <a:solidFill>
                  <a:srgbClr val="172033"/>
                </a:solidFill>
              </a:defRPr>
            </a:pPr>
            <a:r>
              <a:rPr sz="1500" b="0">
                <a:solidFill>
                  <a:srgbClr val="172033"/>
                </a:solidFill>
              </a:rPr>
              <a:t>Trusted build</a:t>
            </a:r>
          </a:p>
          <a:p xmlns:a="http://schemas.openxmlformats.org/drawingml/2006/main">
            <a:pPr algn="l">
              <a:defRPr sz="1500" b="0">
                <a:solidFill>
                  <a:srgbClr val="172033"/>
                </a:solidFill>
              </a:defRPr>
            </a:pPr>
            <a:r>
              <a:rPr sz="1500" b="0">
                <a:solidFill>
                  <a:srgbClr val="172033"/>
                </a:solidFill>
              </a:rPr>
              <a:t>Placeholder scans</a:t>
            </a:r>
          </a:p>
          <a:p xmlns:a="http://schemas.openxmlformats.org/drawingml/2006/main">
            <a:pPr algn="l">
              <a:defRPr sz="1500" b="0">
                <a:solidFill>
                  <a:srgbClr val="172033"/>
                </a:solidFill>
              </a:defRPr>
            </a:pPr>
            <a:r>
              <a:rPr sz="1500" b="0">
                <a:solidFill>
                  <a:srgbClr val="172033"/>
                </a:solidFill>
              </a:rPr>
              <a:t>Semantic review</a:t>
            </a:r>
          </a:p>
        </p:txBody>
      </p:sp>
      <p:sp>
        <p:nvSpPr>
          <p:cNvPr id="21" name="">
            <a:extLst xmlns:a="http://schemas.openxmlformats.org/drawingml/2006/main">
              <a:ext uri="{FF2B5EF4-FFF2-40B4-BE49-F238E27FC236}">
                <a16:creationId xmlns:a16="http://schemas.microsoft.com/office/drawing/2014/main" id="{FA6672E3-F959-4837-83DD-86993BD0C473}"/>
              </a:ext>
            </a:extLst>
          </p:cNvPr>
          <p:cNvSpPr>
            <a:spLocks xmlns:a="http://schemas.openxmlformats.org/drawingml/2006/main" noGrp="1"/>
          </p:cNvSpPr>
          <p:nvPr/>
        </p:nvSpPr>
        <p:spPr>
          <a:xfrm xmlns:a="http://schemas.openxmlformats.org/drawingml/2006/main">
            <a:off x="9620250" y="2476500"/>
            <a:ext cx="1905000" cy="1809750"/>
          </a:xfrm>
          <a:prstGeom xmlns:a="http://schemas.openxmlformats.org/drawingml/2006/main" prst="roundRect">
            <a:avLst>
              <a:gd name="adj" fmla="val 4211"/>
            </a:avLst>
          </a:prstGeom>
          <a:solidFill xmlns:a="http://schemas.openxmlformats.org/drawingml/2006/main">
            <a:srgbClr val="FFFFFF"/>
          </a:solidFill>
          <a:ln xmlns:a="http://schemas.openxmlformats.org/drawingml/2006/main" w="9525">
            <a:solidFill>
              <a:srgbClr val="CBD5E1"/>
            </a:solidFill>
            <a:prstDash val="solid"/>
          </a:ln>
        </p:spPr>
      </p:sp>
      <p:sp>
        <p:nvSpPr>
          <p:cNvPr id="22" name="">
            <a:extLst xmlns:a="http://schemas.openxmlformats.org/drawingml/2006/main">
              <a:ext uri="{FF2B5EF4-FFF2-40B4-BE49-F238E27FC236}">
                <a16:creationId xmlns:a16="http://schemas.microsoft.com/office/drawing/2014/main" id="{F69E9CD8-0102-45C3-851F-3F4DDAB20914}"/>
              </a:ext>
            </a:extLst>
          </p:cNvPr>
          <p:cNvSpPr>
            <a:spLocks xmlns:a="http://schemas.openxmlformats.org/drawingml/2006/main" noGrp="1"/>
          </p:cNvSpPr>
          <p:nvPr/>
        </p:nvSpPr>
        <p:spPr>
          <a:xfrm xmlns:a="http://schemas.openxmlformats.org/drawingml/2006/main">
            <a:off x="9763125" y="2619375"/>
            <a:ext cx="1619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800" b="1">
                <a:solidFill>
                  <a:srgbClr val="0B1739"/>
                </a:solidFill>
              </a:defRPr>
            </a:defPPr>
          </a:lstStyle>
          <a:p xmlns:a="http://schemas.openxmlformats.org/drawingml/2006/main">
            <a:pPr algn="l">
              <a:defRPr sz="1800" b="1">
                <a:solidFill>
                  <a:srgbClr val="0B1739"/>
                </a:solidFill>
              </a:defRPr>
            </a:pPr>
            <a:r>
              <a:rPr sz="1800" b="1">
                <a:solidFill>
                  <a:srgbClr val="0B1739"/>
                </a:solidFill>
              </a:rPr>
              <a:t>Comparison</a:t>
            </a:r>
          </a:p>
        </p:txBody>
      </p:sp>
      <p:sp>
        <p:nvSpPr>
          <p:cNvPr id="23" name="">
            <a:extLst xmlns:a="http://schemas.openxmlformats.org/drawingml/2006/main">
              <a:ext uri="{FF2B5EF4-FFF2-40B4-BE49-F238E27FC236}">
                <a16:creationId xmlns:a16="http://schemas.microsoft.com/office/drawing/2014/main" id="{FEF4930C-9F19-4672-A380-F68B86797185}"/>
              </a:ext>
            </a:extLst>
          </p:cNvPr>
          <p:cNvSpPr>
            <a:spLocks xmlns:a="http://schemas.openxmlformats.org/drawingml/2006/main" noGrp="1"/>
          </p:cNvSpPr>
          <p:nvPr/>
        </p:nvSpPr>
        <p:spPr>
          <a:xfrm xmlns:a="http://schemas.openxmlformats.org/drawingml/2006/main">
            <a:off x="9763125" y="3143250"/>
            <a:ext cx="16192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500" b="0">
                <a:solidFill>
                  <a:srgbClr val="172033"/>
                </a:solidFill>
              </a:defRPr>
            </a:defPPr>
          </a:lstStyle>
          <a:p xmlns:a="http://schemas.openxmlformats.org/drawingml/2006/main">
            <a:pPr algn="l">
              <a:defRPr sz="1500" b="0">
                <a:solidFill>
                  <a:srgbClr val="172033"/>
                </a:solidFill>
              </a:defRPr>
            </a:pPr>
            <a:r>
              <a:rPr sz="1500" b="0">
                <a:solidFill>
                  <a:srgbClr val="172033"/>
                </a:solidFill>
              </a:rPr>
              <a:t>Success + cost</a:t>
            </a:r>
          </a:p>
          <a:p xmlns:a="http://schemas.openxmlformats.org/drawingml/2006/main">
            <a:pPr algn="l">
              <a:defRPr sz="1500" b="0">
                <a:solidFill>
                  <a:srgbClr val="172033"/>
                </a:solidFill>
              </a:defRPr>
            </a:pPr>
            <a:r>
              <a:rPr sz="1500" b="0">
                <a:solidFill>
                  <a:srgbClr val="172033"/>
                </a:solidFill>
              </a:rPr>
              <a:t>Failure analysis</a:t>
            </a:r>
          </a:p>
          <a:p xmlns:a="http://schemas.openxmlformats.org/drawingml/2006/main">
            <a:pPr algn="l">
              <a:defRPr sz="1500" b="0">
                <a:solidFill>
                  <a:srgbClr val="172033"/>
                </a:solidFill>
              </a:defRPr>
            </a:pPr>
            <a:r>
              <a:rPr sz="1500" b="0">
                <a:solidFill>
                  <a:srgbClr val="172033"/>
                </a:solidFill>
              </a:rPr>
              <a:t>Decision records</a:t>
            </a:r>
          </a:p>
        </p:txBody>
      </p:sp>
      <p:sp>
        <p:nvSpPr>
          <p:cNvPr id="24" name="">
            <a:extLst xmlns:a="http://schemas.openxmlformats.org/drawingml/2006/main">
              <a:ext uri="{FF2B5EF4-FFF2-40B4-BE49-F238E27FC236}">
                <a16:creationId xmlns:a16="http://schemas.microsoft.com/office/drawing/2014/main" id="{9D349824-1475-4760-AF4F-A40CC55948C8}"/>
              </a:ext>
            </a:extLst>
          </p:cNvPr>
          <p:cNvSpPr>
            <a:spLocks xmlns:a="http://schemas.openxmlformats.org/drawingml/2006/main" noGrp="1"/>
          </p:cNvSpPr>
          <p:nvPr/>
        </p:nvSpPr>
        <p:spPr>
          <a:xfrm xmlns:a="http://schemas.openxmlformats.org/drawingml/2006/main" flipH="0" flipV="0">
            <a:off x="10572750" y="4286250"/>
            <a:ext cx="0" cy="523875"/>
          </a:xfrm>
          <a:prstGeom xmlns:a="http://schemas.openxmlformats.org/drawingml/2006/main" prst="line">
            <a:avLst/>
          </a:prstGeom>
          <a:noFill xmlns:a="http://schemas.openxmlformats.org/drawingml/2006/main"/>
          <a:ln xmlns:a="http://schemas.openxmlformats.org/drawingml/2006/main" w="19050">
            <a:solidFill>
              <a:srgbClr val="2563EB"/>
            </a:solidFill>
            <a:prstDash val="solid"/>
          </a:ln>
        </p:spPr>
      </p:sp>
      <p:sp>
        <p:nvSpPr>
          <p:cNvPr id="25" name="">
            <a:extLst xmlns:a="http://schemas.openxmlformats.org/drawingml/2006/main">
              <a:ext uri="{FF2B5EF4-FFF2-40B4-BE49-F238E27FC236}">
                <a16:creationId xmlns:a16="http://schemas.microsoft.com/office/drawing/2014/main" id="{E7EF6BF9-2C1A-4510-9A25-981B413EAF48}"/>
              </a:ext>
            </a:extLst>
          </p:cNvPr>
          <p:cNvSpPr>
            <a:spLocks xmlns:a="http://schemas.openxmlformats.org/drawingml/2006/main" noGrp="1"/>
          </p:cNvSpPr>
          <p:nvPr/>
        </p:nvSpPr>
        <p:spPr>
          <a:xfrm xmlns:a="http://schemas.openxmlformats.org/drawingml/2006/main" flipH="0" flipV="0">
            <a:off x="1619250" y="4810125"/>
            <a:ext cx="8953500" cy="0"/>
          </a:xfrm>
          <a:prstGeom xmlns:a="http://schemas.openxmlformats.org/drawingml/2006/main" prst="line">
            <a:avLst/>
          </a:prstGeom>
          <a:noFill xmlns:a="http://schemas.openxmlformats.org/drawingml/2006/main"/>
          <a:ln xmlns:a="http://schemas.openxmlformats.org/drawingml/2006/main" w="19050">
            <a:solidFill>
              <a:srgbClr val="2563EB"/>
            </a:solidFill>
            <a:prstDash val="solid"/>
          </a:ln>
        </p:spPr>
      </p:sp>
      <p:sp>
        <p:nvSpPr>
          <p:cNvPr id="26" name="">
            <a:extLst xmlns:a="http://schemas.openxmlformats.org/drawingml/2006/main">
              <a:ext uri="{FF2B5EF4-FFF2-40B4-BE49-F238E27FC236}">
                <a16:creationId xmlns:a16="http://schemas.microsoft.com/office/drawing/2014/main" id="{C161EDA9-2B7B-493C-8556-7EDA7A9DD647}"/>
              </a:ext>
            </a:extLst>
          </p:cNvPr>
          <p:cNvSpPr>
            <a:spLocks xmlns:a="http://schemas.openxmlformats.org/drawingml/2006/main" noGrp="1"/>
          </p:cNvSpPr>
          <p:nvPr/>
        </p:nvSpPr>
        <p:spPr>
          <a:xfrm xmlns:a="http://schemas.openxmlformats.org/drawingml/2006/main" flipH="0" flipV="0">
            <a:off x="1619250" y="4286250"/>
            <a:ext cx="0" cy="523875"/>
          </a:xfrm>
          <a:prstGeom xmlns:a="http://schemas.openxmlformats.org/drawingml/2006/main" prst="line">
            <a:avLst/>
          </a:prstGeom>
          <a:noFill xmlns:a="http://schemas.openxmlformats.org/drawingml/2006/main"/>
          <a:ln xmlns:a="http://schemas.openxmlformats.org/drawingml/2006/main" w="19050">
            <a:solidFill>
              <a:srgbClr val="2563EB"/>
            </a:solidFill>
            <a:prstDash val="solid"/>
          </a:ln>
        </p:spPr>
      </p:sp>
      <p:sp>
        <p:nvSpPr>
          <p:cNvPr id="27" name="">
            <a:extLst xmlns:a="http://schemas.openxmlformats.org/drawingml/2006/main">
              <a:ext uri="{FF2B5EF4-FFF2-40B4-BE49-F238E27FC236}">
                <a16:creationId xmlns:a16="http://schemas.microsoft.com/office/drawing/2014/main" id="{A56E44AE-E02C-4060-A670-4F9E1AB50115}"/>
              </a:ext>
            </a:extLst>
          </p:cNvPr>
          <p:cNvSpPr>
            <a:spLocks xmlns:a="http://schemas.openxmlformats.org/drawingml/2006/main" noGrp="1"/>
          </p:cNvSpPr>
          <p:nvPr/>
        </p:nvSpPr>
        <p:spPr>
          <a:xfrm xmlns:a="http://schemas.openxmlformats.org/drawingml/2006/main">
            <a:off x="1857375" y="5000625"/>
            <a:ext cx="9477375"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725" b="1">
                <a:solidFill>
                  <a:srgbClr val="2563EB"/>
                </a:solidFill>
              </a:defRPr>
            </a:defPPr>
          </a:lstStyle>
          <a:p xmlns:a="http://schemas.openxmlformats.org/drawingml/2006/main">
            <a:pPr algn="ctr">
              <a:defRPr sz="1725" b="1">
                <a:solidFill>
                  <a:srgbClr val="2563EB"/>
                </a:solidFill>
              </a:defRPr>
            </a:pPr>
            <a:r>
              <a:rPr sz="1725" b="1">
                <a:solidFill>
                  <a:srgbClr val="2563EB"/>
                </a:solidFill>
              </a:rPr>
              <a:t>After both conditions finish: review reusable lessons and update memory for the next experiment</a:t>
            </a:r>
          </a:p>
        </p:txBody>
      </p:sp>
      <p:sp>
        <p:nvSpPr>
          <p:cNvPr id="28" name="">
            <a:extLst xmlns:a="http://schemas.openxmlformats.org/drawingml/2006/main">
              <a:ext uri="{FF2B5EF4-FFF2-40B4-BE49-F238E27FC236}">
                <a16:creationId xmlns:a16="http://schemas.microsoft.com/office/drawing/2014/main" id="{CF33344A-9BAA-4C76-8031-3C0BACE746E3}"/>
              </a:ext>
            </a:extLst>
          </p:cNvPr>
          <p:cNvSpPr>
            <a:spLocks xmlns:a="http://schemas.openxmlformats.org/drawingml/2006/main" noGrp="1"/>
          </p:cNvSpPr>
          <p:nvPr/>
        </p:nvSpPr>
        <p:spPr>
          <a:xfrm xmlns:a="http://schemas.openxmlformats.org/drawingml/2006/main">
            <a:off x="666750" y="5905500"/>
            <a:ext cx="10858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00" b="0">
                <a:solidFill>
                  <a:srgbClr val="0B1739"/>
                </a:solidFill>
              </a:defRPr>
            </a:defPPr>
          </a:lstStyle>
          <a:p xmlns:a="http://schemas.openxmlformats.org/drawingml/2006/main">
            <a:pPr algn="l">
              <a:defRPr sz="1500" b="0">
                <a:solidFill>
                  <a:srgbClr val="0B1739"/>
                </a:solidFill>
              </a:defRPr>
            </a:pPr>
            <a:r>
              <a:rPr sz="1500" b="0">
                <a:solidFill>
                  <a:srgbClr val="0B1739"/>
                </a:solidFill>
              </a:rPr>
              <a:t>Human role: review the target and snapshot, check mathematical meaning, approve reusable lessons</a:t>
            </a:r>
          </a:p>
        </p:txBody>
      </p:sp>
      <p:sp>
        <p:nvSpPr>
          <p:cNvPr id="29" name="">
            <a:extLst xmlns:a="http://schemas.openxmlformats.org/drawingml/2006/main">
              <a:ext uri="{FF2B5EF4-FFF2-40B4-BE49-F238E27FC236}">
                <a16:creationId xmlns:a16="http://schemas.microsoft.com/office/drawing/2014/main" id="{A60C88E7-21E4-433B-9996-595D329ADEBC}"/>
              </a:ext>
            </a:extLst>
          </p:cNvPr>
          <p:cNvSpPr>
            <a:spLocks xmlns:a="http://schemas.openxmlformats.org/drawingml/2006/main" noGrp="1"/>
          </p:cNvSpPr>
          <p:nvPr/>
        </p:nvSpPr>
        <p:spPr>
          <a:xfrm xmlns:a="http://schemas.openxmlformats.org/drawingml/2006/main">
            <a:off x="666750" y="6429375"/>
            <a:ext cx="10858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825" b="0">
                <a:solidFill>
                  <a:srgbClr val="64748B"/>
                </a:solidFill>
              </a:defRPr>
            </a:defPPr>
          </a:lstStyle>
          <a:p xmlns:a="http://schemas.openxmlformats.org/drawingml/2006/main">
            <a:pPr algn="r">
              <a:defRPr sz="825" b="0">
                <a:solidFill>
                  <a:srgbClr val="64748B"/>
                </a:solidFill>
              </a:defRPr>
            </a:pPr>
            <a:r>
              <a:rPr sz="825" b="0">
                <a:solidFill>
                  <a:srgbClr val="64748B"/>
                </a:solidFill>
              </a:rPr>
              <a:t>Completed foundation: verified Lean reduction and artifact protocol. Proposed next step: isolated comparative runs.</a:t>
            </a:r>
          </a:p>
        </p:txBody>
      </p:sp>
    </p:spTree>
    <p:extLst>
      <p:ext uri="{BB962C8B-B14F-4D97-AF65-F5344CB8AC3E}">
        <p14:creationId xmlns:p14="http://schemas.microsoft.com/office/powerpoint/2010/main" val="168912998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2026-10-12T19:09:41.5060000Z</dcterms:created>
  <dcterms:modified xsi:type="dcterms:W3CDTF">2026-10-12T19:09:41.5060000Z</dcterms:modified>
</coreProperties>
</file>