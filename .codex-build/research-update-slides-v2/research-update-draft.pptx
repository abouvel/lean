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bc05c6616f4d13" /><Relationship Type="http://schemas.openxmlformats.org/officeDocument/2006/relationships/extended-properties" Target="/docProps/app.xml" Id="R33fcbcc0eb1a40f9" /><Relationship Type="http://schemas.openxmlformats.org/officeDocument/2006/relationships/officeDocument" Target="/ppt/presentation.xml" Id="Rbfc27b7cf32f4b71" /></Relationships>
</file>

<file path=ppt/presentation.xml><?xml version="1.0" encoding="utf-8"?>
<p:presentation xmlns:p="http://schemas.openxmlformats.org/presentationml/2006/main">
  <p:sldMasterIdLst>
    <p:sldMasterId xmlns:r="http://schemas.openxmlformats.org/officeDocument/2006/relationships" id="2147483648" r:id="R9fd68fdfb47242b6"/>
  </p:sldMasterIdLst>
  <p:notesMasterIdLst>
    <p:notesMasterId xmlns:r="http://schemas.openxmlformats.org/officeDocument/2006/relationships" r:id="R889c098972cd4208"/>
  </p:notesMasterIdLst>
  <p:sldIdLst>
    <p:sldId xmlns:r="http://schemas.openxmlformats.org/officeDocument/2006/relationships" id="256" r:id="Rb5e86283bef74f47"/>
    <p:sldId xmlns:r="http://schemas.openxmlformats.org/officeDocument/2006/relationships" id="257" r:id="R44fe2ba9394e4e86"/>
    <p:sldId xmlns:r="http://schemas.openxmlformats.org/officeDocument/2006/relationships" id="258" r:id="R604abb413bed4d29"/>
    <p:sldId xmlns:r="http://schemas.openxmlformats.org/officeDocument/2006/relationships" id="259" r:id="Ree2ad3056eb143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0a4ae0b5dc54bb4" /><Relationship Type="http://schemas.openxmlformats.org/officeDocument/2006/relationships/slideMaster" Target="/ppt/slideMasters/slideMaster1.xml" Id="R9fd68fdfb47242b6" /><Relationship Type="http://schemas.openxmlformats.org/officeDocument/2006/relationships/notesMaster" Target="/ppt/notesMasters/notesMaster1.xml" Id="R889c098972cd4208" /><Relationship Type="http://schemas.openxmlformats.org/officeDocument/2006/relationships/presProps" Target="/ppt/presProps.xml" Id="Re783000fd0e24e65" /><Relationship Type="http://schemas.openxmlformats.org/officeDocument/2006/relationships/tableStyles" Target="/ppt/tableStyles.xml" Id="Rb2e4927932d04316" /><Relationship Type="http://schemas.openxmlformats.org/officeDocument/2006/relationships/slide" Target="/ppt/slides/slide1.xml" Id="Rb5e86283bef74f47" /><Relationship Type="http://schemas.openxmlformats.org/officeDocument/2006/relationships/slide" Target="/ppt/slides/slide2.xml" Id="R44fe2ba9394e4e86" /><Relationship Type="http://schemas.openxmlformats.org/officeDocument/2006/relationships/slide" Target="/ppt/slides/slide3.xml" Id="R604abb413bed4d29" /><Relationship Type="http://schemas.openxmlformats.org/officeDocument/2006/relationships/slide" Target="/ppt/slides/slide4.xml" Id="Ree2ad3056eb143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59826ee7bd423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9c7dc21c93741ba" /><Relationship Type="http://schemas.openxmlformats.org/officeDocument/2006/relationships/notesMaster" Target="/ppt/notesMasters/notesMaster1.xml" Id="R12fbdeb278f94f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f1e2ed58544ca2" /><Relationship Type="http://schemas.openxmlformats.org/officeDocument/2006/relationships/notesMaster" Target="/ppt/notesMasters/notesMaster1.xml" Id="Rf0b23deae3b744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71f3441cda624a9e" /><Relationship Type="http://schemas.openxmlformats.org/officeDocument/2006/relationships/notesMaster" Target="/ppt/notesMasters/notesMaster1.xml" Id="R641a8e03b03a4a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fee082d392f4709" /><Relationship Type="http://schemas.openxmlformats.org/officeDocument/2006/relationships/notesMaster" Target="/ppt/notesMasters/notesMaster1.xml" Id="Rac3f5759e1ab43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Completed work. Algorithm 1 splits the active forest at ceil(n/2), pairs corresponding trees from the two halves, and carries the unmatched tree unchanged. The displayed values use exact tree evaluation. They establish algorithm shape, not a measured floating-point error. A carried tree contains no new addition node, so roundedSum introduces no extra round call. General proofs establish a singleton final forest, multiset preservation including duplicates, exact real sum preservation, and depth at most Nat.clog 2 n. For each operation the supplied Model assumes round(z)=z*(1+delta), abs(delta)&lt;=u. This is an abstract assumption, not a proved IEEE 754 implementation or runtime overflow check. Under L*u&lt;1, the numerical theorem constructs a same-shape perturbed tree whose exact sum equals roundedSum. Its leaf errors satisfy gamma L u. DotProduct.lean separately adds one rounded multiplication per leaf and proves a gamma(depth+1) perturbation bound on product values. Sources: Research/Projects/BinaryTreeReduction/Algorithm.lean, Examples.lean, Reduction.lean, DotProduct.lean, Research/Common/FloatingPoint/Model.lean. Historical verification: artifacts/runs/2026-10-11-algorithm1-offset-reduction.md.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trust boundary. I controlled the specification, acceptance tests, decomposition, and review. The coding agent generated and repaired substantial parts of the Lean code. I do not claim to have manually written every tactic. A theorem statement appears before := by, and the proof follows it. Tactics construct proof terms for Lean's kernel to check, within the trusted Lean and library assumptions. Structural induction separates leaf and node cases. At a node, use the two subtree results and one new rounding factor. The gamma recurrence bounds the new perturbation. In the implementation, the general numerical theorem uses induction on a depth budget k, generalizing over the tree. Multiset preservation retains duplicates while allowing reordered leaves. Lean verifies the proposition supplied to it. I back-translate that proposition to detect extra assumptions or a weakened conclusion. The recorded verification count includes dependency build jobs and is not a count of newly proved theorems. The repository scan rejects project-defined axiom declarations, not the standard logical foundations used by Lean and Mathlib. Proposed process auditing would additionally check retrieval logs and escalation decisions. Sources: pipeline/README.md, pipeline/verify.sh, projects/binary-tree-reduction/theorem.md, artifacts/runs/2026-10-11-algorithm1-offset-reduction.md. Detailed code: Research/Common/FloatingPoint/Model.lean, Gamma.lean, Research/Projects/BinaryTreeReduction/Algorithm.lean, Reduction.lean.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evaluation, not a completed comparison. Persistent improvement here occurs through external memory while model weights remain fixed. Use new proof tasks whose completed answers are absent from the snapshot, and fresh agent sessions. For paired experiments use matched distinct theorems, or run the same target independently with strict isolation and no cross-run leakage. Hold settings and repository state fixed, freeze the artifact snapshot, and assign conditions before attempts. Include unsuccessful runs. Record unavailable metrics as unknown. Count memory creation and reflection costs separately as well as execution cost, so retrieval does not receive free preparation. The current run record reports unknown historical wall time, tokens, and cost. Across multiple checkpoints evaluate held-out performance against cumulative learning cost. The Agent Plasticity paper reports model- and task-dependent improvement, partial transfer, and a difference between final capability and acquisition efficiency. Artifact reuse correlates with improvement but high reuse does not guarantee success. Its weights stay frozen. Later diagnostic interventions could force relevant artifacts into context or substitute human-curated lessons to test retrieval versus quality. These extensions remain proposals. Source: C:/Users/austi/Downloads/2610.08902v1.pdf, Agent Plasticity: Measuring Self-Improvement Through Experience, sections 2-4. Local protocol: AGENTS.md and pipeline/README.md.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infrastructure is proposed and has not been implemented by this slide update. One monorepo remains the source of code, experiment configuration, and final results. A trusted host-side script prepares an allowlisted workspace for each run. The agent receives required definitions and unfinished theorem statements, not completed target proofs. Do not copy the full .git directory or target-bearing .olean outputs. Dependency caches are acceptable only if they cannot expose the evaluated answer. The stateless container has no artifact mount. The retrieved container receives the frozen snapshot read-only. Both start fresh with separate session stores and identical pinned agent version, model, reasoning settings, Lean and Mathlib versions. The remote model can request tools, but all filesystem and shell execution for the evaluated agent must stay inside this environment. Running only lake build in Docker does not isolate an outside agent's other file tools. Do not mount the full repository, host home, or Docker socket. Restrict egress to required model services and prevent access to the public target solution. Browser, MCP, and other tools must not bypass this boundary. Test isolation with sentinel files outside the permitted workspace before running the experiment. A trusted evaluator then runs its fixed verification command on exported output and performs semantic review. Preserve transcripts and available measurements. Folder boundaries and worktrees alone do not restrict reading. The two containers shown represent separate runs, not a requirement to run them concurrently. Engineering plan based on the project protocol and discussion. Codex CLI reference: https://developers.openai.com/codex/cli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71729e55284d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e610d9b9484a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f0726174c7145f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e24d5b86b51413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c47d78b60b40f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86fc7df95d4e5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2E074A-44A1-4FA8-ACF3-3EA07F6C1A7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46C433C-0E57-4908-809A-C6E3663327F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B2FE3B6-719F-4BD9-AEE6-FE9F58661A5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574908-FF78-4F41-9DED-002838C52C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C69031-9542-4821-9348-91E937D50CF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629AB0-B639-4E31-945D-DA854181331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FCB058-3C36-4705-9D1F-B4F8F1C147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A19FD23-243B-4CFF-92E0-B1AB63150FE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E20FF-E733-493D-9BEB-25279FF378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29DAEB-2305-49F1-BDB1-422BB60DCF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2da985e78d401c" /><Relationship Type="http://schemas.openxmlformats.org/officeDocument/2006/relationships/slideLayout" Target="/ppt/slideLayouts/slideLayout1.xml" Id="R9063822b32e7455e" /><Relationship Type="http://schemas.openxmlformats.org/officeDocument/2006/relationships/slideLayout" Target="/ppt/slideLayouts/slideLayout2.xml" Id="Re7c5724f9a87402a" /><Relationship Type="http://schemas.openxmlformats.org/officeDocument/2006/relationships/slideLayout" Target="/ppt/slideLayouts/slideLayout3.xml" Id="R9d7913a7bbe04d2d" /><Relationship Type="http://schemas.openxmlformats.org/officeDocument/2006/relationships/slideLayout" Target="/ppt/slideLayouts/slideLayout4.xml" Id="R1df1f3b984a444ec" /><Relationship Type="http://schemas.openxmlformats.org/officeDocument/2006/relationships/slideLayout" Target="/ppt/slideLayouts/slideLayout5.xml" Id="Refd22ec3169e4333" /><Relationship Type="http://schemas.openxmlformats.org/officeDocument/2006/relationships/slideLayout" Target="/ppt/slideLayouts/slideLayout6.xml" Id="R8cb631e6988140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063822b32e7455e"/>
    <p:sldLayoutId xmlns:r="http://schemas.openxmlformats.org/officeDocument/2006/relationships" id="2147483650" r:id="Re7c5724f9a87402a"/>
    <p:sldLayoutId xmlns:r="http://schemas.openxmlformats.org/officeDocument/2006/relationships" id="2147483651" r:id="R9d7913a7bbe04d2d"/>
    <p:sldLayoutId xmlns:r="http://schemas.openxmlformats.org/officeDocument/2006/relationships" id="2147483652" r:id="R1df1f3b984a444ec"/>
    <p:sldLayoutId xmlns:r="http://schemas.openxmlformats.org/officeDocument/2006/relationships" id="2147483653" r:id="Refd22ec3169e4333"/>
    <p:sldLayoutId xmlns:r="http://schemas.openxmlformats.org/officeDocument/2006/relationships" id="2147483654" r:id="R8cb631e6988140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d0fd43be8fb4b0c" /><Relationship Type="http://schemas.openxmlformats.org/officeDocument/2006/relationships/notesSlide" Target="/ppt/notesSlides/notesSlide1.xml" Id="R275e64ff399145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925550df83147d2" /><Relationship Type="http://schemas.openxmlformats.org/officeDocument/2006/relationships/notesSlide" Target="/ppt/notesSlides/notesSlide2.xml" Id="R8135f6ad5d2e47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292418b6cde459d" /><Relationship Type="http://schemas.openxmlformats.org/officeDocument/2006/relationships/notesSlide" Target="/ppt/notesSlides/notesSlide3.xml" Id="Rd15fb54904f04f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8a8a460d6034ecf" /><Relationship Type="http://schemas.openxmlformats.org/officeDocument/2006/relationships/notesSlide" Target="/ppt/notesSlides/notesSlide4.xml" Id="R09dac11f9dd94f86" /></Relationships>
</file>

<file path=ppt/slides/slide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FF780E94-4994-4DA0-8051-55E6DE496878}"/>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01</a:t>
            </a:r>
          </a:p>
        </p:txBody>
      </p:sp>
      <p:sp>
        <p:nvSpPr>
          <p:cNvPr id="2" name="">
            <a:extLst xmlns:a="http://schemas.openxmlformats.org/drawingml/2006/main">
              <a:ext uri="{FF2B5EF4-FFF2-40B4-BE49-F238E27FC236}">
                <a16:creationId xmlns:a16="http://schemas.microsoft.com/office/drawing/2014/main" id="{5830F8FF-AD6A-4E7E-9465-32BF848E22B4}"/>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Binary-tree floating-point reduction</a:t>
            </a:r>
          </a:p>
        </p:txBody>
      </p:sp>
      <p:sp>
        <p:nvSpPr>
          <p:cNvPr id="3" name="">
            <a:extLst xmlns:a="http://schemas.openxmlformats.org/drawingml/2006/main">
              <a:ext uri="{FF2B5EF4-FFF2-40B4-BE49-F238E27FC236}">
                <a16:creationId xmlns:a16="http://schemas.microsoft.com/office/drawing/2014/main" id="{AD719111-3760-4688-83B5-464C4BED9850}"/>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CF1F949F-0504-4E02-BF5B-46E1B118052A}"/>
              </a:ext>
            </a:extLst>
          </p:cNvPr>
          <p:cNvSpPr>
            <a:spLocks xmlns:a="http://schemas.openxmlformats.org/drawingml/2006/main" noGrp="1"/>
          </p:cNvSpPr>
          <p:nvPr/>
        </p:nvSpPr>
        <p:spPr>
          <a:xfrm xmlns:a="http://schemas.openxmlformats.org/drawingml/2006/main">
            <a:off x="666750" y="14573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Completed: Algorithm 1 for every nonempty list, with a deterministic backward-error theorem in Lean.</a:t>
            </a:r>
          </a:p>
        </p:txBody>
      </p:sp>
      <p:sp>
        <p:nvSpPr>
          <p:cNvPr id="5" name="">
            <a:extLst xmlns:a="http://schemas.openxmlformats.org/drawingml/2006/main">
              <a:ext uri="{FF2B5EF4-FFF2-40B4-BE49-F238E27FC236}">
                <a16:creationId xmlns:a16="http://schemas.microsoft.com/office/drawing/2014/main" id="{76E29217-C9E7-4D92-AE48-8944175362C8}"/>
              </a:ext>
            </a:extLst>
          </p:cNvPr>
          <p:cNvSpPr>
            <a:spLocks xmlns:a="http://schemas.openxmlformats.org/drawingml/2006/main" noGrp="1"/>
          </p:cNvSpPr>
          <p:nvPr/>
        </p:nvSpPr>
        <p:spPr>
          <a:xfrm xmlns:a="http://schemas.openxmlformats.org/drawingml/2006/main">
            <a:off x="13525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6" name="">
            <a:extLst xmlns:a="http://schemas.openxmlformats.org/drawingml/2006/main">
              <a:ext uri="{FF2B5EF4-FFF2-40B4-BE49-F238E27FC236}">
                <a16:creationId xmlns:a16="http://schemas.microsoft.com/office/drawing/2014/main" id="{39497FE4-1B28-45F8-922C-988EAC54F11A}"/>
              </a:ext>
            </a:extLst>
          </p:cNvPr>
          <p:cNvSpPr>
            <a:spLocks xmlns:a="http://schemas.openxmlformats.org/drawingml/2006/main" noGrp="1"/>
          </p:cNvSpPr>
          <p:nvPr/>
        </p:nvSpPr>
        <p:spPr>
          <a:xfrm xmlns:a="http://schemas.openxmlformats.org/drawingml/2006/main">
            <a:off x="13525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2</a:t>
            </a:r>
          </a:p>
        </p:txBody>
      </p:sp>
      <p:sp>
        <p:nvSpPr>
          <p:cNvPr id="7" name="">
            <a:extLst xmlns:a="http://schemas.openxmlformats.org/drawingml/2006/main">
              <a:ext uri="{FF2B5EF4-FFF2-40B4-BE49-F238E27FC236}">
                <a16:creationId xmlns:a16="http://schemas.microsoft.com/office/drawing/2014/main" id="{AA23E163-DA1B-4399-93C6-937C7B44D018}"/>
              </a:ext>
            </a:extLst>
          </p:cNvPr>
          <p:cNvSpPr>
            <a:spLocks xmlns:a="http://schemas.openxmlformats.org/drawingml/2006/main" noGrp="1"/>
          </p:cNvSpPr>
          <p:nvPr/>
        </p:nvSpPr>
        <p:spPr>
          <a:xfrm xmlns:a="http://schemas.openxmlformats.org/drawingml/2006/main">
            <a:off x="30670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8" name="">
            <a:extLst xmlns:a="http://schemas.openxmlformats.org/drawingml/2006/main">
              <a:ext uri="{FF2B5EF4-FFF2-40B4-BE49-F238E27FC236}">
                <a16:creationId xmlns:a16="http://schemas.microsoft.com/office/drawing/2014/main" id="{B6670E32-2D46-4493-8854-2D302FFC1BED}"/>
              </a:ext>
            </a:extLst>
          </p:cNvPr>
          <p:cNvSpPr>
            <a:spLocks xmlns:a="http://schemas.openxmlformats.org/drawingml/2006/main" noGrp="1"/>
          </p:cNvSpPr>
          <p:nvPr/>
        </p:nvSpPr>
        <p:spPr>
          <a:xfrm xmlns:a="http://schemas.openxmlformats.org/drawingml/2006/main">
            <a:off x="30670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3</a:t>
            </a:r>
          </a:p>
        </p:txBody>
      </p:sp>
      <p:sp>
        <p:nvSpPr>
          <p:cNvPr id="9" name="">
            <a:extLst xmlns:a="http://schemas.openxmlformats.org/drawingml/2006/main">
              <a:ext uri="{FF2B5EF4-FFF2-40B4-BE49-F238E27FC236}">
                <a16:creationId xmlns:a16="http://schemas.microsoft.com/office/drawing/2014/main" id="{42C0DFCE-19C9-4A55-B557-6FB07781BEE7}"/>
              </a:ext>
            </a:extLst>
          </p:cNvPr>
          <p:cNvSpPr>
            <a:spLocks xmlns:a="http://schemas.openxmlformats.org/drawingml/2006/main" noGrp="1"/>
          </p:cNvSpPr>
          <p:nvPr/>
        </p:nvSpPr>
        <p:spPr>
          <a:xfrm xmlns:a="http://schemas.openxmlformats.org/drawingml/2006/main">
            <a:off x="47815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0" name="">
            <a:extLst xmlns:a="http://schemas.openxmlformats.org/drawingml/2006/main">
              <a:ext uri="{FF2B5EF4-FFF2-40B4-BE49-F238E27FC236}">
                <a16:creationId xmlns:a16="http://schemas.microsoft.com/office/drawing/2014/main" id="{36F95E9C-67B1-4D32-80F7-60EF206C0BA3}"/>
              </a:ext>
            </a:extLst>
          </p:cNvPr>
          <p:cNvSpPr>
            <a:spLocks xmlns:a="http://schemas.openxmlformats.org/drawingml/2006/main" noGrp="1"/>
          </p:cNvSpPr>
          <p:nvPr/>
        </p:nvSpPr>
        <p:spPr>
          <a:xfrm xmlns:a="http://schemas.openxmlformats.org/drawingml/2006/main">
            <a:off x="47815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4</a:t>
            </a:r>
          </a:p>
        </p:txBody>
      </p:sp>
      <p:sp>
        <p:nvSpPr>
          <p:cNvPr id="11" name="">
            <a:extLst xmlns:a="http://schemas.openxmlformats.org/drawingml/2006/main">
              <a:ext uri="{FF2B5EF4-FFF2-40B4-BE49-F238E27FC236}">
                <a16:creationId xmlns:a16="http://schemas.microsoft.com/office/drawing/2014/main" id="{8AE0EF4B-4511-43B4-A33B-EB9544009D8F}"/>
              </a:ext>
            </a:extLst>
          </p:cNvPr>
          <p:cNvSpPr>
            <a:spLocks xmlns:a="http://schemas.openxmlformats.org/drawingml/2006/main" noGrp="1"/>
          </p:cNvSpPr>
          <p:nvPr/>
        </p:nvSpPr>
        <p:spPr>
          <a:xfrm xmlns:a="http://schemas.openxmlformats.org/drawingml/2006/main">
            <a:off x="64960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2" name="">
            <a:extLst xmlns:a="http://schemas.openxmlformats.org/drawingml/2006/main">
              <a:ext uri="{FF2B5EF4-FFF2-40B4-BE49-F238E27FC236}">
                <a16:creationId xmlns:a16="http://schemas.microsoft.com/office/drawing/2014/main" id="{F30D7CFE-AA47-4049-9A49-3142C55A1B50}"/>
              </a:ext>
            </a:extLst>
          </p:cNvPr>
          <p:cNvSpPr>
            <a:spLocks xmlns:a="http://schemas.openxmlformats.org/drawingml/2006/main" noGrp="1"/>
          </p:cNvSpPr>
          <p:nvPr/>
        </p:nvSpPr>
        <p:spPr>
          <a:xfrm xmlns:a="http://schemas.openxmlformats.org/drawingml/2006/main">
            <a:off x="64960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5</a:t>
            </a:r>
          </a:p>
        </p:txBody>
      </p:sp>
      <p:sp>
        <p:nvSpPr>
          <p:cNvPr id="13" name="">
            <a:extLst xmlns:a="http://schemas.openxmlformats.org/drawingml/2006/main">
              <a:ext uri="{FF2B5EF4-FFF2-40B4-BE49-F238E27FC236}">
                <a16:creationId xmlns:a16="http://schemas.microsoft.com/office/drawing/2014/main" id="{ED1B71C4-8371-4DDA-A48C-A949398FCFD6}"/>
              </a:ext>
            </a:extLst>
          </p:cNvPr>
          <p:cNvSpPr>
            <a:spLocks xmlns:a="http://schemas.openxmlformats.org/drawingml/2006/main" noGrp="1"/>
          </p:cNvSpPr>
          <p:nvPr/>
        </p:nvSpPr>
        <p:spPr>
          <a:xfrm xmlns:a="http://schemas.openxmlformats.org/drawingml/2006/main">
            <a:off x="8210550" y="2209800"/>
            <a:ext cx="533400" cy="533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sp>
      <p:sp>
        <p:nvSpPr>
          <p:cNvPr id="14" name="">
            <a:extLst xmlns:a="http://schemas.openxmlformats.org/drawingml/2006/main">
              <a:ext uri="{FF2B5EF4-FFF2-40B4-BE49-F238E27FC236}">
                <a16:creationId xmlns:a16="http://schemas.microsoft.com/office/drawing/2014/main" id="{94B8ED24-D5DD-4120-A149-47A8C3656557}"/>
              </a:ext>
            </a:extLst>
          </p:cNvPr>
          <p:cNvSpPr>
            <a:spLocks xmlns:a="http://schemas.openxmlformats.org/drawingml/2006/main" noGrp="1"/>
          </p:cNvSpPr>
          <p:nvPr/>
        </p:nvSpPr>
        <p:spPr>
          <a:xfrm xmlns:a="http://schemas.openxmlformats.org/drawingml/2006/main">
            <a:off x="8210550" y="22098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6</a:t>
            </a:r>
          </a:p>
        </p:txBody>
      </p:sp>
      <p:sp>
        <p:nvSpPr>
          <p:cNvPr id="15" name="">
            <a:extLst xmlns:a="http://schemas.openxmlformats.org/drawingml/2006/main">
              <a:ext uri="{FF2B5EF4-FFF2-40B4-BE49-F238E27FC236}">
                <a16:creationId xmlns:a16="http://schemas.microsoft.com/office/drawing/2014/main" id="{C081782F-2E82-4FB0-A49C-B03E02D4EFB1}"/>
              </a:ext>
            </a:extLst>
          </p:cNvPr>
          <p:cNvSpPr>
            <a:spLocks xmlns:a="http://schemas.openxmlformats.org/drawingml/2006/main" noGrp="1"/>
          </p:cNvSpPr>
          <p:nvPr/>
        </p:nvSpPr>
        <p:spPr>
          <a:xfrm xmlns:a="http://schemas.openxmlformats.org/drawingml/2006/main">
            <a:off x="666750" y="23336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0</a:t>
            </a:r>
          </a:p>
        </p:txBody>
      </p:sp>
      <p:sp>
        <p:nvSpPr>
          <p:cNvPr id="16" name="">
            <a:extLst xmlns:a="http://schemas.openxmlformats.org/drawingml/2006/main">
              <a:ext uri="{FF2B5EF4-FFF2-40B4-BE49-F238E27FC236}">
                <a16:creationId xmlns:a16="http://schemas.microsoft.com/office/drawing/2014/main" id="{CA8429D6-2759-443A-92EE-92702AECBF8D}"/>
              </a:ext>
            </a:extLst>
          </p:cNvPr>
          <p:cNvSpPr>
            <a:spLocks xmlns:a="http://schemas.openxmlformats.org/drawingml/2006/main" noGrp="1"/>
          </p:cNvSpPr>
          <p:nvPr/>
        </p:nvSpPr>
        <p:spPr>
          <a:xfrm xmlns:a="http://schemas.openxmlformats.org/drawingml/2006/main" flipH="0" flipV="0">
            <a:off x="1619250" y="2752725"/>
            <a:ext cx="8572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17" name="">
            <a:extLst xmlns:a="http://schemas.openxmlformats.org/drawingml/2006/main">
              <a:ext uri="{FF2B5EF4-FFF2-40B4-BE49-F238E27FC236}">
                <a16:creationId xmlns:a16="http://schemas.microsoft.com/office/drawing/2014/main" id="{E8A86BDC-33D8-4F5C-ACFF-B9BF894D1141}"/>
              </a:ext>
            </a:extLst>
          </p:cNvPr>
          <p:cNvSpPr>
            <a:spLocks xmlns:a="http://schemas.openxmlformats.org/drawingml/2006/main" noGrp="1"/>
          </p:cNvSpPr>
          <p:nvPr/>
        </p:nvSpPr>
        <p:spPr>
          <a:xfrm xmlns:a="http://schemas.openxmlformats.org/drawingml/2006/main" flipH="1" flipV="0">
            <a:off x="2476500" y="2752725"/>
            <a:ext cx="42862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18" name="">
            <a:extLst xmlns:a="http://schemas.openxmlformats.org/drawingml/2006/main">
              <a:ext uri="{FF2B5EF4-FFF2-40B4-BE49-F238E27FC236}">
                <a16:creationId xmlns:a16="http://schemas.microsoft.com/office/drawing/2014/main" id="{328A7B90-D888-4DA4-B7E0-CF2776AD4642}"/>
              </a:ext>
            </a:extLst>
          </p:cNvPr>
          <p:cNvSpPr>
            <a:spLocks xmlns:a="http://schemas.openxmlformats.org/drawingml/2006/main" noGrp="1"/>
          </p:cNvSpPr>
          <p:nvPr/>
        </p:nvSpPr>
        <p:spPr>
          <a:xfrm xmlns:a="http://schemas.openxmlformats.org/drawingml/2006/main" flipH="0" flipV="0">
            <a:off x="3333750" y="2752725"/>
            <a:ext cx="25717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19" name="">
            <a:extLst xmlns:a="http://schemas.openxmlformats.org/drawingml/2006/main">
              <a:ext uri="{FF2B5EF4-FFF2-40B4-BE49-F238E27FC236}">
                <a16:creationId xmlns:a16="http://schemas.microsoft.com/office/drawing/2014/main" id="{81A71F0D-CD20-4B7C-80DC-CE566B64928C}"/>
              </a:ext>
            </a:extLst>
          </p:cNvPr>
          <p:cNvSpPr>
            <a:spLocks xmlns:a="http://schemas.openxmlformats.org/drawingml/2006/main" noGrp="1"/>
          </p:cNvSpPr>
          <p:nvPr/>
        </p:nvSpPr>
        <p:spPr>
          <a:xfrm xmlns:a="http://schemas.openxmlformats.org/drawingml/2006/main" flipH="1" flipV="0">
            <a:off x="5905500" y="2752725"/>
            <a:ext cx="25717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20" name="">
            <a:extLst xmlns:a="http://schemas.openxmlformats.org/drawingml/2006/main">
              <a:ext uri="{FF2B5EF4-FFF2-40B4-BE49-F238E27FC236}">
                <a16:creationId xmlns:a16="http://schemas.microsoft.com/office/drawing/2014/main" id="{8D34DFDC-10B1-4861-84A6-362BAA692933}"/>
              </a:ext>
            </a:extLst>
          </p:cNvPr>
          <p:cNvSpPr>
            <a:spLocks xmlns:a="http://schemas.openxmlformats.org/drawingml/2006/main" noGrp="1"/>
          </p:cNvSpPr>
          <p:nvPr/>
        </p:nvSpPr>
        <p:spPr>
          <a:xfrm xmlns:a="http://schemas.openxmlformats.org/drawingml/2006/main" flipH="0" flipV="0">
            <a:off x="5048250" y="2752725"/>
            <a:ext cx="3429000" cy="457200"/>
          </a:xfrm>
          <a:prstGeom xmlns:a="http://schemas.openxmlformats.org/drawingml/2006/main" prst="line">
            <a:avLst/>
          </a:prstGeom>
          <a:noFill xmlns:a="http://schemas.openxmlformats.org/drawingml/2006/main"/>
          <a:ln xmlns:a="http://schemas.openxmlformats.org/drawingml/2006/main" w="19050">
            <a:solidFill>
              <a:srgbClr val="D97706"/>
            </a:solidFill>
            <a:prstDash val="solid"/>
          </a:ln>
        </p:spPr>
      </p:sp>
      <p:sp>
        <p:nvSpPr>
          <p:cNvPr id="21" name="">
            <a:extLst xmlns:a="http://schemas.openxmlformats.org/drawingml/2006/main">
              <a:ext uri="{FF2B5EF4-FFF2-40B4-BE49-F238E27FC236}">
                <a16:creationId xmlns:a16="http://schemas.microsoft.com/office/drawing/2014/main" id="{F5B511AB-BE43-4711-84A0-3AED9E51ACEA}"/>
              </a:ext>
            </a:extLst>
          </p:cNvPr>
          <p:cNvSpPr>
            <a:spLocks xmlns:a="http://schemas.openxmlformats.org/drawingml/2006/main" noGrp="1"/>
          </p:cNvSpPr>
          <p:nvPr/>
        </p:nvSpPr>
        <p:spPr>
          <a:xfrm xmlns:a="http://schemas.openxmlformats.org/drawingml/2006/main">
            <a:off x="2209800" y="3257550"/>
            <a:ext cx="533400" cy="5334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sp>
      <p:sp>
        <p:nvSpPr>
          <p:cNvPr id="22" name="">
            <a:extLst xmlns:a="http://schemas.openxmlformats.org/drawingml/2006/main">
              <a:ext uri="{FF2B5EF4-FFF2-40B4-BE49-F238E27FC236}">
                <a16:creationId xmlns:a16="http://schemas.microsoft.com/office/drawing/2014/main" id="{23DFE4A9-EFED-4783-8C0C-A168E97AF0C1}"/>
              </a:ext>
            </a:extLst>
          </p:cNvPr>
          <p:cNvSpPr>
            <a:spLocks xmlns:a="http://schemas.openxmlformats.org/drawingml/2006/main" noGrp="1"/>
          </p:cNvSpPr>
          <p:nvPr/>
        </p:nvSpPr>
        <p:spPr>
          <a:xfrm xmlns:a="http://schemas.openxmlformats.org/drawingml/2006/main">
            <a:off x="2209800" y="325755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7</a:t>
            </a:r>
          </a:p>
        </p:txBody>
      </p:sp>
      <p:sp>
        <p:nvSpPr>
          <p:cNvPr id="23" name="">
            <a:extLst xmlns:a="http://schemas.openxmlformats.org/drawingml/2006/main">
              <a:ext uri="{FF2B5EF4-FFF2-40B4-BE49-F238E27FC236}">
                <a16:creationId xmlns:a16="http://schemas.microsoft.com/office/drawing/2014/main" id="{DCB5499B-B43D-4717-B14C-9E3B8E2C2DBB}"/>
              </a:ext>
            </a:extLst>
          </p:cNvPr>
          <p:cNvSpPr>
            <a:spLocks xmlns:a="http://schemas.openxmlformats.org/drawingml/2006/main" noGrp="1"/>
          </p:cNvSpPr>
          <p:nvPr/>
        </p:nvSpPr>
        <p:spPr>
          <a:xfrm xmlns:a="http://schemas.openxmlformats.org/drawingml/2006/main">
            <a:off x="5638800" y="3257550"/>
            <a:ext cx="533400" cy="5334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sp>
      <p:sp>
        <p:nvSpPr>
          <p:cNvPr id="24" name="">
            <a:extLst xmlns:a="http://schemas.openxmlformats.org/drawingml/2006/main">
              <a:ext uri="{FF2B5EF4-FFF2-40B4-BE49-F238E27FC236}">
                <a16:creationId xmlns:a16="http://schemas.microsoft.com/office/drawing/2014/main" id="{6EBFB601-C7B0-4A87-802D-ED252A3BC855}"/>
              </a:ext>
            </a:extLst>
          </p:cNvPr>
          <p:cNvSpPr>
            <a:spLocks xmlns:a="http://schemas.openxmlformats.org/drawingml/2006/main" noGrp="1"/>
          </p:cNvSpPr>
          <p:nvPr/>
        </p:nvSpPr>
        <p:spPr>
          <a:xfrm xmlns:a="http://schemas.openxmlformats.org/drawingml/2006/main">
            <a:off x="5638800" y="325755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9</a:t>
            </a:r>
          </a:p>
        </p:txBody>
      </p:sp>
      <p:sp>
        <p:nvSpPr>
          <p:cNvPr id="25" name="">
            <a:extLst xmlns:a="http://schemas.openxmlformats.org/drawingml/2006/main">
              <a:ext uri="{FF2B5EF4-FFF2-40B4-BE49-F238E27FC236}">
                <a16:creationId xmlns:a16="http://schemas.microsoft.com/office/drawing/2014/main" id="{EB7B0961-C5BD-4FDA-A8EF-76B7CC6E9FD6}"/>
              </a:ext>
            </a:extLst>
          </p:cNvPr>
          <p:cNvSpPr>
            <a:spLocks xmlns:a="http://schemas.openxmlformats.org/drawingml/2006/main" noGrp="1"/>
          </p:cNvSpPr>
          <p:nvPr/>
        </p:nvSpPr>
        <p:spPr>
          <a:xfrm xmlns:a="http://schemas.openxmlformats.org/drawingml/2006/main">
            <a:off x="8210550" y="3257550"/>
            <a:ext cx="533400" cy="533400"/>
          </a:xfrm>
          <a:prstGeom xmlns:a="http://schemas.openxmlformats.org/drawingml/2006/main" prst="ellipse">
            <a:avLst/>
          </a:prstGeom>
          <a:solidFill xmlns:a="http://schemas.openxmlformats.org/drawingml/2006/main">
            <a:srgbClr val="FEF3C7"/>
          </a:solidFill>
          <a:ln xmlns:a="http://schemas.openxmlformats.org/drawingml/2006/main" w="19050">
            <a:solidFill>
              <a:srgbClr val="D97706"/>
            </a:solidFill>
            <a:prstDash val="solid"/>
          </a:ln>
        </p:spPr>
      </p:sp>
      <p:sp>
        <p:nvSpPr>
          <p:cNvPr id="26" name="">
            <a:extLst xmlns:a="http://schemas.openxmlformats.org/drawingml/2006/main">
              <a:ext uri="{FF2B5EF4-FFF2-40B4-BE49-F238E27FC236}">
                <a16:creationId xmlns:a16="http://schemas.microsoft.com/office/drawing/2014/main" id="{2724DF7D-FA70-4834-8DD6-106BDAD6162A}"/>
              </a:ext>
            </a:extLst>
          </p:cNvPr>
          <p:cNvSpPr>
            <a:spLocks xmlns:a="http://schemas.openxmlformats.org/drawingml/2006/main" noGrp="1"/>
          </p:cNvSpPr>
          <p:nvPr/>
        </p:nvSpPr>
        <p:spPr>
          <a:xfrm xmlns:a="http://schemas.openxmlformats.org/drawingml/2006/main">
            <a:off x="8210550" y="325755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4</a:t>
            </a:r>
          </a:p>
        </p:txBody>
      </p:sp>
      <p:sp>
        <p:nvSpPr>
          <p:cNvPr id="27" name="">
            <a:extLst xmlns:a="http://schemas.openxmlformats.org/drawingml/2006/main">
              <a:ext uri="{FF2B5EF4-FFF2-40B4-BE49-F238E27FC236}">
                <a16:creationId xmlns:a16="http://schemas.microsoft.com/office/drawing/2014/main" id="{4C115009-DE75-443F-955A-3950EF86A3C3}"/>
              </a:ext>
            </a:extLst>
          </p:cNvPr>
          <p:cNvSpPr>
            <a:spLocks xmlns:a="http://schemas.openxmlformats.org/drawingml/2006/main" noGrp="1"/>
          </p:cNvSpPr>
          <p:nvPr/>
        </p:nvSpPr>
        <p:spPr>
          <a:xfrm xmlns:a="http://schemas.openxmlformats.org/drawingml/2006/main">
            <a:off x="666750" y="33813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1</a:t>
            </a:r>
          </a:p>
        </p:txBody>
      </p:sp>
      <p:sp>
        <p:nvSpPr>
          <p:cNvPr id="28" name="">
            <a:extLst xmlns:a="http://schemas.openxmlformats.org/drawingml/2006/main">
              <a:ext uri="{FF2B5EF4-FFF2-40B4-BE49-F238E27FC236}">
                <a16:creationId xmlns:a16="http://schemas.microsoft.com/office/drawing/2014/main" id="{6C32CD02-7BD5-4D20-BF13-3F9FDC844CAB}"/>
              </a:ext>
            </a:extLst>
          </p:cNvPr>
          <p:cNvSpPr>
            <a:spLocks xmlns:a="http://schemas.openxmlformats.org/drawingml/2006/main" noGrp="1"/>
          </p:cNvSpPr>
          <p:nvPr/>
        </p:nvSpPr>
        <p:spPr>
          <a:xfrm xmlns:a="http://schemas.openxmlformats.org/drawingml/2006/main">
            <a:off x="8858250" y="3390900"/>
            <a:ext cx="8096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D97706"/>
                </a:solidFill>
              </a:defRPr>
            </a:defPPr>
          </a:lstStyle>
          <a:p xmlns:a="http://schemas.openxmlformats.org/drawingml/2006/main">
            <a:pPr algn="l">
              <a:defRPr sz="900" b="1">
                <a:solidFill>
                  <a:srgbClr val="D97706"/>
                </a:solidFill>
              </a:defRPr>
            </a:pPr>
            <a:r>
              <a:rPr sz="900" b="1">
                <a:solidFill>
                  <a:srgbClr val="D97706"/>
                </a:solidFill>
              </a:rPr>
              <a:t>carried</a:t>
            </a:r>
          </a:p>
        </p:txBody>
      </p:sp>
      <p:sp>
        <p:nvSpPr>
          <p:cNvPr id="29" name="">
            <a:extLst xmlns:a="http://schemas.openxmlformats.org/drawingml/2006/main">
              <a:ext uri="{FF2B5EF4-FFF2-40B4-BE49-F238E27FC236}">
                <a16:creationId xmlns:a16="http://schemas.microsoft.com/office/drawing/2014/main" id="{6062A053-6E1D-49D0-9448-B16B6B88DDEF}"/>
              </a:ext>
            </a:extLst>
          </p:cNvPr>
          <p:cNvSpPr>
            <a:spLocks xmlns:a="http://schemas.openxmlformats.org/drawingml/2006/main" noGrp="1"/>
          </p:cNvSpPr>
          <p:nvPr/>
        </p:nvSpPr>
        <p:spPr>
          <a:xfrm xmlns:a="http://schemas.openxmlformats.org/drawingml/2006/main" flipH="0" flipV="0">
            <a:off x="2476500" y="3800475"/>
            <a:ext cx="171450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0" name="">
            <a:extLst xmlns:a="http://schemas.openxmlformats.org/drawingml/2006/main">
              <a:ext uri="{FF2B5EF4-FFF2-40B4-BE49-F238E27FC236}">
                <a16:creationId xmlns:a16="http://schemas.microsoft.com/office/drawing/2014/main" id="{80775FA9-90AD-4285-8A30-A0FDDF46F6D4}"/>
              </a:ext>
            </a:extLst>
          </p:cNvPr>
          <p:cNvSpPr>
            <a:spLocks xmlns:a="http://schemas.openxmlformats.org/drawingml/2006/main" noGrp="1"/>
          </p:cNvSpPr>
          <p:nvPr/>
        </p:nvSpPr>
        <p:spPr>
          <a:xfrm xmlns:a="http://schemas.openxmlformats.org/drawingml/2006/main" flipH="1" flipV="0">
            <a:off x="4191000" y="3800475"/>
            <a:ext cx="4286250"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1" name="">
            <a:extLst xmlns:a="http://schemas.openxmlformats.org/drawingml/2006/main">
              <a:ext uri="{FF2B5EF4-FFF2-40B4-BE49-F238E27FC236}">
                <a16:creationId xmlns:a16="http://schemas.microsoft.com/office/drawing/2014/main" id="{988D3F17-BE04-47F8-BCDA-A11A3ACA6484}"/>
              </a:ext>
            </a:extLst>
          </p:cNvPr>
          <p:cNvSpPr>
            <a:spLocks xmlns:a="http://schemas.openxmlformats.org/drawingml/2006/main" noGrp="1"/>
          </p:cNvSpPr>
          <p:nvPr/>
        </p:nvSpPr>
        <p:spPr>
          <a:xfrm xmlns:a="http://schemas.openxmlformats.org/drawingml/2006/main" flipH="0" flipV="0">
            <a:off x="5905500" y="3800475"/>
            <a:ext cx="857250" cy="457200"/>
          </a:xfrm>
          <a:prstGeom xmlns:a="http://schemas.openxmlformats.org/drawingml/2006/main" prst="line">
            <a:avLst/>
          </a:prstGeom>
          <a:noFill xmlns:a="http://schemas.openxmlformats.org/drawingml/2006/main"/>
          <a:ln xmlns:a="http://schemas.openxmlformats.org/drawingml/2006/main" w="19050">
            <a:solidFill>
              <a:srgbClr val="D97706"/>
            </a:solidFill>
            <a:prstDash val="solid"/>
          </a:ln>
        </p:spPr>
      </p:sp>
      <p:sp>
        <p:nvSpPr>
          <p:cNvPr id="32" name="">
            <a:extLst xmlns:a="http://schemas.openxmlformats.org/drawingml/2006/main">
              <a:ext uri="{FF2B5EF4-FFF2-40B4-BE49-F238E27FC236}">
                <a16:creationId xmlns:a16="http://schemas.microsoft.com/office/drawing/2014/main" id="{B8A36D9C-29C0-42FA-A194-44C252720C89}"/>
              </a:ext>
            </a:extLst>
          </p:cNvPr>
          <p:cNvSpPr>
            <a:spLocks xmlns:a="http://schemas.openxmlformats.org/drawingml/2006/main" noGrp="1"/>
          </p:cNvSpPr>
          <p:nvPr/>
        </p:nvSpPr>
        <p:spPr>
          <a:xfrm xmlns:a="http://schemas.openxmlformats.org/drawingml/2006/main">
            <a:off x="3924300" y="4305300"/>
            <a:ext cx="533400" cy="5334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sp>
      <p:sp>
        <p:nvSpPr>
          <p:cNvPr id="33" name="">
            <a:extLst xmlns:a="http://schemas.openxmlformats.org/drawingml/2006/main">
              <a:ext uri="{FF2B5EF4-FFF2-40B4-BE49-F238E27FC236}">
                <a16:creationId xmlns:a16="http://schemas.microsoft.com/office/drawing/2014/main" id="{E217DC1C-812C-4A1C-8967-8961B424464F}"/>
              </a:ext>
            </a:extLst>
          </p:cNvPr>
          <p:cNvSpPr>
            <a:spLocks xmlns:a="http://schemas.openxmlformats.org/drawingml/2006/main" noGrp="1"/>
          </p:cNvSpPr>
          <p:nvPr/>
        </p:nvSpPr>
        <p:spPr>
          <a:xfrm xmlns:a="http://schemas.openxmlformats.org/drawingml/2006/main">
            <a:off x="3924300" y="43053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11</a:t>
            </a:r>
          </a:p>
        </p:txBody>
      </p:sp>
      <p:sp>
        <p:nvSpPr>
          <p:cNvPr id="34" name="">
            <a:extLst xmlns:a="http://schemas.openxmlformats.org/drawingml/2006/main">
              <a:ext uri="{FF2B5EF4-FFF2-40B4-BE49-F238E27FC236}">
                <a16:creationId xmlns:a16="http://schemas.microsoft.com/office/drawing/2014/main" id="{6EFD1C28-7DA7-49B9-BBE4-BB61BBF1665F}"/>
              </a:ext>
            </a:extLst>
          </p:cNvPr>
          <p:cNvSpPr>
            <a:spLocks xmlns:a="http://schemas.openxmlformats.org/drawingml/2006/main" noGrp="1"/>
          </p:cNvSpPr>
          <p:nvPr/>
        </p:nvSpPr>
        <p:spPr>
          <a:xfrm xmlns:a="http://schemas.openxmlformats.org/drawingml/2006/main">
            <a:off x="6496050" y="4305300"/>
            <a:ext cx="533400" cy="533400"/>
          </a:xfrm>
          <a:prstGeom xmlns:a="http://schemas.openxmlformats.org/drawingml/2006/main" prst="ellipse">
            <a:avLst/>
          </a:prstGeom>
          <a:solidFill xmlns:a="http://schemas.openxmlformats.org/drawingml/2006/main">
            <a:srgbClr val="FEF3C7"/>
          </a:solidFill>
          <a:ln xmlns:a="http://schemas.openxmlformats.org/drawingml/2006/main" w="19050">
            <a:solidFill>
              <a:srgbClr val="D97706"/>
            </a:solidFill>
            <a:prstDash val="solid"/>
          </a:ln>
        </p:spPr>
      </p:sp>
      <p:sp>
        <p:nvSpPr>
          <p:cNvPr id="35" name="">
            <a:extLst xmlns:a="http://schemas.openxmlformats.org/drawingml/2006/main">
              <a:ext uri="{FF2B5EF4-FFF2-40B4-BE49-F238E27FC236}">
                <a16:creationId xmlns:a16="http://schemas.microsoft.com/office/drawing/2014/main" id="{D49434CC-8FD7-40C2-9020-DF2885EEB554}"/>
              </a:ext>
            </a:extLst>
          </p:cNvPr>
          <p:cNvSpPr>
            <a:spLocks xmlns:a="http://schemas.openxmlformats.org/drawingml/2006/main" noGrp="1"/>
          </p:cNvSpPr>
          <p:nvPr/>
        </p:nvSpPr>
        <p:spPr>
          <a:xfrm xmlns:a="http://schemas.openxmlformats.org/drawingml/2006/main">
            <a:off x="6496050" y="43053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9</a:t>
            </a:r>
          </a:p>
        </p:txBody>
      </p:sp>
      <p:sp>
        <p:nvSpPr>
          <p:cNvPr id="36" name="">
            <a:extLst xmlns:a="http://schemas.openxmlformats.org/drawingml/2006/main">
              <a:ext uri="{FF2B5EF4-FFF2-40B4-BE49-F238E27FC236}">
                <a16:creationId xmlns:a16="http://schemas.microsoft.com/office/drawing/2014/main" id="{48B78A58-C199-49AB-8EEC-4172375BBFF6}"/>
              </a:ext>
            </a:extLst>
          </p:cNvPr>
          <p:cNvSpPr>
            <a:spLocks xmlns:a="http://schemas.openxmlformats.org/drawingml/2006/main" noGrp="1"/>
          </p:cNvSpPr>
          <p:nvPr/>
        </p:nvSpPr>
        <p:spPr>
          <a:xfrm xmlns:a="http://schemas.openxmlformats.org/drawingml/2006/main">
            <a:off x="666750" y="4429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2</a:t>
            </a:r>
          </a:p>
        </p:txBody>
      </p:sp>
      <p:sp>
        <p:nvSpPr>
          <p:cNvPr id="37" name="">
            <a:extLst xmlns:a="http://schemas.openxmlformats.org/drawingml/2006/main">
              <a:ext uri="{FF2B5EF4-FFF2-40B4-BE49-F238E27FC236}">
                <a16:creationId xmlns:a16="http://schemas.microsoft.com/office/drawing/2014/main" id="{49D72361-5977-4F7C-B990-78CEA50D9097}"/>
              </a:ext>
            </a:extLst>
          </p:cNvPr>
          <p:cNvSpPr>
            <a:spLocks xmlns:a="http://schemas.openxmlformats.org/drawingml/2006/main" noGrp="1"/>
          </p:cNvSpPr>
          <p:nvPr/>
        </p:nvSpPr>
        <p:spPr>
          <a:xfrm xmlns:a="http://schemas.openxmlformats.org/drawingml/2006/main" flipH="0" flipV="0">
            <a:off x="4191000" y="4848225"/>
            <a:ext cx="1285875"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8" name="">
            <a:extLst xmlns:a="http://schemas.openxmlformats.org/drawingml/2006/main">
              <a:ext uri="{FF2B5EF4-FFF2-40B4-BE49-F238E27FC236}">
                <a16:creationId xmlns:a16="http://schemas.microsoft.com/office/drawing/2014/main" id="{9DBE9194-67A8-430C-B060-C71D58C0C907}"/>
              </a:ext>
            </a:extLst>
          </p:cNvPr>
          <p:cNvSpPr>
            <a:spLocks xmlns:a="http://schemas.openxmlformats.org/drawingml/2006/main" noGrp="1"/>
          </p:cNvSpPr>
          <p:nvPr/>
        </p:nvSpPr>
        <p:spPr>
          <a:xfrm xmlns:a="http://schemas.openxmlformats.org/drawingml/2006/main" flipH="1" flipV="0">
            <a:off x="5476875" y="4848225"/>
            <a:ext cx="1285875" cy="457200"/>
          </a:xfrm>
          <a:prstGeom xmlns:a="http://schemas.openxmlformats.org/drawingml/2006/main" prst="line">
            <a:avLst/>
          </a:prstGeom>
          <a:noFill xmlns:a="http://schemas.openxmlformats.org/drawingml/2006/main"/>
          <a:ln xmlns:a="http://schemas.openxmlformats.org/drawingml/2006/main" w="19050">
            <a:solidFill>
              <a:srgbClr val="2563EB"/>
            </a:solidFill>
            <a:prstDash val="solid"/>
          </a:ln>
        </p:spPr>
      </p:sp>
      <p:sp>
        <p:nvSpPr>
          <p:cNvPr id="39" name="">
            <a:extLst xmlns:a="http://schemas.openxmlformats.org/drawingml/2006/main">
              <a:ext uri="{FF2B5EF4-FFF2-40B4-BE49-F238E27FC236}">
                <a16:creationId xmlns:a16="http://schemas.microsoft.com/office/drawing/2014/main" id="{CB641CC7-31FD-4BF7-BF91-1553C7CE2189}"/>
              </a:ext>
            </a:extLst>
          </p:cNvPr>
          <p:cNvSpPr>
            <a:spLocks xmlns:a="http://schemas.openxmlformats.org/drawingml/2006/main" noGrp="1"/>
          </p:cNvSpPr>
          <p:nvPr/>
        </p:nvSpPr>
        <p:spPr>
          <a:xfrm xmlns:a="http://schemas.openxmlformats.org/drawingml/2006/main">
            <a:off x="5172075" y="5314950"/>
            <a:ext cx="609600" cy="609600"/>
          </a:xfrm>
          <a:prstGeom xmlns:a="http://schemas.openxmlformats.org/drawingml/2006/main" prst="ellipse">
            <a:avLst/>
          </a:prstGeom>
          <a:solidFill xmlns:a="http://schemas.openxmlformats.org/drawingml/2006/main">
            <a:srgbClr val="DCFCE7"/>
          </a:solidFill>
          <a:ln xmlns:a="http://schemas.openxmlformats.org/drawingml/2006/main" w="28575">
            <a:solidFill>
              <a:srgbClr val="16A34A"/>
            </a:solidFill>
            <a:prstDash val="solid"/>
          </a:ln>
        </p:spPr>
      </p:sp>
      <p:sp>
        <p:nvSpPr>
          <p:cNvPr id="40" name="">
            <a:extLst xmlns:a="http://schemas.openxmlformats.org/drawingml/2006/main">
              <a:ext uri="{FF2B5EF4-FFF2-40B4-BE49-F238E27FC236}">
                <a16:creationId xmlns:a16="http://schemas.microsoft.com/office/drawing/2014/main" id="{DBDDB329-87DB-4B03-883D-185044B28D88}"/>
              </a:ext>
            </a:extLst>
          </p:cNvPr>
          <p:cNvSpPr>
            <a:spLocks xmlns:a="http://schemas.openxmlformats.org/drawingml/2006/main" noGrp="1"/>
          </p:cNvSpPr>
          <p:nvPr/>
        </p:nvSpPr>
        <p:spPr>
          <a:xfrm xmlns:a="http://schemas.openxmlformats.org/drawingml/2006/main">
            <a:off x="5172075" y="5314950"/>
            <a:ext cx="6096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2033"/>
                </a:solidFill>
              </a:defRPr>
            </a:defPPr>
          </a:lstStyle>
          <a:p xmlns:a="http://schemas.openxmlformats.org/drawingml/2006/main">
            <a:pPr algn="ctr">
              <a:defRPr sz="1200" b="1">
                <a:solidFill>
                  <a:srgbClr val="172033"/>
                </a:solidFill>
              </a:defRPr>
            </a:pPr>
            <a:r>
              <a:rPr sz="1200" b="1">
                <a:solidFill>
                  <a:srgbClr val="172033"/>
                </a:solidFill>
              </a:rPr>
              <a:t>20</a:t>
            </a:r>
          </a:p>
        </p:txBody>
      </p:sp>
      <p:sp>
        <p:nvSpPr>
          <p:cNvPr id="41" name="">
            <a:extLst xmlns:a="http://schemas.openxmlformats.org/drawingml/2006/main">
              <a:ext uri="{FF2B5EF4-FFF2-40B4-BE49-F238E27FC236}">
                <a16:creationId xmlns:a16="http://schemas.microsoft.com/office/drawing/2014/main" id="{5E7D786F-6FA6-4009-88DA-DF04A351C173}"/>
              </a:ext>
            </a:extLst>
          </p:cNvPr>
          <p:cNvSpPr>
            <a:spLocks xmlns:a="http://schemas.openxmlformats.org/drawingml/2006/main" noGrp="1"/>
          </p:cNvSpPr>
          <p:nvPr/>
        </p:nvSpPr>
        <p:spPr>
          <a:xfrm xmlns:a="http://schemas.openxmlformats.org/drawingml/2006/main">
            <a:off x="666750" y="547687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00" b="1">
                <a:solidFill>
                  <a:srgbClr val="64748B"/>
                </a:solidFill>
              </a:defRPr>
            </a:defPPr>
          </a:lstStyle>
          <a:p xmlns:a="http://schemas.openxmlformats.org/drawingml/2006/main">
            <a:pPr algn="l">
              <a:defRPr sz="900" b="1">
                <a:solidFill>
                  <a:srgbClr val="64748B"/>
                </a:solidFill>
              </a:defRPr>
            </a:pPr>
            <a:r>
              <a:rPr sz="900" b="1">
                <a:solidFill>
                  <a:srgbClr val="64748B"/>
                </a:solidFill>
              </a:rPr>
              <a:t>LEVEL 3</a:t>
            </a:r>
          </a:p>
        </p:txBody>
      </p:sp>
      <p:sp>
        <p:nvSpPr>
          <p:cNvPr id="42" name="">
            <a:extLst xmlns:a="http://schemas.openxmlformats.org/drawingml/2006/main">
              <a:ext uri="{FF2B5EF4-FFF2-40B4-BE49-F238E27FC236}">
                <a16:creationId xmlns:a16="http://schemas.microsoft.com/office/drawing/2014/main" id="{346B49B4-E64B-4F7C-B36C-EF9BADFE48F4}"/>
              </a:ext>
            </a:extLst>
          </p:cNvPr>
          <p:cNvSpPr>
            <a:spLocks xmlns:a="http://schemas.openxmlformats.org/drawingml/2006/main" noGrp="1"/>
          </p:cNvSpPr>
          <p:nvPr/>
        </p:nvSpPr>
        <p:spPr>
          <a:xfrm xmlns:a="http://schemas.openxmlformats.org/drawingml/2006/main">
            <a:off x="9715500" y="23336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0B1739"/>
                </a:solidFill>
              </a:defRPr>
            </a:defPPr>
          </a:lstStyle>
          <a:p xmlns:a="http://schemas.openxmlformats.org/drawingml/2006/main">
            <a:pPr algn="l">
              <a:defRPr sz="1650" b="1">
                <a:solidFill>
                  <a:srgbClr val="0B1739"/>
                </a:solidFill>
              </a:defRPr>
            </a:pPr>
            <a:r>
              <a:rPr sz="1650" b="1">
                <a:solidFill>
                  <a:srgbClr val="0B1739"/>
                </a:solidFill>
              </a:rPr>
              <a:t>General guarantee</a:t>
            </a:r>
          </a:p>
        </p:txBody>
      </p:sp>
      <p:sp>
        <p:nvSpPr>
          <p:cNvPr id="43" name="">
            <a:extLst xmlns:a="http://schemas.openxmlformats.org/drawingml/2006/main">
              <a:ext uri="{FF2B5EF4-FFF2-40B4-BE49-F238E27FC236}">
                <a16:creationId xmlns:a16="http://schemas.microsoft.com/office/drawing/2014/main" id="{61918D96-2583-40F5-93DC-C8F4A67F1C75}"/>
              </a:ext>
            </a:extLst>
          </p:cNvPr>
          <p:cNvSpPr>
            <a:spLocks xmlns:a="http://schemas.openxmlformats.org/drawingml/2006/main" noGrp="1"/>
          </p:cNvSpPr>
          <p:nvPr/>
        </p:nvSpPr>
        <p:spPr>
          <a:xfrm xmlns:a="http://schemas.openxmlformats.org/drawingml/2006/main">
            <a:off x="9715500" y="2838450"/>
            <a:ext cx="1809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Every input occurrence survives</a:t>
            </a:r>
          </a:p>
          <a:p xmlns:a="http://schemas.openxmlformats.org/drawingml/2006/main">
            <a:r>
              <a:t/>
            </a:r>
          </a:p>
          <a:p xmlns:a="http://schemas.openxmlformats.org/drawingml/2006/main">
            <a:pPr algn="l">
              <a:defRPr sz="1500" b="0">
                <a:solidFill>
                  <a:srgbClr val="172033"/>
                </a:solidFill>
              </a:defRPr>
            </a:pPr>
            <a:r>
              <a:rPr sz="1500" b="0">
                <a:solidFill>
                  <a:srgbClr val="172033"/>
                </a:solidFill>
              </a:rPr>
              <a:t>Carries add no rounding operation</a:t>
            </a:r>
          </a:p>
          <a:p xmlns:a="http://schemas.openxmlformats.org/drawingml/2006/main">
            <a:r>
              <a:t/>
            </a:r>
          </a:p>
          <a:p xmlns:a="http://schemas.openxmlformats.org/drawingml/2006/main">
            <a:pPr algn="l">
              <a:defRPr sz="1500" b="0">
                <a:solidFill>
                  <a:srgbClr val="172033"/>
                </a:solidFill>
              </a:defRPr>
            </a:pPr>
            <a:r>
              <a:rPr sz="1500" b="0">
                <a:solidFill>
                  <a:srgbClr val="172033"/>
                </a:solidFill>
              </a:rPr>
              <a:t>L = ⌈log₂ n⌉</a:t>
            </a:r>
          </a:p>
          <a:p xmlns:a="http://schemas.openxmlformats.org/drawingml/2006/main">
            <a:pPr algn="l">
              <a:defRPr sz="1500" b="0">
                <a:solidFill>
                  <a:srgbClr val="172033"/>
                </a:solidFill>
              </a:defRPr>
            </a:pPr>
            <a:r>
              <a:rPr sz="1500" b="0">
                <a:solidFill>
                  <a:srgbClr val="172033"/>
                </a:solidFill>
              </a:rPr>
              <a:t>Depth ≤ L</a:t>
            </a:r>
          </a:p>
        </p:txBody>
      </p:sp>
      <p:sp>
        <p:nvSpPr>
          <p:cNvPr id="44" name="">
            <a:extLst xmlns:a="http://schemas.openxmlformats.org/drawingml/2006/main">
              <a:ext uri="{FF2B5EF4-FFF2-40B4-BE49-F238E27FC236}">
                <a16:creationId xmlns:a16="http://schemas.microsoft.com/office/drawing/2014/main" id="{5264C46E-A6F8-441D-B645-C2C11682C53E}"/>
              </a:ext>
            </a:extLst>
          </p:cNvPr>
          <p:cNvSpPr>
            <a:spLocks xmlns:a="http://schemas.openxmlformats.org/drawingml/2006/main" noGrp="1"/>
          </p:cNvSpPr>
          <p:nvPr/>
        </p:nvSpPr>
        <p:spPr>
          <a:xfrm xmlns:a="http://schemas.openxmlformats.org/drawingml/2006/main">
            <a:off x="1714500" y="605790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0B1739"/>
                </a:solidFill>
              </a:defRPr>
            </a:defPPr>
          </a:lstStyle>
          <a:p xmlns:a="http://schemas.openxmlformats.org/drawingml/2006/main">
            <a:pPr algn="ctr">
              <a:defRPr sz="1725" b="1">
                <a:solidFill>
                  <a:srgbClr val="0B1739"/>
                </a:solidFill>
              </a:defRPr>
            </a:pPr>
            <a:r>
              <a:rPr sz="1725" b="1">
                <a:solidFill>
                  <a:srgbClr val="0B1739"/>
                </a:solidFill>
              </a:rPr>
              <a:t>ŷ = Σᵢ (xᵢ + Δxᵢ)     |Δxᵢ| ≤ γ_L |xᵢ|     γ_L = Lu / (1 − Lu)</a:t>
            </a:r>
          </a:p>
        </p:txBody>
      </p:sp>
      <p:sp>
        <p:nvSpPr>
          <p:cNvPr id="45" name="">
            <a:extLst xmlns:a="http://schemas.openxmlformats.org/drawingml/2006/main">
              <a:ext uri="{FF2B5EF4-FFF2-40B4-BE49-F238E27FC236}">
                <a16:creationId xmlns:a16="http://schemas.microsoft.com/office/drawing/2014/main" id="{B46D82B2-A073-4513-9F3B-F35212E393FA}"/>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Abstract relative-error model, Lu &lt; 1. IEEE 754 bit semantics and probabilistic bounds remain outside this result.</a:t>
            </a:r>
          </a:p>
        </p:txBody>
      </p:sp>
    </p:spTree>
    <p:extLst>
      <p:ext uri="{BB962C8B-B14F-4D97-AF65-F5344CB8AC3E}">
        <p14:creationId xmlns:p14="http://schemas.microsoft.com/office/powerpoint/2010/main" val="2538426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EECDC6B-FFB8-456A-BF8E-7385323FC6CB}"/>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02</a:t>
            </a:r>
          </a:p>
        </p:txBody>
      </p:sp>
      <p:sp>
        <p:nvSpPr>
          <p:cNvPr id="2" name="">
            <a:extLst xmlns:a="http://schemas.openxmlformats.org/drawingml/2006/main">
              <a:ext uri="{FF2B5EF4-FFF2-40B4-BE49-F238E27FC236}">
                <a16:creationId xmlns:a16="http://schemas.microsoft.com/office/drawing/2014/main" id="{04F4C42A-639E-47D0-BF5F-65A1BEE10F45}"/>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Proof pipeline and instruction fidelity</a:t>
            </a:r>
          </a:p>
        </p:txBody>
      </p:sp>
      <p:sp>
        <p:nvSpPr>
          <p:cNvPr id="3" name="">
            <a:extLst xmlns:a="http://schemas.openxmlformats.org/drawingml/2006/main">
              <a:ext uri="{FF2B5EF4-FFF2-40B4-BE49-F238E27FC236}">
                <a16:creationId xmlns:a16="http://schemas.microsoft.com/office/drawing/2014/main" id="{C21B8F67-DFC0-4E54-A654-FCAA8EAEC9EF}"/>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3615D666-0C8F-40A7-932F-B751CBBB31EE}"/>
              </a:ext>
            </a:extLst>
          </p:cNvPr>
          <p:cNvSpPr>
            <a:spLocks xmlns:a="http://schemas.openxmlformats.org/drawingml/2006/main" noGrp="1"/>
          </p:cNvSpPr>
          <p:nvPr/>
        </p:nvSpPr>
        <p:spPr>
          <a:xfrm xmlns:a="http://schemas.openxmlformats.org/drawingml/2006/main">
            <a:off x="666750" y="14573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The agent proposes Lean code. Formal checking and semantic review provide separate acceptance gates.</a:t>
            </a:r>
          </a:p>
        </p:txBody>
      </p:sp>
      <p:sp>
        <p:nvSpPr>
          <p:cNvPr id="5" name="">
            <a:extLst xmlns:a="http://schemas.openxmlformats.org/drawingml/2006/main">
              <a:ext uri="{FF2B5EF4-FFF2-40B4-BE49-F238E27FC236}">
                <a16:creationId xmlns:a16="http://schemas.microsoft.com/office/drawing/2014/main" id="{690DB68E-2EFE-4185-9242-055C7E7CC25E}"/>
              </a:ext>
            </a:extLst>
          </p:cNvPr>
          <p:cNvSpPr>
            <a:spLocks xmlns:a="http://schemas.openxmlformats.org/drawingml/2006/main" noGrp="1"/>
          </p:cNvSpPr>
          <p:nvPr/>
        </p:nvSpPr>
        <p:spPr>
          <a:xfrm xmlns:a="http://schemas.openxmlformats.org/drawingml/2006/main" flipH="0" flipV="0">
            <a:off x="3000375" y="2743200"/>
            <a:ext cx="4762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6" name="">
            <a:extLst xmlns:a="http://schemas.openxmlformats.org/drawingml/2006/main">
              <a:ext uri="{FF2B5EF4-FFF2-40B4-BE49-F238E27FC236}">
                <a16:creationId xmlns:a16="http://schemas.microsoft.com/office/drawing/2014/main" id="{221AEC63-38E3-4F94-A9DB-FD21573F427F}"/>
              </a:ext>
            </a:extLst>
          </p:cNvPr>
          <p:cNvSpPr>
            <a:spLocks xmlns:a="http://schemas.openxmlformats.org/drawingml/2006/main" noGrp="1"/>
          </p:cNvSpPr>
          <p:nvPr/>
        </p:nvSpPr>
        <p:spPr>
          <a:xfrm xmlns:a="http://schemas.openxmlformats.org/drawingml/2006/main">
            <a:off x="666750" y="2190750"/>
            <a:ext cx="2333625" cy="1143000"/>
          </a:xfrm>
          <a:prstGeom xmlns:a="http://schemas.openxmlformats.org/drawingml/2006/main" prst="roundRect">
            <a:avLst>
              <a:gd name="adj" fmla="val 6667"/>
            </a:avLst>
          </a:prstGeom>
          <a:solidFill xmlns:a="http://schemas.openxmlformats.org/drawingml/2006/main">
            <a:srgbClr val="F7F9FC"/>
          </a:solidFill>
          <a:ln xmlns:a="http://schemas.openxmlformats.org/drawingml/2006/main" w="9525">
            <a:solidFill>
              <a:srgbClr val="CBD5E1"/>
            </a:solidFill>
            <a:prstDash val="solid"/>
          </a:ln>
        </p:spPr>
      </p:sp>
      <p:sp>
        <p:nvSpPr>
          <p:cNvPr id="7" name="">
            <a:extLst xmlns:a="http://schemas.openxmlformats.org/drawingml/2006/main">
              <a:ext uri="{FF2B5EF4-FFF2-40B4-BE49-F238E27FC236}">
                <a16:creationId xmlns:a16="http://schemas.microsoft.com/office/drawing/2014/main" id="{B199FE2E-F07A-4624-8A86-A0D8883F835D}"/>
              </a:ext>
            </a:extLst>
          </p:cNvPr>
          <p:cNvSpPr>
            <a:spLocks xmlns:a="http://schemas.openxmlformats.org/drawingml/2006/main" noGrp="1"/>
          </p:cNvSpPr>
          <p:nvPr/>
        </p:nvSpPr>
        <p:spPr>
          <a:xfrm xmlns:a="http://schemas.openxmlformats.org/drawingml/2006/main">
            <a:off x="819150"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Specify</a:t>
            </a:r>
          </a:p>
        </p:txBody>
      </p:sp>
      <p:sp>
        <p:nvSpPr>
          <p:cNvPr id="8" name="">
            <a:extLst xmlns:a="http://schemas.openxmlformats.org/drawingml/2006/main">
              <a:ext uri="{FF2B5EF4-FFF2-40B4-BE49-F238E27FC236}">
                <a16:creationId xmlns:a16="http://schemas.microsoft.com/office/drawing/2014/main" id="{F80B0AC2-FF47-4930-B42A-B723ADBC1DA2}"/>
              </a:ext>
            </a:extLst>
          </p:cNvPr>
          <p:cNvSpPr>
            <a:spLocks xmlns:a="http://schemas.openxmlformats.org/drawingml/2006/main" noGrp="1"/>
          </p:cNvSpPr>
          <p:nvPr/>
        </p:nvSpPr>
        <p:spPr>
          <a:xfrm xmlns:a="http://schemas.openxmlformats.org/drawingml/2006/main">
            <a:off x="819150"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Paper assumptions</a:t>
            </a:r>
          </a:p>
          <a:p xmlns:a="http://schemas.openxmlformats.org/drawingml/2006/main">
            <a:pPr algn="l">
              <a:defRPr sz="1425" b="0">
                <a:solidFill>
                  <a:srgbClr val="172033"/>
                </a:solidFill>
              </a:defRPr>
            </a:pPr>
            <a:r>
              <a:rPr sz="1425" b="0">
                <a:solidFill>
                  <a:srgbClr val="172033"/>
                </a:solidFill>
              </a:rPr>
              <a:t>Lean statement</a:t>
            </a:r>
          </a:p>
        </p:txBody>
      </p:sp>
      <p:sp>
        <p:nvSpPr>
          <p:cNvPr id="9" name="">
            <a:extLst xmlns:a="http://schemas.openxmlformats.org/drawingml/2006/main">
              <a:ext uri="{FF2B5EF4-FFF2-40B4-BE49-F238E27FC236}">
                <a16:creationId xmlns:a16="http://schemas.microsoft.com/office/drawing/2014/main" id="{58E9A46B-56FB-4FD4-8391-76C5408F7034}"/>
              </a:ext>
            </a:extLst>
          </p:cNvPr>
          <p:cNvSpPr>
            <a:spLocks xmlns:a="http://schemas.openxmlformats.org/drawingml/2006/main" noGrp="1"/>
          </p:cNvSpPr>
          <p:nvPr/>
        </p:nvSpPr>
        <p:spPr>
          <a:xfrm xmlns:a="http://schemas.openxmlformats.org/drawingml/2006/main" flipH="0" flipV="0">
            <a:off x="5810250" y="2743200"/>
            <a:ext cx="4762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0" name="">
            <a:extLst xmlns:a="http://schemas.openxmlformats.org/drawingml/2006/main">
              <a:ext uri="{FF2B5EF4-FFF2-40B4-BE49-F238E27FC236}">
                <a16:creationId xmlns:a16="http://schemas.microsoft.com/office/drawing/2014/main" id="{345351EE-EF35-4FA7-885E-AC942A840394}"/>
              </a:ext>
            </a:extLst>
          </p:cNvPr>
          <p:cNvSpPr>
            <a:spLocks xmlns:a="http://schemas.openxmlformats.org/drawingml/2006/main" noGrp="1"/>
          </p:cNvSpPr>
          <p:nvPr/>
        </p:nvSpPr>
        <p:spPr>
          <a:xfrm xmlns:a="http://schemas.openxmlformats.org/drawingml/2006/main">
            <a:off x="3476625" y="2190750"/>
            <a:ext cx="2333625" cy="1143000"/>
          </a:xfrm>
          <a:prstGeom xmlns:a="http://schemas.openxmlformats.org/drawingml/2006/main" prst="roundRect">
            <a:avLst>
              <a:gd name="adj" fmla="val 6667"/>
            </a:avLst>
          </a:prstGeom>
          <a:solidFill xmlns:a="http://schemas.openxmlformats.org/drawingml/2006/main">
            <a:srgbClr val="F7F9FC"/>
          </a:solidFill>
          <a:ln xmlns:a="http://schemas.openxmlformats.org/drawingml/2006/main" w="9525">
            <a:solidFill>
              <a:srgbClr val="CBD5E1"/>
            </a:solidFill>
            <a:prstDash val="solid"/>
          </a:ln>
        </p:spPr>
      </p:sp>
      <p:sp>
        <p:nvSpPr>
          <p:cNvPr id="11" name="">
            <a:extLst xmlns:a="http://schemas.openxmlformats.org/drawingml/2006/main">
              <a:ext uri="{FF2B5EF4-FFF2-40B4-BE49-F238E27FC236}">
                <a16:creationId xmlns:a16="http://schemas.microsoft.com/office/drawing/2014/main" id="{C46289BF-BE9B-4047-92FD-F2A2D16C4801}"/>
              </a:ext>
            </a:extLst>
          </p:cNvPr>
          <p:cNvSpPr>
            <a:spLocks xmlns:a="http://schemas.openxmlformats.org/drawingml/2006/main" noGrp="1"/>
          </p:cNvSpPr>
          <p:nvPr/>
        </p:nvSpPr>
        <p:spPr>
          <a:xfrm xmlns:a="http://schemas.openxmlformats.org/drawingml/2006/main">
            <a:off x="3629025"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Construct</a:t>
            </a:r>
          </a:p>
        </p:txBody>
      </p:sp>
      <p:sp>
        <p:nvSpPr>
          <p:cNvPr id="12" name="">
            <a:extLst xmlns:a="http://schemas.openxmlformats.org/drawingml/2006/main">
              <a:ext uri="{FF2B5EF4-FFF2-40B4-BE49-F238E27FC236}">
                <a16:creationId xmlns:a16="http://schemas.microsoft.com/office/drawing/2014/main" id="{EC79F91E-F973-46DC-802E-EF3F96C78D40}"/>
              </a:ext>
            </a:extLst>
          </p:cNvPr>
          <p:cNvSpPr>
            <a:spLocks xmlns:a="http://schemas.openxmlformats.org/drawingml/2006/main" noGrp="1"/>
          </p:cNvSpPr>
          <p:nvPr/>
        </p:nvSpPr>
        <p:spPr>
          <a:xfrm xmlns:a="http://schemas.openxmlformats.org/drawingml/2006/main">
            <a:off x="3629025"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Small lemmas</a:t>
            </a:r>
          </a:p>
          <a:p xmlns:a="http://schemas.openxmlformats.org/drawingml/2006/main">
            <a:pPr algn="l">
              <a:defRPr sz="1425" b="0">
                <a:solidFill>
                  <a:srgbClr val="172033"/>
                </a:solidFill>
              </a:defRPr>
            </a:pPr>
            <a:r>
              <a:rPr sz="1425" b="0">
                <a:solidFill>
                  <a:srgbClr val="172033"/>
                </a:solidFill>
              </a:rPr>
              <a:t>Compile and repair</a:t>
            </a:r>
          </a:p>
        </p:txBody>
      </p:sp>
      <p:sp>
        <p:nvSpPr>
          <p:cNvPr id="13" name="">
            <a:extLst xmlns:a="http://schemas.openxmlformats.org/drawingml/2006/main">
              <a:ext uri="{FF2B5EF4-FFF2-40B4-BE49-F238E27FC236}">
                <a16:creationId xmlns:a16="http://schemas.microsoft.com/office/drawing/2014/main" id="{2AE73A0A-CF13-4C93-8E7E-1E44F111EC91}"/>
              </a:ext>
            </a:extLst>
          </p:cNvPr>
          <p:cNvSpPr>
            <a:spLocks xmlns:a="http://schemas.openxmlformats.org/drawingml/2006/main" noGrp="1"/>
          </p:cNvSpPr>
          <p:nvPr/>
        </p:nvSpPr>
        <p:spPr>
          <a:xfrm xmlns:a="http://schemas.openxmlformats.org/drawingml/2006/main" flipH="0" flipV="0">
            <a:off x="8620125" y="2743200"/>
            <a:ext cx="47625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4" name="">
            <a:extLst xmlns:a="http://schemas.openxmlformats.org/drawingml/2006/main">
              <a:ext uri="{FF2B5EF4-FFF2-40B4-BE49-F238E27FC236}">
                <a16:creationId xmlns:a16="http://schemas.microsoft.com/office/drawing/2014/main" id="{CD07C816-1D90-4400-BA9D-FEBB4F943C3E}"/>
              </a:ext>
            </a:extLst>
          </p:cNvPr>
          <p:cNvSpPr>
            <a:spLocks xmlns:a="http://schemas.openxmlformats.org/drawingml/2006/main" noGrp="1"/>
          </p:cNvSpPr>
          <p:nvPr/>
        </p:nvSpPr>
        <p:spPr>
          <a:xfrm xmlns:a="http://schemas.openxmlformats.org/drawingml/2006/main">
            <a:off x="6286500" y="2190750"/>
            <a:ext cx="2333625" cy="1143000"/>
          </a:xfrm>
          <a:prstGeom xmlns:a="http://schemas.openxmlformats.org/drawingml/2006/main" prst="roundRect">
            <a:avLst>
              <a:gd name="adj" fmla="val 6667"/>
            </a:avLst>
          </a:prstGeom>
          <a:solidFill xmlns:a="http://schemas.openxmlformats.org/drawingml/2006/main">
            <a:srgbClr val="DCFCE7"/>
          </a:solidFill>
          <a:ln xmlns:a="http://schemas.openxmlformats.org/drawingml/2006/main" w="9525">
            <a:solidFill>
              <a:srgbClr val="16A34A"/>
            </a:solidFill>
            <a:prstDash val="solid"/>
          </a:ln>
        </p:spPr>
      </p:sp>
      <p:sp>
        <p:nvSpPr>
          <p:cNvPr id="15" name="">
            <a:extLst xmlns:a="http://schemas.openxmlformats.org/drawingml/2006/main">
              <a:ext uri="{FF2B5EF4-FFF2-40B4-BE49-F238E27FC236}">
                <a16:creationId xmlns:a16="http://schemas.microsoft.com/office/drawing/2014/main" id="{2F26BEE0-023B-4554-BD58-9E2080A1FCCF}"/>
              </a:ext>
            </a:extLst>
          </p:cNvPr>
          <p:cNvSpPr>
            <a:spLocks xmlns:a="http://schemas.openxmlformats.org/drawingml/2006/main" noGrp="1"/>
          </p:cNvSpPr>
          <p:nvPr/>
        </p:nvSpPr>
        <p:spPr>
          <a:xfrm xmlns:a="http://schemas.openxmlformats.org/drawingml/2006/main">
            <a:off x="6438900"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Check</a:t>
            </a:r>
          </a:p>
        </p:txBody>
      </p:sp>
      <p:sp>
        <p:nvSpPr>
          <p:cNvPr id="16" name="">
            <a:extLst xmlns:a="http://schemas.openxmlformats.org/drawingml/2006/main">
              <a:ext uri="{FF2B5EF4-FFF2-40B4-BE49-F238E27FC236}">
                <a16:creationId xmlns:a16="http://schemas.microsoft.com/office/drawing/2014/main" id="{21EB83C9-CC3F-4A2E-AD6D-3EEF52C32BF7}"/>
              </a:ext>
            </a:extLst>
          </p:cNvPr>
          <p:cNvSpPr>
            <a:spLocks xmlns:a="http://schemas.openxmlformats.org/drawingml/2006/main" noGrp="1"/>
          </p:cNvSpPr>
          <p:nvPr/>
        </p:nvSpPr>
        <p:spPr>
          <a:xfrm xmlns:a="http://schemas.openxmlformats.org/drawingml/2006/main">
            <a:off x="6438900"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Full build + scans</a:t>
            </a:r>
          </a:p>
          <a:p xmlns:a="http://schemas.openxmlformats.org/drawingml/2006/main">
            <a:pPr algn="l">
              <a:defRPr sz="1425" b="0">
                <a:solidFill>
                  <a:srgbClr val="172033"/>
                </a:solidFill>
              </a:defRPr>
            </a:pPr>
            <a:r>
              <a:rPr sz="1425" b="0">
                <a:solidFill>
                  <a:srgbClr val="172033"/>
                </a:solidFill>
              </a:rPr>
              <a:t>Semantic review</a:t>
            </a:r>
          </a:p>
        </p:txBody>
      </p:sp>
      <p:sp>
        <p:nvSpPr>
          <p:cNvPr id="17" name="">
            <a:extLst xmlns:a="http://schemas.openxmlformats.org/drawingml/2006/main">
              <a:ext uri="{FF2B5EF4-FFF2-40B4-BE49-F238E27FC236}">
                <a16:creationId xmlns:a16="http://schemas.microsoft.com/office/drawing/2014/main" id="{81616E82-782A-40DB-9593-BF995CF0B48F}"/>
              </a:ext>
            </a:extLst>
          </p:cNvPr>
          <p:cNvSpPr>
            <a:spLocks xmlns:a="http://schemas.openxmlformats.org/drawingml/2006/main" noGrp="1"/>
          </p:cNvSpPr>
          <p:nvPr/>
        </p:nvSpPr>
        <p:spPr>
          <a:xfrm xmlns:a="http://schemas.openxmlformats.org/drawingml/2006/main">
            <a:off x="9096375" y="2190750"/>
            <a:ext cx="2333625" cy="1143000"/>
          </a:xfrm>
          <a:prstGeom xmlns:a="http://schemas.openxmlformats.org/drawingml/2006/main" prst="roundRect">
            <a:avLst>
              <a:gd name="adj" fmla="val 6667"/>
            </a:avLst>
          </a:prstGeom>
          <a:solidFill xmlns:a="http://schemas.openxmlformats.org/drawingml/2006/main">
            <a:srgbClr val="F7F9FC"/>
          </a:solidFill>
          <a:ln xmlns:a="http://schemas.openxmlformats.org/drawingml/2006/main" w="9525">
            <a:solidFill>
              <a:srgbClr val="CBD5E1"/>
            </a:solidFill>
            <a:prstDash val="solid"/>
          </a:ln>
        </p:spPr>
      </p:sp>
      <p:sp>
        <p:nvSpPr>
          <p:cNvPr id="18" name="">
            <a:extLst xmlns:a="http://schemas.openxmlformats.org/drawingml/2006/main">
              <a:ext uri="{FF2B5EF4-FFF2-40B4-BE49-F238E27FC236}">
                <a16:creationId xmlns:a16="http://schemas.microsoft.com/office/drawing/2014/main" id="{E845508C-937C-44F7-8241-C111EA7E46F8}"/>
              </a:ext>
            </a:extLst>
          </p:cNvPr>
          <p:cNvSpPr>
            <a:spLocks xmlns:a="http://schemas.openxmlformats.org/drawingml/2006/main" noGrp="1"/>
          </p:cNvSpPr>
          <p:nvPr/>
        </p:nvSpPr>
        <p:spPr>
          <a:xfrm xmlns:a="http://schemas.openxmlformats.org/drawingml/2006/main">
            <a:off x="9248775" y="2286000"/>
            <a:ext cx="2028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Record</a:t>
            </a:r>
          </a:p>
        </p:txBody>
      </p:sp>
      <p:sp>
        <p:nvSpPr>
          <p:cNvPr id="19" name="">
            <a:extLst xmlns:a="http://schemas.openxmlformats.org/drawingml/2006/main">
              <a:ext uri="{FF2B5EF4-FFF2-40B4-BE49-F238E27FC236}">
                <a16:creationId xmlns:a16="http://schemas.microsoft.com/office/drawing/2014/main" id="{303E3C02-2E18-4453-849E-D0905F4E4B2A}"/>
              </a:ext>
            </a:extLst>
          </p:cNvPr>
          <p:cNvSpPr>
            <a:spLocks xmlns:a="http://schemas.openxmlformats.org/drawingml/2006/main" noGrp="1"/>
          </p:cNvSpPr>
          <p:nvPr/>
        </p:nvSpPr>
        <p:spPr>
          <a:xfrm xmlns:a="http://schemas.openxmlformats.org/drawingml/2006/main">
            <a:off x="9248775" y="2695575"/>
            <a:ext cx="20288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Prompts and decisions</a:t>
            </a:r>
          </a:p>
          <a:p xmlns:a="http://schemas.openxmlformats.org/drawingml/2006/main">
            <a:pPr algn="l">
              <a:defRPr sz="1425" b="0">
                <a:solidFill>
                  <a:srgbClr val="172033"/>
                </a:solidFill>
              </a:defRPr>
            </a:pPr>
            <a:r>
              <a:rPr sz="1425" b="0">
                <a:solidFill>
                  <a:srgbClr val="172033"/>
                </a:solidFill>
              </a:rPr>
              <a:t>Verified lessons</a:t>
            </a:r>
          </a:p>
        </p:txBody>
      </p:sp>
      <p:sp>
        <p:nvSpPr>
          <p:cNvPr id="20" name="">
            <a:extLst xmlns:a="http://schemas.openxmlformats.org/drawingml/2006/main">
              <a:ext uri="{FF2B5EF4-FFF2-40B4-BE49-F238E27FC236}">
                <a16:creationId xmlns:a16="http://schemas.microsoft.com/office/drawing/2014/main" id="{143B211B-51CA-4234-BF72-5D21177295B4}"/>
              </a:ext>
            </a:extLst>
          </p:cNvPr>
          <p:cNvSpPr>
            <a:spLocks xmlns:a="http://schemas.openxmlformats.org/drawingml/2006/main" noGrp="1"/>
          </p:cNvSpPr>
          <p:nvPr/>
        </p:nvSpPr>
        <p:spPr>
          <a:xfrm xmlns:a="http://schemas.openxmlformats.org/drawingml/2006/main">
            <a:off x="666750" y="36957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My interventions</a:t>
            </a:r>
          </a:p>
        </p:txBody>
      </p:sp>
      <p:sp>
        <p:nvSpPr>
          <p:cNvPr id="21" name="">
            <a:extLst xmlns:a="http://schemas.openxmlformats.org/drawingml/2006/main">
              <a:ext uri="{FF2B5EF4-FFF2-40B4-BE49-F238E27FC236}">
                <a16:creationId xmlns:a16="http://schemas.microsoft.com/office/drawing/2014/main" id="{2F52E999-EB91-4518-A446-5949253288A0}"/>
              </a:ext>
            </a:extLst>
          </p:cNvPr>
          <p:cNvSpPr>
            <a:spLocks xmlns:a="http://schemas.openxmlformats.org/drawingml/2006/main" noGrp="1"/>
          </p:cNvSpPr>
          <p:nvPr/>
        </p:nvSpPr>
        <p:spPr>
          <a:xfrm xmlns:a="http://schemas.openxmlformats.org/drawingml/2006/main">
            <a:off x="666750" y="4143375"/>
            <a:ext cx="5334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Review assumptions and the target statement</a:t>
            </a:r>
          </a:p>
          <a:p xmlns:a="http://schemas.openxmlformats.org/drawingml/2006/main">
            <a:pPr algn="l">
              <a:defRPr sz="1650" b="0">
                <a:solidFill>
                  <a:srgbClr val="172033"/>
                </a:solidFill>
              </a:defRPr>
            </a:pPr>
            <a:r>
              <a:rPr sz="1650" b="0">
                <a:solidFill>
                  <a:srgbClr val="172033"/>
                </a:solidFill>
              </a:rPr>
              <a:t>Set exact tests and decompose the argument</a:t>
            </a:r>
          </a:p>
          <a:p xmlns:a="http://schemas.openxmlformats.org/drawingml/2006/main">
            <a:pPr algn="l">
              <a:defRPr sz="1650" b="0">
                <a:solidFill>
                  <a:srgbClr val="172033"/>
                </a:solidFill>
              </a:defRPr>
            </a:pPr>
            <a:r>
              <a:rPr sz="1650" b="0">
                <a:solidFill>
                  <a:srgbClr val="172033"/>
                </a:solidFill>
              </a:rPr>
              <a:t>Review the result against the source theorem</a:t>
            </a:r>
          </a:p>
        </p:txBody>
      </p:sp>
      <p:sp>
        <p:nvSpPr>
          <p:cNvPr id="22" name="">
            <a:extLst xmlns:a="http://schemas.openxmlformats.org/drawingml/2006/main">
              <a:ext uri="{FF2B5EF4-FFF2-40B4-BE49-F238E27FC236}">
                <a16:creationId xmlns:a16="http://schemas.microsoft.com/office/drawing/2014/main" id="{D7BDD08A-B9ED-43D5-8961-D6C7DF82DC2D}"/>
              </a:ext>
            </a:extLst>
          </p:cNvPr>
          <p:cNvSpPr>
            <a:spLocks xmlns:a="http://schemas.openxmlformats.org/drawingml/2006/main" noGrp="1"/>
          </p:cNvSpPr>
          <p:nvPr/>
        </p:nvSpPr>
        <p:spPr>
          <a:xfrm xmlns:a="http://schemas.openxmlformats.org/drawingml/2006/main">
            <a:off x="6477000" y="369570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Observable evidence</a:t>
            </a:r>
          </a:p>
        </p:txBody>
      </p:sp>
      <p:sp>
        <p:nvSpPr>
          <p:cNvPr id="23" name="">
            <a:extLst xmlns:a="http://schemas.openxmlformats.org/drawingml/2006/main">
              <a:ext uri="{FF2B5EF4-FFF2-40B4-BE49-F238E27FC236}">
                <a16:creationId xmlns:a16="http://schemas.microsoft.com/office/drawing/2014/main" id="{0DF68BFE-6C75-4FEE-8631-F5482184A67A}"/>
              </a:ext>
            </a:extLst>
          </p:cNvPr>
          <p:cNvSpPr>
            <a:spLocks xmlns:a="http://schemas.openxmlformats.org/drawingml/2006/main" noGrp="1"/>
          </p:cNvSpPr>
          <p:nvPr/>
        </p:nvSpPr>
        <p:spPr>
          <a:xfrm xmlns:a="http://schemas.openxmlformats.org/drawingml/2006/main">
            <a:off x="6477000" y="4143375"/>
            <a:ext cx="504825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Exact levels and unchanged carry structure</a:t>
            </a:r>
          </a:p>
          <a:p xmlns:a="http://schemas.openxmlformats.org/drawingml/2006/main">
            <a:pPr algn="l">
              <a:defRPr sz="1650" b="0">
                <a:solidFill>
                  <a:srgbClr val="172033"/>
                </a:solidFill>
              </a:defRPr>
            </a:pPr>
            <a:r>
              <a:rPr sz="1650" b="0">
                <a:solidFill>
                  <a:srgbClr val="172033"/>
                </a:solidFill>
              </a:rPr>
              <a:t>General preservation and depth theorems</a:t>
            </a:r>
          </a:p>
          <a:p xmlns:a="http://schemas.openxmlformats.org/drawingml/2006/main">
            <a:pPr algn="l">
              <a:defRPr sz="1650" b="0">
                <a:solidFill>
                  <a:srgbClr val="172033"/>
                </a:solidFill>
              </a:defRPr>
            </a:pPr>
            <a:r>
              <a:rPr sz="1650" b="0">
                <a:solidFill>
                  <a:srgbClr val="172033"/>
                </a:solidFill>
              </a:rPr>
              <a:t>Build result, scans, and decision records</a:t>
            </a:r>
          </a:p>
        </p:txBody>
      </p:sp>
      <p:sp>
        <p:nvSpPr>
          <p:cNvPr id="24" name="">
            <a:extLst xmlns:a="http://schemas.openxmlformats.org/drawingml/2006/main">
              <a:ext uri="{FF2B5EF4-FFF2-40B4-BE49-F238E27FC236}">
                <a16:creationId xmlns:a16="http://schemas.microsoft.com/office/drawing/2014/main" id="{FC6AF486-4683-4627-99E6-594FAADB5650}"/>
              </a:ext>
            </a:extLst>
          </p:cNvPr>
          <p:cNvSpPr>
            <a:spLocks xmlns:a="http://schemas.openxmlformats.org/drawingml/2006/main" noGrp="1"/>
          </p:cNvSpPr>
          <p:nvPr/>
        </p:nvSpPr>
        <p:spPr>
          <a:xfrm xmlns:a="http://schemas.openxmlformats.org/drawingml/2006/main">
            <a:off x="666750" y="576262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6A34A"/>
                </a:solidFill>
              </a:defRPr>
            </a:defPPr>
          </a:lstStyle>
          <a:p xmlns:a="http://schemas.openxmlformats.org/drawingml/2006/main">
            <a:pPr algn="l">
              <a:defRPr sz="1500" b="1">
                <a:solidFill>
                  <a:srgbClr val="16A34A"/>
                </a:solidFill>
              </a:defRPr>
            </a:pPr>
            <a:r>
              <a:rPr sz="1500" b="1">
                <a:solidFill>
                  <a:srgbClr val="16A34A"/>
                </a:solidFill>
              </a:rPr>
              <a:t>Recorded run: 8,036 build jobs completed. Placeholder and custom-axiom scans passed. Aristotle calls: 0.</a:t>
            </a:r>
          </a:p>
        </p:txBody>
      </p:sp>
      <p:sp>
        <p:nvSpPr>
          <p:cNvPr id="25" name="">
            <a:extLst xmlns:a="http://schemas.openxmlformats.org/drawingml/2006/main">
              <a:ext uri="{FF2B5EF4-FFF2-40B4-BE49-F238E27FC236}">
                <a16:creationId xmlns:a16="http://schemas.microsoft.com/office/drawing/2014/main" id="{6D8F51E9-F832-4653-AC19-A7D100B8EB59}"/>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Aristotle remains an optional fallback for an isolated blocked lemma after local decomposition.</a:t>
            </a:r>
          </a:p>
        </p:txBody>
      </p:sp>
    </p:spTree>
    <p:extLst>
      <p:ext uri="{BB962C8B-B14F-4D97-AF65-F5344CB8AC3E}">
        <p14:creationId xmlns:p14="http://schemas.microsoft.com/office/powerpoint/2010/main" val="1706532010"/>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51BC735-58B1-45D8-B7FA-4E927117BEB5}"/>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03</a:t>
            </a:r>
          </a:p>
        </p:txBody>
      </p:sp>
      <p:sp>
        <p:nvSpPr>
          <p:cNvPr id="2" name="">
            <a:extLst xmlns:a="http://schemas.openxmlformats.org/drawingml/2006/main">
              <a:ext uri="{FF2B5EF4-FFF2-40B4-BE49-F238E27FC236}">
                <a16:creationId xmlns:a16="http://schemas.microsoft.com/office/drawing/2014/main" id="{8768C8ED-290A-4584-AAA1-DA62B88063FD}"/>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Proposed experiment: learning from proof experience</a:t>
            </a:r>
          </a:p>
        </p:txBody>
      </p:sp>
      <p:sp>
        <p:nvSpPr>
          <p:cNvPr id="3" name="">
            <a:extLst xmlns:a="http://schemas.openxmlformats.org/drawingml/2006/main">
              <a:ext uri="{FF2B5EF4-FFF2-40B4-BE49-F238E27FC236}">
                <a16:creationId xmlns:a16="http://schemas.microsoft.com/office/drawing/2014/main" id="{2A8CB2C8-EF62-4673-AD8A-ECF37D32904A}"/>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19AAEF6A-A902-4612-AB23-FF01C3E02498}"/>
              </a:ext>
            </a:extLst>
          </p:cNvPr>
          <p:cNvSpPr>
            <a:spLocks xmlns:a="http://schemas.openxmlformats.org/drawingml/2006/main" noGrp="1"/>
          </p:cNvSpPr>
          <p:nvPr/>
        </p:nvSpPr>
        <p:spPr>
          <a:xfrm xmlns:a="http://schemas.openxmlformats.org/drawingml/2006/main">
            <a:off x="666750" y="1457325"/>
            <a:ext cx="1066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Can a fixed model use verified experience to solve new floating-point proofs more reliably or at lower cost?</a:t>
            </a:r>
          </a:p>
        </p:txBody>
      </p:sp>
      <p:sp>
        <p:nvSpPr>
          <p:cNvPr id="5" name="">
            <a:extLst xmlns:a="http://schemas.openxmlformats.org/drawingml/2006/main">
              <a:ext uri="{FF2B5EF4-FFF2-40B4-BE49-F238E27FC236}">
                <a16:creationId xmlns:a16="http://schemas.microsoft.com/office/drawing/2014/main" id="{15974541-2B66-457F-9BB4-FABDCCF3B1BF}"/>
              </a:ext>
            </a:extLst>
          </p:cNvPr>
          <p:cNvSpPr>
            <a:spLocks xmlns:a="http://schemas.openxmlformats.org/drawingml/2006/main" noGrp="1"/>
          </p:cNvSpPr>
          <p:nvPr/>
        </p:nvSpPr>
        <p:spPr>
          <a:xfrm xmlns:a="http://schemas.openxmlformats.org/drawingml/2006/main">
            <a:off x="1190625" y="2076450"/>
            <a:ext cx="981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0B1739"/>
                </a:solidFill>
              </a:defRPr>
            </a:defPPr>
          </a:lstStyle>
          <a:p xmlns:a="http://schemas.openxmlformats.org/drawingml/2006/main">
            <a:pPr algn="ctr">
              <a:defRPr sz="1350" b="1">
                <a:solidFill>
                  <a:srgbClr val="0B1739"/>
                </a:solidFill>
              </a:defRPr>
            </a:pPr>
            <a:r>
              <a:rPr sz="1350" b="1">
                <a:solidFill>
                  <a:srgbClr val="0B1739"/>
                </a:solidFill>
              </a:rPr>
              <a:t>Fixed model, reasoning setting, tools, budgets, starting code, and verification</a:t>
            </a:r>
          </a:p>
        </p:txBody>
      </p:sp>
      <p:sp>
        <p:nvSpPr>
          <p:cNvPr id="6" name="">
            <a:extLst xmlns:a="http://schemas.openxmlformats.org/drawingml/2006/main">
              <a:ext uri="{FF2B5EF4-FFF2-40B4-BE49-F238E27FC236}">
                <a16:creationId xmlns:a16="http://schemas.microsoft.com/office/drawing/2014/main" id="{CD163DC1-D90D-4C30-BFBE-CCBF448508FE}"/>
              </a:ext>
            </a:extLst>
          </p:cNvPr>
          <p:cNvSpPr>
            <a:spLocks xmlns:a="http://schemas.openxmlformats.org/drawingml/2006/main" noGrp="1"/>
          </p:cNvSpPr>
          <p:nvPr/>
        </p:nvSpPr>
        <p:spPr>
          <a:xfrm xmlns:a="http://schemas.openxmlformats.org/drawingml/2006/main">
            <a:off x="857250" y="2714625"/>
            <a:ext cx="4381500" cy="209550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9050">
            <a:solidFill>
              <a:srgbClr val="CBD5E1"/>
            </a:solidFill>
            <a:prstDash val="solid"/>
          </a:ln>
        </p:spPr>
      </p:sp>
      <p:sp>
        <p:nvSpPr>
          <p:cNvPr id="7" name="">
            <a:extLst xmlns:a="http://schemas.openxmlformats.org/drawingml/2006/main">
              <a:ext uri="{FF2B5EF4-FFF2-40B4-BE49-F238E27FC236}">
                <a16:creationId xmlns:a16="http://schemas.microsoft.com/office/drawing/2014/main" id="{0A120342-7E1B-4016-9B5F-3FB1A750DC62}"/>
              </a:ext>
            </a:extLst>
          </p:cNvPr>
          <p:cNvSpPr>
            <a:spLocks xmlns:a="http://schemas.openxmlformats.org/drawingml/2006/main" noGrp="1"/>
          </p:cNvSpPr>
          <p:nvPr/>
        </p:nvSpPr>
        <p:spPr>
          <a:xfrm xmlns:a="http://schemas.openxmlformats.org/drawingml/2006/main">
            <a:off x="1190625" y="29527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0B1739"/>
                </a:solidFill>
              </a:defRPr>
            </a:defPPr>
          </a:lstStyle>
          <a:p xmlns:a="http://schemas.openxmlformats.org/drawingml/2006/main">
            <a:pPr algn="l">
              <a:defRPr sz="1800" b="1">
                <a:solidFill>
                  <a:srgbClr val="0B1739"/>
                </a:solidFill>
              </a:defRPr>
            </a:pPr>
            <a:r>
              <a:rPr sz="1800" b="1">
                <a:solidFill>
                  <a:srgbClr val="0B1739"/>
                </a:solidFill>
              </a:rPr>
              <a:t>Stateless condition</a:t>
            </a:r>
          </a:p>
        </p:txBody>
      </p:sp>
      <p:sp>
        <p:nvSpPr>
          <p:cNvPr id="8" name="">
            <a:extLst xmlns:a="http://schemas.openxmlformats.org/drawingml/2006/main">
              <a:ext uri="{FF2B5EF4-FFF2-40B4-BE49-F238E27FC236}">
                <a16:creationId xmlns:a16="http://schemas.microsoft.com/office/drawing/2014/main" id="{841A52B6-DF26-47C6-8C8C-93D96EFD0B67}"/>
              </a:ext>
            </a:extLst>
          </p:cNvPr>
          <p:cNvSpPr>
            <a:spLocks xmlns:a="http://schemas.openxmlformats.org/drawingml/2006/main" noGrp="1"/>
          </p:cNvSpPr>
          <p:nvPr/>
        </p:nvSpPr>
        <p:spPr>
          <a:xfrm xmlns:a="http://schemas.openxmlformats.org/drawingml/2006/main">
            <a:off x="1190625" y="3476625"/>
            <a:ext cx="3714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Fresh context with no research memory</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Shared Lean prerequisites and Mathlib</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Unfinished target and acceptance tests</a:t>
            </a:r>
          </a:p>
        </p:txBody>
      </p:sp>
      <p:sp>
        <p:nvSpPr>
          <p:cNvPr id="9" name="">
            <a:extLst xmlns:a="http://schemas.openxmlformats.org/drawingml/2006/main">
              <a:ext uri="{FF2B5EF4-FFF2-40B4-BE49-F238E27FC236}">
                <a16:creationId xmlns:a16="http://schemas.microsoft.com/office/drawing/2014/main" id="{6F90FE60-D2E4-44DB-A18B-D802382E85CA}"/>
              </a:ext>
            </a:extLst>
          </p:cNvPr>
          <p:cNvSpPr>
            <a:spLocks xmlns:a="http://schemas.openxmlformats.org/drawingml/2006/main" noGrp="1"/>
          </p:cNvSpPr>
          <p:nvPr/>
        </p:nvSpPr>
        <p:spPr>
          <a:xfrm xmlns:a="http://schemas.openxmlformats.org/drawingml/2006/main">
            <a:off x="6953250" y="2714625"/>
            <a:ext cx="4381500" cy="2095500"/>
          </a:xfrm>
          <a:prstGeom xmlns:a="http://schemas.openxmlformats.org/drawingml/2006/main" prst="roundRect">
            <a:avLst>
              <a:gd name="adj" fmla="val 3636"/>
            </a:avLst>
          </a:prstGeom>
          <a:solidFill xmlns:a="http://schemas.openxmlformats.org/drawingml/2006/main">
            <a:srgbClr val="EFF6FF"/>
          </a:solidFill>
          <a:ln xmlns:a="http://schemas.openxmlformats.org/drawingml/2006/main" w="19050">
            <a:solidFill>
              <a:srgbClr val="2563EB"/>
            </a:solidFill>
            <a:prstDash val="solid"/>
          </a:ln>
        </p:spPr>
      </p:sp>
      <p:sp>
        <p:nvSpPr>
          <p:cNvPr id="10" name="">
            <a:extLst xmlns:a="http://schemas.openxmlformats.org/drawingml/2006/main">
              <a:ext uri="{FF2B5EF4-FFF2-40B4-BE49-F238E27FC236}">
                <a16:creationId xmlns:a16="http://schemas.microsoft.com/office/drawing/2014/main" id="{4DE83A1E-699A-4844-BCF0-7238898C4652}"/>
              </a:ext>
            </a:extLst>
          </p:cNvPr>
          <p:cNvSpPr>
            <a:spLocks xmlns:a="http://schemas.openxmlformats.org/drawingml/2006/main" noGrp="1"/>
          </p:cNvSpPr>
          <p:nvPr/>
        </p:nvSpPr>
        <p:spPr>
          <a:xfrm xmlns:a="http://schemas.openxmlformats.org/drawingml/2006/main">
            <a:off x="7286625" y="2952750"/>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2563EB"/>
                </a:solidFill>
              </a:defRPr>
            </a:defPPr>
          </a:lstStyle>
          <a:p xmlns:a="http://schemas.openxmlformats.org/drawingml/2006/main">
            <a:pPr algn="l">
              <a:defRPr sz="1800" b="1">
                <a:solidFill>
                  <a:srgbClr val="2563EB"/>
                </a:solidFill>
              </a:defRPr>
            </a:pPr>
            <a:r>
              <a:rPr sz="1800" b="1">
                <a:solidFill>
                  <a:srgbClr val="2563EB"/>
                </a:solidFill>
              </a:rPr>
              <a:t>Artifact-enabled condition</a:t>
            </a:r>
          </a:p>
        </p:txBody>
      </p:sp>
      <p:sp>
        <p:nvSpPr>
          <p:cNvPr id="11" name="">
            <a:extLst xmlns:a="http://schemas.openxmlformats.org/drawingml/2006/main">
              <a:ext uri="{FF2B5EF4-FFF2-40B4-BE49-F238E27FC236}">
                <a16:creationId xmlns:a16="http://schemas.microsoft.com/office/drawing/2014/main" id="{1E756438-C3B3-4350-BE64-3D6EFCD5FD9D}"/>
              </a:ext>
            </a:extLst>
          </p:cNvPr>
          <p:cNvSpPr>
            <a:spLocks xmlns:a="http://schemas.openxmlformats.org/drawingml/2006/main" noGrp="1"/>
          </p:cNvSpPr>
          <p:nvPr/>
        </p:nvSpPr>
        <p:spPr>
          <a:xfrm xmlns:a="http://schemas.openxmlformats.org/drawingml/2006/main">
            <a:off x="7286625" y="3476625"/>
            <a:ext cx="3714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172033"/>
                </a:solidFill>
              </a:defRPr>
            </a:defPPr>
          </a:lstStyle>
          <a:p xmlns:a="http://schemas.openxmlformats.org/drawingml/2006/main">
            <a:pPr algn="l">
              <a:defRPr sz="1425" b="0">
                <a:solidFill>
                  <a:srgbClr val="172033"/>
                </a:solidFill>
              </a:defRPr>
            </a:pPr>
            <a:r>
              <a:rPr sz="1425" b="0">
                <a:solidFill>
                  <a:srgbClr val="172033"/>
                </a:solidFill>
              </a:rPr>
              <a:t>Same setup plus frozen verified memory</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Log retrieval and decisions it changes</a:t>
            </a:r>
          </a:p>
          <a:p xmlns:a="http://schemas.openxmlformats.org/drawingml/2006/main">
            <a:r>
              <a:t/>
            </a:r>
          </a:p>
          <a:p xmlns:a="http://schemas.openxmlformats.org/drawingml/2006/main">
            <a:pPr algn="l">
              <a:defRPr sz="1425" b="0">
                <a:solidFill>
                  <a:srgbClr val="172033"/>
                </a:solidFill>
              </a:defRPr>
            </a:pPr>
            <a:r>
              <a:rPr sz="1425" b="0">
                <a:solidFill>
                  <a:srgbClr val="172033"/>
                </a:solidFill>
              </a:rPr>
              <a:t>Exclude the completed target proof</a:t>
            </a:r>
          </a:p>
        </p:txBody>
      </p:sp>
      <p:sp>
        <p:nvSpPr>
          <p:cNvPr id="12" name="">
            <a:extLst xmlns:a="http://schemas.openxmlformats.org/drawingml/2006/main">
              <a:ext uri="{FF2B5EF4-FFF2-40B4-BE49-F238E27FC236}">
                <a16:creationId xmlns:a16="http://schemas.microsoft.com/office/drawing/2014/main" id="{4E9533BA-0826-48D8-A8FA-CFAD4731D6EE}"/>
              </a:ext>
            </a:extLst>
          </p:cNvPr>
          <p:cNvSpPr>
            <a:spLocks xmlns:a="http://schemas.openxmlformats.org/drawingml/2006/main" noGrp="1"/>
          </p:cNvSpPr>
          <p:nvPr/>
        </p:nvSpPr>
        <p:spPr>
          <a:xfrm xmlns:a="http://schemas.openxmlformats.org/drawingml/2006/main" flipH="0" flipV="0">
            <a:off x="5238750" y="3905250"/>
            <a:ext cx="1714500" cy="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sp>
      <p:sp>
        <p:nvSpPr>
          <p:cNvPr id="13" name="">
            <a:extLst xmlns:a="http://schemas.openxmlformats.org/drawingml/2006/main">
              <a:ext uri="{FF2B5EF4-FFF2-40B4-BE49-F238E27FC236}">
                <a16:creationId xmlns:a16="http://schemas.microsoft.com/office/drawing/2014/main" id="{5C9B191C-4EDE-4456-A1F0-4E6873D8B3F1}"/>
              </a:ext>
            </a:extLst>
          </p:cNvPr>
          <p:cNvSpPr>
            <a:spLocks xmlns:a="http://schemas.openxmlformats.org/drawingml/2006/main" noGrp="1"/>
          </p:cNvSpPr>
          <p:nvPr/>
        </p:nvSpPr>
        <p:spPr>
          <a:xfrm xmlns:a="http://schemas.openxmlformats.org/drawingml/2006/main">
            <a:off x="5667375" y="36385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050" b="1">
                <a:solidFill>
                  <a:srgbClr val="64748B"/>
                </a:solidFill>
              </a:defRPr>
            </a:defPPr>
          </a:lstStyle>
          <a:p xmlns:a="http://schemas.openxmlformats.org/drawingml/2006/main">
            <a:pPr algn="ctr">
              <a:defRPr sz="1050" b="1">
                <a:solidFill>
                  <a:srgbClr val="64748B"/>
                </a:solidFill>
              </a:defRPr>
            </a:pPr>
            <a:r>
              <a:rPr sz="1050" b="1">
                <a:solidFill>
                  <a:srgbClr val="64748B"/>
                </a:solidFill>
              </a:rPr>
              <a:t>compare</a:t>
            </a:r>
          </a:p>
        </p:txBody>
      </p:sp>
      <p:sp>
        <p:nvSpPr>
          <p:cNvPr id="14" name="">
            <a:extLst xmlns:a="http://schemas.openxmlformats.org/drawingml/2006/main">
              <a:ext uri="{FF2B5EF4-FFF2-40B4-BE49-F238E27FC236}">
                <a16:creationId xmlns:a16="http://schemas.microsoft.com/office/drawing/2014/main" id="{3AD0DDBC-69A8-4781-B03D-AAA28773A5CF}"/>
              </a:ext>
            </a:extLst>
          </p:cNvPr>
          <p:cNvSpPr>
            <a:spLocks xmlns:a="http://schemas.openxmlformats.org/drawingml/2006/main" noGrp="1"/>
          </p:cNvSpPr>
          <p:nvPr/>
        </p:nvSpPr>
        <p:spPr>
          <a:xfrm xmlns:a="http://schemas.openxmlformats.org/drawingml/2006/main">
            <a:off x="857250" y="50958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64748B"/>
                </a:solidFill>
              </a:defRPr>
            </a:defPPr>
          </a:lstStyle>
          <a:p xmlns:a="http://schemas.openxmlformats.org/drawingml/2006/main">
            <a:pPr algn="l">
              <a:defRPr sz="1425" b="1">
                <a:solidFill>
                  <a:srgbClr val="64748B"/>
                </a:solidFill>
              </a:defRPr>
            </a:pPr>
            <a:r>
              <a:rPr sz="1425" b="1">
                <a:solidFill>
                  <a:srgbClr val="64748B"/>
                </a:solidFill>
              </a:rPr>
              <a:t>Measure</a:t>
            </a:r>
          </a:p>
        </p:txBody>
      </p:sp>
      <p:sp>
        <p:nvSpPr>
          <p:cNvPr id="15" name="">
            <a:extLst xmlns:a="http://schemas.openxmlformats.org/drawingml/2006/main">
              <a:ext uri="{FF2B5EF4-FFF2-40B4-BE49-F238E27FC236}">
                <a16:creationId xmlns:a16="http://schemas.microsoft.com/office/drawing/2014/main" id="{E1DF98B9-E893-4F34-8DC7-4DB9475484C3}"/>
              </a:ext>
            </a:extLst>
          </p:cNvPr>
          <p:cNvSpPr>
            <a:spLocks xmlns:a="http://schemas.openxmlformats.org/drawingml/2006/main" noGrp="1"/>
          </p:cNvSpPr>
          <p:nvPr/>
        </p:nvSpPr>
        <p:spPr>
          <a:xfrm xmlns:a="http://schemas.openxmlformats.org/drawingml/2006/main">
            <a:off x="2381250" y="50958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0B1739"/>
                </a:solidFill>
              </a:defRPr>
            </a:defPPr>
          </a:lstStyle>
          <a:p xmlns:a="http://schemas.openxmlformats.org/drawingml/2006/main">
            <a:pPr algn="l">
              <a:defRPr sz="1575" b="1">
                <a:solidFill>
                  <a:srgbClr val="0B1739"/>
                </a:solidFill>
              </a:defRPr>
            </a:pPr>
            <a:r>
              <a:rPr sz="1575" b="1">
                <a:solidFill>
                  <a:srgbClr val="0B1739"/>
                </a:solidFill>
              </a:rPr>
              <a:t>Verified proof success, time, cost, compiler attempts, Aristotle use</a:t>
            </a:r>
          </a:p>
        </p:txBody>
      </p:sp>
      <p:sp>
        <p:nvSpPr>
          <p:cNvPr id="16" name="">
            <a:extLst xmlns:a="http://schemas.openxmlformats.org/drawingml/2006/main">
              <a:ext uri="{FF2B5EF4-FFF2-40B4-BE49-F238E27FC236}">
                <a16:creationId xmlns:a16="http://schemas.microsoft.com/office/drawing/2014/main" id="{80F8C954-0CBF-45AD-89B8-C0196A7CE0F4}"/>
              </a:ext>
            </a:extLst>
          </p:cNvPr>
          <p:cNvSpPr>
            <a:spLocks xmlns:a="http://schemas.openxmlformats.org/drawingml/2006/main" noGrp="1"/>
          </p:cNvSpPr>
          <p:nvPr/>
        </p:nvSpPr>
        <p:spPr>
          <a:xfrm xmlns:a="http://schemas.openxmlformats.org/drawingml/2006/main">
            <a:off x="857250" y="555307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1">
                <a:solidFill>
                  <a:srgbClr val="64748B"/>
                </a:solidFill>
              </a:defRPr>
            </a:defPPr>
          </a:lstStyle>
          <a:p xmlns:a="http://schemas.openxmlformats.org/drawingml/2006/main">
            <a:pPr algn="l">
              <a:defRPr sz="1425" b="1">
                <a:solidFill>
                  <a:srgbClr val="64748B"/>
                </a:solidFill>
              </a:defRPr>
            </a:pPr>
            <a:r>
              <a:rPr sz="1425" b="1">
                <a:solidFill>
                  <a:srgbClr val="64748B"/>
                </a:solidFill>
              </a:rPr>
              <a:t>Diagnose</a:t>
            </a:r>
          </a:p>
        </p:txBody>
      </p:sp>
      <p:sp>
        <p:nvSpPr>
          <p:cNvPr id="17" name="">
            <a:extLst xmlns:a="http://schemas.openxmlformats.org/drawingml/2006/main">
              <a:ext uri="{FF2B5EF4-FFF2-40B4-BE49-F238E27FC236}">
                <a16:creationId xmlns:a16="http://schemas.microsoft.com/office/drawing/2014/main" id="{2BC95EA0-D80F-442B-80D3-5E2325ADE409}"/>
              </a:ext>
            </a:extLst>
          </p:cNvPr>
          <p:cNvSpPr>
            <a:spLocks xmlns:a="http://schemas.openxmlformats.org/drawingml/2006/main" noGrp="1"/>
          </p:cNvSpPr>
          <p:nvPr/>
        </p:nvSpPr>
        <p:spPr>
          <a:xfrm xmlns:a="http://schemas.openxmlformats.org/drawingml/2006/main">
            <a:off x="2381250" y="555307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0">
                <a:solidFill>
                  <a:srgbClr val="172033"/>
                </a:solidFill>
              </a:defRPr>
            </a:defPPr>
          </a:lstStyle>
          <a:p xmlns:a="http://schemas.openxmlformats.org/drawingml/2006/main">
            <a:pPr algn="l">
              <a:defRPr sz="1575" b="0">
                <a:solidFill>
                  <a:srgbClr val="172033"/>
                </a:solidFill>
              </a:defRPr>
            </a:pPr>
            <a:r>
              <a:rPr sz="1575" b="0">
                <a:solidFill>
                  <a:srgbClr val="172033"/>
                </a:solidFill>
              </a:rPr>
              <a:t>Missing lesson, missed retrieval, or incorrect application</a:t>
            </a:r>
          </a:p>
        </p:txBody>
      </p:sp>
      <p:sp>
        <p:nvSpPr>
          <p:cNvPr id="18" name="">
            <a:extLst xmlns:a="http://schemas.openxmlformats.org/drawingml/2006/main">
              <a:ext uri="{FF2B5EF4-FFF2-40B4-BE49-F238E27FC236}">
                <a16:creationId xmlns:a16="http://schemas.microsoft.com/office/drawing/2014/main" id="{3D1BDFD1-833C-4A8C-9F99-C13F68AF2FF6}"/>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Evaluation uses held-out proofs across fresh runs. The experiment has not established improvement yet.</a:t>
            </a:r>
          </a:p>
        </p:txBody>
      </p:sp>
    </p:spTree>
    <p:extLst>
      <p:ext uri="{BB962C8B-B14F-4D97-AF65-F5344CB8AC3E}">
        <p14:creationId xmlns:p14="http://schemas.microsoft.com/office/powerpoint/2010/main" val="136877067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9787448-D3B1-411C-B098-6B2394369958}"/>
              </a:ext>
            </a:extLst>
          </p:cNvPr>
          <p:cNvSpPr>
            <a:spLocks xmlns:a="http://schemas.openxmlformats.org/drawingml/2006/main" noGrp="1"/>
          </p:cNvSpPr>
          <p:nvPr/>
        </p:nvSpPr>
        <p:spPr>
          <a:xfrm xmlns:a="http://schemas.openxmlformats.org/drawingml/2006/main">
            <a:off x="666750" y="361950"/>
            <a:ext cx="419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2563EB"/>
                </a:solidFill>
              </a:defRPr>
            </a:defPPr>
          </a:lstStyle>
          <a:p xmlns:a="http://schemas.openxmlformats.org/drawingml/2006/main">
            <a:pPr algn="l">
              <a:defRPr sz="975" b="1">
                <a:solidFill>
                  <a:srgbClr val="2563EB"/>
                </a:solidFill>
              </a:defRPr>
            </a:pPr>
            <a:r>
              <a:rPr sz="975" b="1">
                <a:solidFill>
                  <a:srgbClr val="2563EB"/>
                </a:solidFill>
              </a:rPr>
              <a:t>04</a:t>
            </a:r>
          </a:p>
        </p:txBody>
      </p:sp>
      <p:sp>
        <p:nvSpPr>
          <p:cNvPr id="2" name="">
            <a:extLst xmlns:a="http://schemas.openxmlformats.org/drawingml/2006/main">
              <a:ext uri="{FF2B5EF4-FFF2-40B4-BE49-F238E27FC236}">
                <a16:creationId xmlns:a16="http://schemas.microsoft.com/office/drawing/2014/main" id="{3D1A8282-403C-44AC-BA45-2998B2814F03}"/>
              </a:ext>
            </a:extLst>
          </p:cNvPr>
          <p:cNvSpPr>
            <a:spLocks xmlns:a="http://schemas.openxmlformats.org/drawingml/2006/main" noGrp="1"/>
          </p:cNvSpPr>
          <p:nvPr/>
        </p:nvSpPr>
        <p:spPr>
          <a:xfrm xmlns:a="http://schemas.openxmlformats.org/drawingml/2006/main">
            <a:off x="666750" y="685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400" b="1">
                <a:solidFill>
                  <a:srgbClr val="0B1739"/>
                </a:solidFill>
              </a:defRPr>
            </a:defPPr>
          </a:lstStyle>
          <a:p xmlns:a="http://schemas.openxmlformats.org/drawingml/2006/main">
            <a:pPr algn="l">
              <a:defRPr sz="2400" b="1">
                <a:solidFill>
                  <a:srgbClr val="0B1739"/>
                </a:solidFill>
              </a:defRPr>
            </a:pPr>
            <a:r>
              <a:rPr sz="2400" b="1">
                <a:solidFill>
                  <a:srgbClr val="0B1739"/>
                </a:solidFill>
              </a:rPr>
              <a:t>Proposed isolation: one repo, separate agent containers</a:t>
            </a:r>
          </a:p>
        </p:txBody>
      </p:sp>
      <p:sp>
        <p:nvSpPr>
          <p:cNvPr id="3" name="">
            <a:extLst xmlns:a="http://schemas.openxmlformats.org/drawingml/2006/main">
              <a:ext uri="{FF2B5EF4-FFF2-40B4-BE49-F238E27FC236}">
                <a16:creationId xmlns:a16="http://schemas.microsoft.com/office/drawing/2014/main" id="{395B921E-339E-4551-901B-5DF47721383B}"/>
              </a:ext>
            </a:extLst>
          </p:cNvPr>
          <p:cNvSpPr>
            <a:spLocks xmlns:a="http://schemas.openxmlformats.org/drawingml/2006/main" noGrp="1"/>
          </p:cNvSpPr>
          <p:nvPr/>
        </p:nvSpPr>
        <p:spPr>
          <a:xfrm xmlns:a="http://schemas.openxmlformats.org/drawingml/2006/main" flipH="0" flipV="0">
            <a:off x="666750" y="1333500"/>
            <a:ext cx="1085850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4" name="">
            <a:extLst xmlns:a="http://schemas.openxmlformats.org/drawingml/2006/main">
              <a:ext uri="{FF2B5EF4-FFF2-40B4-BE49-F238E27FC236}">
                <a16:creationId xmlns:a16="http://schemas.microsoft.com/office/drawing/2014/main" id="{D4AF89A1-5D5C-4635-92E2-9972D46F9292}"/>
              </a:ext>
            </a:extLst>
          </p:cNvPr>
          <p:cNvSpPr>
            <a:spLocks xmlns:a="http://schemas.openxmlformats.org/drawingml/2006/main" noGrp="1"/>
          </p:cNvSpPr>
          <p:nvPr/>
        </p:nvSpPr>
        <p:spPr>
          <a:xfrm xmlns:a="http://schemas.openxmlformats.org/drawingml/2006/main">
            <a:off x="666750" y="1457325"/>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64748B"/>
                </a:solidFill>
              </a:defRPr>
            </a:defPPr>
          </a:lstStyle>
          <a:p xmlns:a="http://schemas.openxmlformats.org/drawingml/2006/main">
            <a:pPr algn="l">
              <a:defRPr sz="1500" b="0">
                <a:solidFill>
                  <a:srgbClr val="64748B"/>
                </a:solidFill>
              </a:defRPr>
            </a:pPr>
            <a:r>
              <a:rPr sz="1500" b="0">
                <a:solidFill>
                  <a:srgbClr val="64748B"/>
                </a:solidFill>
              </a:rPr>
              <a:t>Each run receives only its permitted files. The agent runner and all file tools execute inside the container.</a:t>
            </a:r>
          </a:p>
        </p:txBody>
      </p:sp>
      <p:sp>
        <p:nvSpPr>
          <p:cNvPr id="5" name="">
            <a:extLst xmlns:a="http://schemas.openxmlformats.org/drawingml/2006/main">
              <a:ext uri="{FF2B5EF4-FFF2-40B4-BE49-F238E27FC236}">
                <a16:creationId xmlns:a16="http://schemas.microsoft.com/office/drawing/2014/main" id="{18AB4078-749C-4F4D-A152-70860DE250AA}"/>
              </a:ext>
            </a:extLst>
          </p:cNvPr>
          <p:cNvSpPr>
            <a:spLocks xmlns:a="http://schemas.openxmlformats.org/drawingml/2006/main" noGrp="1"/>
          </p:cNvSpPr>
          <p:nvPr/>
        </p:nvSpPr>
        <p:spPr>
          <a:xfrm xmlns:a="http://schemas.openxmlformats.org/drawingml/2006/main">
            <a:off x="3571875" y="2095500"/>
            <a:ext cx="5048250" cy="619125"/>
          </a:xfrm>
          <a:prstGeom xmlns:a="http://schemas.openxmlformats.org/drawingml/2006/main" prst="roundRect">
            <a:avLst>
              <a:gd name="adj" fmla="val 12308"/>
            </a:avLst>
          </a:prstGeom>
          <a:solidFill xmlns:a="http://schemas.openxmlformats.org/drawingml/2006/main">
            <a:srgbClr val="0B1739"/>
          </a:solidFill>
          <a:ln xmlns:a="http://schemas.openxmlformats.org/drawingml/2006/main" w="9525">
            <a:solidFill>
              <a:srgbClr val="0B1739"/>
            </a:solidFill>
            <a:prstDash val="solid"/>
          </a:ln>
        </p:spPr>
      </p:sp>
      <p:sp>
        <p:nvSpPr>
          <p:cNvPr id="6" name="">
            <a:extLst xmlns:a="http://schemas.openxmlformats.org/drawingml/2006/main">
              <a:ext uri="{FF2B5EF4-FFF2-40B4-BE49-F238E27FC236}">
                <a16:creationId xmlns:a16="http://schemas.microsoft.com/office/drawing/2014/main" id="{4745E671-EE50-4DA7-BA09-8B5A2938C841}"/>
              </a:ext>
            </a:extLst>
          </p:cNvPr>
          <p:cNvSpPr>
            <a:spLocks xmlns:a="http://schemas.openxmlformats.org/drawingml/2006/main" noGrp="1"/>
          </p:cNvSpPr>
          <p:nvPr/>
        </p:nvSpPr>
        <p:spPr>
          <a:xfrm xmlns:a="http://schemas.openxmlformats.org/drawingml/2006/main">
            <a:off x="3762375" y="2190750"/>
            <a:ext cx="4667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FFFFFF"/>
                </a:solidFill>
              </a:defRPr>
            </a:defPPr>
          </a:lstStyle>
          <a:p xmlns:a="http://schemas.openxmlformats.org/drawingml/2006/main">
            <a:pPr algn="ctr">
              <a:defRPr sz="1575" b="1">
                <a:solidFill>
                  <a:srgbClr val="FFFFFF"/>
                </a:solidFill>
              </a:defRPr>
            </a:pPr>
            <a:r>
              <a:rPr sz="1575" b="1">
                <a:solidFill>
                  <a:srgbClr val="FFFFFF"/>
                </a:solidFill>
              </a:rPr>
              <a:t>Monorepo: code, experiment specs, master artifacts</a:t>
            </a:r>
          </a:p>
        </p:txBody>
      </p:sp>
      <p:sp>
        <p:nvSpPr>
          <p:cNvPr id="7" name="">
            <a:extLst xmlns:a="http://schemas.openxmlformats.org/drawingml/2006/main">
              <a:ext uri="{FF2B5EF4-FFF2-40B4-BE49-F238E27FC236}">
                <a16:creationId xmlns:a16="http://schemas.microsoft.com/office/drawing/2014/main" id="{B244E1EA-D7F7-49A1-9DD8-D15F125FA704}"/>
              </a:ext>
            </a:extLst>
          </p:cNvPr>
          <p:cNvSpPr>
            <a:spLocks xmlns:a="http://schemas.openxmlformats.org/drawingml/2006/main" noGrp="1"/>
          </p:cNvSpPr>
          <p:nvPr/>
        </p:nvSpPr>
        <p:spPr>
          <a:xfrm xmlns:a="http://schemas.openxmlformats.org/drawingml/2006/main" flipH="0" flipV="0">
            <a:off x="6096000" y="2714625"/>
            <a:ext cx="0" cy="2381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8" name="">
            <a:extLst xmlns:a="http://schemas.openxmlformats.org/drawingml/2006/main">
              <a:ext uri="{FF2B5EF4-FFF2-40B4-BE49-F238E27FC236}">
                <a16:creationId xmlns:a16="http://schemas.microsoft.com/office/drawing/2014/main" id="{53C4DCE0-58DA-45DB-9EF7-31D64645436A}"/>
              </a:ext>
            </a:extLst>
          </p:cNvPr>
          <p:cNvSpPr>
            <a:spLocks xmlns:a="http://schemas.openxmlformats.org/drawingml/2006/main" noGrp="1"/>
          </p:cNvSpPr>
          <p:nvPr/>
        </p:nvSpPr>
        <p:spPr>
          <a:xfrm xmlns:a="http://schemas.openxmlformats.org/drawingml/2006/main" flipH="0" flipV="0">
            <a:off x="3381375" y="2952750"/>
            <a:ext cx="5429250" cy="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9" name="">
            <a:extLst xmlns:a="http://schemas.openxmlformats.org/drawingml/2006/main">
              <a:ext uri="{FF2B5EF4-FFF2-40B4-BE49-F238E27FC236}">
                <a16:creationId xmlns:a16="http://schemas.microsoft.com/office/drawing/2014/main" id="{6E12CBD9-CD04-4FE6-8028-A1F572858128}"/>
              </a:ext>
            </a:extLst>
          </p:cNvPr>
          <p:cNvSpPr>
            <a:spLocks xmlns:a="http://schemas.openxmlformats.org/drawingml/2006/main" noGrp="1"/>
          </p:cNvSpPr>
          <p:nvPr/>
        </p:nvSpPr>
        <p:spPr>
          <a:xfrm xmlns:a="http://schemas.openxmlformats.org/drawingml/2006/main" flipH="0" flipV="0">
            <a:off x="3381375" y="2952750"/>
            <a:ext cx="0" cy="285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0" name="">
            <a:extLst xmlns:a="http://schemas.openxmlformats.org/drawingml/2006/main">
              <a:ext uri="{FF2B5EF4-FFF2-40B4-BE49-F238E27FC236}">
                <a16:creationId xmlns:a16="http://schemas.microsoft.com/office/drawing/2014/main" id="{EB81EE07-817A-4CB7-92F0-66C962F1C8EA}"/>
              </a:ext>
            </a:extLst>
          </p:cNvPr>
          <p:cNvSpPr>
            <a:spLocks xmlns:a="http://schemas.openxmlformats.org/drawingml/2006/main" noGrp="1"/>
          </p:cNvSpPr>
          <p:nvPr/>
        </p:nvSpPr>
        <p:spPr>
          <a:xfrm xmlns:a="http://schemas.openxmlformats.org/drawingml/2006/main" flipH="0" flipV="0">
            <a:off x="8810625" y="2952750"/>
            <a:ext cx="0" cy="285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sp>
      <p:sp>
        <p:nvSpPr>
          <p:cNvPr id="11" name="">
            <a:extLst xmlns:a="http://schemas.openxmlformats.org/drawingml/2006/main">
              <a:ext uri="{FF2B5EF4-FFF2-40B4-BE49-F238E27FC236}">
                <a16:creationId xmlns:a16="http://schemas.microsoft.com/office/drawing/2014/main" id="{943D3A25-25C2-4A85-9483-2C798E06FC04}"/>
              </a:ext>
            </a:extLst>
          </p:cNvPr>
          <p:cNvSpPr>
            <a:spLocks xmlns:a="http://schemas.openxmlformats.org/drawingml/2006/main" noGrp="1"/>
          </p:cNvSpPr>
          <p:nvPr/>
        </p:nvSpPr>
        <p:spPr>
          <a:xfrm xmlns:a="http://schemas.openxmlformats.org/drawingml/2006/main">
            <a:off x="857250" y="3238500"/>
            <a:ext cx="5048250" cy="2000250"/>
          </a:xfrm>
          <a:prstGeom xmlns:a="http://schemas.openxmlformats.org/drawingml/2006/main" prst="roundRect">
            <a:avLst>
              <a:gd name="adj" fmla="val 3810"/>
            </a:avLst>
          </a:prstGeom>
          <a:solidFill xmlns:a="http://schemas.openxmlformats.org/drawingml/2006/main">
            <a:srgbClr val="F7F9FC"/>
          </a:solidFill>
          <a:ln xmlns:a="http://schemas.openxmlformats.org/drawingml/2006/main" w="19050">
            <a:solidFill>
              <a:srgbClr val="CBD5E1"/>
            </a:solidFill>
            <a:prstDash val="solid"/>
          </a:ln>
        </p:spPr>
      </p:sp>
      <p:sp>
        <p:nvSpPr>
          <p:cNvPr id="12" name="">
            <a:extLst xmlns:a="http://schemas.openxmlformats.org/drawingml/2006/main">
              <a:ext uri="{FF2B5EF4-FFF2-40B4-BE49-F238E27FC236}">
                <a16:creationId xmlns:a16="http://schemas.microsoft.com/office/drawing/2014/main" id="{30C6D4A9-EC35-400F-8623-A0F19D275648}"/>
              </a:ext>
            </a:extLst>
          </p:cNvPr>
          <p:cNvSpPr>
            <a:spLocks xmlns:a="http://schemas.openxmlformats.org/drawingml/2006/main" noGrp="1"/>
          </p:cNvSpPr>
          <p:nvPr/>
        </p:nvSpPr>
        <p:spPr>
          <a:xfrm xmlns:a="http://schemas.openxmlformats.org/drawingml/2006/main">
            <a:off x="1095375" y="338137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0B1739"/>
                </a:solidFill>
              </a:defRPr>
            </a:defPPr>
          </a:lstStyle>
          <a:p xmlns:a="http://schemas.openxmlformats.org/drawingml/2006/main">
            <a:pPr algn="l">
              <a:defRPr sz="1875" b="1">
                <a:solidFill>
                  <a:srgbClr val="0B1739"/>
                </a:solidFill>
              </a:defRPr>
            </a:pPr>
            <a:r>
              <a:rPr sz="1875" b="1">
                <a:solidFill>
                  <a:srgbClr val="0B1739"/>
                </a:solidFill>
              </a:rPr>
              <a:t>Stateless container</a:t>
            </a:r>
          </a:p>
        </p:txBody>
      </p:sp>
      <p:sp>
        <p:nvSpPr>
          <p:cNvPr id="13" name="">
            <a:extLst xmlns:a="http://schemas.openxmlformats.org/drawingml/2006/main">
              <a:ext uri="{FF2B5EF4-FFF2-40B4-BE49-F238E27FC236}">
                <a16:creationId xmlns:a16="http://schemas.microsoft.com/office/drawing/2014/main" id="{A0443D2E-C8EA-41AA-95A7-7C1AFDE6C2EA}"/>
              </a:ext>
            </a:extLst>
          </p:cNvPr>
          <p:cNvSpPr>
            <a:spLocks xmlns:a="http://schemas.openxmlformats.org/drawingml/2006/main" noGrp="1"/>
          </p:cNvSpPr>
          <p:nvPr/>
        </p:nvSpPr>
        <p:spPr>
          <a:xfrm xmlns:a="http://schemas.openxmlformats.org/drawingml/2006/main">
            <a:off x="1095375" y="3857625"/>
            <a:ext cx="4572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Agent CLI + Lean 4.28.0 + Mathlib</a:t>
            </a:r>
          </a:p>
          <a:p xmlns:a="http://schemas.openxmlformats.org/drawingml/2006/main">
            <a:pPr algn="l">
              <a:defRPr sz="1650" b="0">
                <a:solidFill>
                  <a:srgbClr val="172033"/>
                </a:solidFill>
              </a:defRPr>
            </a:pPr>
            <a:r>
              <a:rPr sz="1650" b="0">
                <a:solidFill>
                  <a:srgbClr val="172033"/>
                </a:solidFill>
              </a:rPr>
              <a:t>/workspace: identical starting code</a:t>
            </a:r>
          </a:p>
          <a:p xmlns:a="http://schemas.openxmlformats.org/drawingml/2006/main">
            <a:pPr algn="l">
              <a:defRPr sz="1650" b="0">
                <a:solidFill>
                  <a:srgbClr val="172033"/>
                </a:solidFill>
              </a:defRPr>
            </a:pPr>
            <a:r>
              <a:rPr sz="1650" b="0">
                <a:solidFill>
                  <a:srgbClr val="172033"/>
                </a:solidFill>
              </a:rPr>
              <a:t>Fresh session, no research memory</a:t>
            </a:r>
          </a:p>
        </p:txBody>
      </p:sp>
      <p:sp>
        <p:nvSpPr>
          <p:cNvPr id="14" name="">
            <a:extLst xmlns:a="http://schemas.openxmlformats.org/drawingml/2006/main">
              <a:ext uri="{FF2B5EF4-FFF2-40B4-BE49-F238E27FC236}">
                <a16:creationId xmlns:a16="http://schemas.microsoft.com/office/drawing/2014/main" id="{1FA76C4B-155D-44DB-99B4-1C683BD4AC82}"/>
              </a:ext>
            </a:extLst>
          </p:cNvPr>
          <p:cNvSpPr>
            <a:spLocks xmlns:a="http://schemas.openxmlformats.org/drawingml/2006/main" noGrp="1"/>
          </p:cNvSpPr>
          <p:nvPr/>
        </p:nvSpPr>
        <p:spPr>
          <a:xfrm xmlns:a="http://schemas.openxmlformats.org/drawingml/2006/main">
            <a:off x="6286500" y="3238500"/>
            <a:ext cx="5048250" cy="2000250"/>
          </a:xfrm>
          <a:prstGeom xmlns:a="http://schemas.openxmlformats.org/drawingml/2006/main" prst="roundRect">
            <a:avLst>
              <a:gd name="adj" fmla="val 3810"/>
            </a:avLst>
          </a:prstGeom>
          <a:solidFill xmlns:a="http://schemas.openxmlformats.org/drawingml/2006/main">
            <a:srgbClr val="EFF6FF"/>
          </a:solidFill>
          <a:ln xmlns:a="http://schemas.openxmlformats.org/drawingml/2006/main" w="19050">
            <a:solidFill>
              <a:srgbClr val="2563EB"/>
            </a:solidFill>
            <a:prstDash val="solid"/>
          </a:ln>
        </p:spPr>
      </p:sp>
      <p:sp>
        <p:nvSpPr>
          <p:cNvPr id="15" name="">
            <a:extLst xmlns:a="http://schemas.openxmlformats.org/drawingml/2006/main">
              <a:ext uri="{FF2B5EF4-FFF2-40B4-BE49-F238E27FC236}">
                <a16:creationId xmlns:a16="http://schemas.microsoft.com/office/drawing/2014/main" id="{C7A9C48D-102B-414C-855E-0355B5CFCAFD}"/>
              </a:ext>
            </a:extLst>
          </p:cNvPr>
          <p:cNvSpPr>
            <a:spLocks xmlns:a="http://schemas.openxmlformats.org/drawingml/2006/main" noGrp="1"/>
          </p:cNvSpPr>
          <p:nvPr/>
        </p:nvSpPr>
        <p:spPr>
          <a:xfrm xmlns:a="http://schemas.openxmlformats.org/drawingml/2006/main">
            <a:off x="6524625" y="338137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75" b="1">
                <a:solidFill>
                  <a:srgbClr val="2563EB"/>
                </a:solidFill>
              </a:defRPr>
            </a:defPPr>
          </a:lstStyle>
          <a:p xmlns:a="http://schemas.openxmlformats.org/drawingml/2006/main">
            <a:pPr algn="l">
              <a:defRPr sz="1875" b="1">
                <a:solidFill>
                  <a:srgbClr val="2563EB"/>
                </a:solidFill>
              </a:defRPr>
            </a:pPr>
            <a:r>
              <a:rPr sz="1875" b="1">
                <a:solidFill>
                  <a:srgbClr val="2563EB"/>
                </a:solidFill>
              </a:rPr>
              <a:t>Retrieved container</a:t>
            </a:r>
          </a:p>
        </p:txBody>
      </p:sp>
      <p:sp>
        <p:nvSpPr>
          <p:cNvPr id="16" name="">
            <a:extLst xmlns:a="http://schemas.openxmlformats.org/drawingml/2006/main">
              <a:ext uri="{FF2B5EF4-FFF2-40B4-BE49-F238E27FC236}">
                <a16:creationId xmlns:a16="http://schemas.microsoft.com/office/drawing/2014/main" id="{F4E73B87-48B6-4030-A8A9-FB415708943A}"/>
              </a:ext>
            </a:extLst>
          </p:cNvPr>
          <p:cNvSpPr>
            <a:spLocks xmlns:a="http://schemas.openxmlformats.org/drawingml/2006/main" noGrp="1"/>
          </p:cNvSpPr>
          <p:nvPr/>
        </p:nvSpPr>
        <p:spPr>
          <a:xfrm xmlns:a="http://schemas.openxmlformats.org/drawingml/2006/main">
            <a:off x="6524625" y="3857625"/>
            <a:ext cx="4572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0">
                <a:solidFill>
                  <a:srgbClr val="172033"/>
                </a:solidFill>
              </a:defRPr>
            </a:defPPr>
          </a:lstStyle>
          <a:p xmlns:a="http://schemas.openxmlformats.org/drawingml/2006/main">
            <a:pPr algn="l">
              <a:defRPr sz="1650" b="0">
                <a:solidFill>
                  <a:srgbClr val="172033"/>
                </a:solidFill>
              </a:defRPr>
            </a:pPr>
            <a:r>
              <a:rPr sz="1650" b="0">
                <a:solidFill>
                  <a:srgbClr val="172033"/>
                </a:solidFill>
              </a:rPr>
              <a:t>Same agent and Lean environment</a:t>
            </a:r>
          </a:p>
          <a:p xmlns:a="http://schemas.openxmlformats.org/drawingml/2006/main">
            <a:pPr algn="l">
              <a:defRPr sz="1650" b="0">
                <a:solidFill>
                  <a:srgbClr val="172033"/>
                </a:solidFill>
              </a:defRPr>
            </a:pPr>
            <a:r>
              <a:rPr sz="1650" b="0">
                <a:solidFill>
                  <a:srgbClr val="172033"/>
                </a:solidFill>
              </a:rPr>
              <a:t>/workspace: identical starting code</a:t>
            </a:r>
          </a:p>
          <a:p xmlns:a="http://schemas.openxmlformats.org/drawingml/2006/main">
            <a:pPr algn="l">
              <a:defRPr sz="1650" b="0">
                <a:solidFill>
                  <a:srgbClr val="172033"/>
                </a:solidFill>
              </a:defRPr>
            </a:pPr>
            <a:r>
              <a:rPr sz="1650" b="0">
                <a:solidFill>
                  <a:srgbClr val="172033"/>
                </a:solidFill>
              </a:rPr>
              <a:t>/memory: frozen snapshot, read-only</a:t>
            </a:r>
          </a:p>
        </p:txBody>
      </p:sp>
      <p:sp>
        <p:nvSpPr>
          <p:cNvPr id="17" name="">
            <a:extLst xmlns:a="http://schemas.openxmlformats.org/drawingml/2006/main">
              <a:ext uri="{FF2B5EF4-FFF2-40B4-BE49-F238E27FC236}">
                <a16:creationId xmlns:a16="http://schemas.microsoft.com/office/drawing/2014/main" id="{11E0B0C8-F5FA-4A1B-9F35-7B82D06232BA}"/>
              </a:ext>
            </a:extLst>
          </p:cNvPr>
          <p:cNvSpPr>
            <a:spLocks xmlns:a="http://schemas.openxmlformats.org/drawingml/2006/main" noGrp="1"/>
          </p:cNvSpPr>
          <p:nvPr/>
        </p:nvSpPr>
        <p:spPr>
          <a:xfrm xmlns:a="http://schemas.openxmlformats.org/drawingml/2006/main">
            <a:off x="857250" y="550545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0B1739"/>
                </a:solidFill>
              </a:defRPr>
            </a:defPPr>
          </a:lstStyle>
          <a:p xmlns:a="http://schemas.openxmlformats.org/drawingml/2006/main">
            <a:pPr algn="l">
              <a:defRPr sz="1575" b="1">
                <a:solidFill>
                  <a:srgbClr val="0B1739"/>
                </a:solidFill>
              </a:defRPr>
            </a:pPr>
            <a:r>
              <a:rPr sz="1575" b="1">
                <a:solidFill>
                  <a:srgbClr val="0B1739"/>
                </a:solidFill>
              </a:rPr>
              <a:t>Isolation rules</a:t>
            </a:r>
          </a:p>
        </p:txBody>
      </p:sp>
      <p:sp>
        <p:nvSpPr>
          <p:cNvPr id="18" name="">
            <a:extLst xmlns:a="http://schemas.openxmlformats.org/drawingml/2006/main">
              <a:ext uri="{FF2B5EF4-FFF2-40B4-BE49-F238E27FC236}">
                <a16:creationId xmlns:a16="http://schemas.microsoft.com/office/drawing/2014/main" id="{3FDA085E-E0D2-428C-AA9E-18A0581B53BB}"/>
              </a:ext>
            </a:extLst>
          </p:cNvPr>
          <p:cNvSpPr>
            <a:spLocks xmlns:a="http://schemas.openxmlformats.org/drawingml/2006/main" noGrp="1"/>
          </p:cNvSpPr>
          <p:nvPr/>
        </p:nvSpPr>
        <p:spPr>
          <a:xfrm xmlns:a="http://schemas.openxmlformats.org/drawingml/2006/main">
            <a:off x="2952750" y="5467350"/>
            <a:ext cx="838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0">
                <a:solidFill>
                  <a:srgbClr val="172033"/>
                </a:solidFill>
              </a:defRPr>
            </a:defPPr>
          </a:lstStyle>
          <a:p xmlns:a="http://schemas.openxmlformats.org/drawingml/2006/main">
            <a:pPr algn="l">
              <a:defRPr sz="1500" b="0">
                <a:solidFill>
                  <a:srgbClr val="172033"/>
                </a:solidFill>
              </a:defRPr>
            </a:pPr>
            <a:r>
              <a:rPr sz="1500" b="0">
                <a:solidFill>
                  <a:srgbClr val="172033"/>
                </a:solidFill>
              </a:rPr>
              <a:t>Mount selected files only. Exclude answer-bearing Git history and build caches.</a:t>
            </a:r>
          </a:p>
          <a:p xmlns:a="http://schemas.openxmlformats.org/drawingml/2006/main">
            <a:pPr algn="l">
              <a:defRPr sz="1500" b="0">
                <a:solidFill>
                  <a:srgbClr val="172033"/>
                </a:solidFill>
              </a:defRPr>
            </a:pPr>
            <a:r>
              <a:rPr sz="1500" b="0">
                <a:solidFill>
                  <a:srgbClr val="172033"/>
                </a:solidFill>
              </a:rPr>
              <a:t>Restrict network and external tools. Export logs and proofs for independent verification.</a:t>
            </a:r>
          </a:p>
        </p:txBody>
      </p:sp>
      <p:sp>
        <p:nvSpPr>
          <p:cNvPr id="19" name="">
            <a:extLst xmlns:a="http://schemas.openxmlformats.org/drawingml/2006/main">
              <a:ext uri="{FF2B5EF4-FFF2-40B4-BE49-F238E27FC236}">
                <a16:creationId xmlns:a16="http://schemas.microsoft.com/office/drawing/2014/main" id="{2CDD5D1E-18FE-49E3-A23A-90014E727685}"/>
              </a:ext>
            </a:extLst>
          </p:cNvPr>
          <p:cNvSpPr>
            <a:spLocks xmlns:a="http://schemas.openxmlformats.org/drawingml/2006/main" noGrp="1"/>
          </p:cNvSpPr>
          <p:nvPr/>
        </p:nvSpPr>
        <p:spPr>
          <a:xfrm xmlns:a="http://schemas.openxmlformats.org/drawingml/2006/main">
            <a:off x="666750" y="6429375"/>
            <a:ext cx="10858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825" b="0">
                <a:solidFill>
                  <a:srgbClr val="64748B"/>
                </a:solidFill>
              </a:defRPr>
            </a:defPPr>
          </a:lstStyle>
          <a:p xmlns:a="http://schemas.openxmlformats.org/drawingml/2006/main">
            <a:pPr algn="r">
              <a:defRPr sz="825" b="0">
                <a:solidFill>
                  <a:srgbClr val="64748B"/>
                </a:solidFill>
              </a:defRPr>
            </a:pPr>
            <a:r>
              <a:rPr sz="825" b="0">
                <a:solidFill>
                  <a:srgbClr val="64748B"/>
                </a:solidFill>
              </a:rPr>
              <a:t>Planned next step: build the common image, test access boundaries, then pilot the two conditions.</a:t>
            </a:r>
          </a:p>
        </p:txBody>
      </p:sp>
    </p:spTree>
    <p:extLst>
      <p:ext uri="{BB962C8B-B14F-4D97-AF65-F5344CB8AC3E}">
        <p14:creationId xmlns:p14="http://schemas.microsoft.com/office/powerpoint/2010/main" val="6964439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2026-10-12T18:37:16.2270000Z</dcterms:created>
  <dcterms:modified xsi:type="dcterms:W3CDTF">2026-10-12T18:37:16.2270000Z</dcterms:modified>
</coreProperties>
</file>