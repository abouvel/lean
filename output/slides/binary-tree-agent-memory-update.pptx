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66d923931e4180" /><Relationship Type="http://schemas.openxmlformats.org/officeDocument/2006/relationships/extended-properties" Target="/docProps/app.xml" Id="Rdddcbd9aeeef4a24" /><Relationship Type="http://schemas.openxmlformats.org/officeDocument/2006/relationships/officeDocument" Target="/ppt/presentation.xml" Id="Rba51258d32334a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379375e5064952"/>
  </p:sldMasterIdLst>
  <p:notesMasterIdLst>
    <p:notesMasterId xmlns:r="http://schemas.openxmlformats.org/officeDocument/2006/relationships" r:id="Rd3bb204b45904b56"/>
  </p:notesMasterIdLst>
  <p:sldIdLst>
    <p:sldId xmlns:r="http://schemas.openxmlformats.org/officeDocument/2006/relationships" id="256" r:id="R4cfc13741d384b50"/>
    <p:sldId xmlns:r="http://schemas.openxmlformats.org/officeDocument/2006/relationships" id="257" r:id="R621aa9fd7b3e4824"/>
    <p:sldId xmlns:r="http://schemas.openxmlformats.org/officeDocument/2006/relationships" id="258" r:id="R24e8a5c4a00642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e225e128da4403" /><Relationship Type="http://schemas.openxmlformats.org/officeDocument/2006/relationships/slideMaster" Target="/ppt/slideMasters/slideMaster1.xml" Id="R06379375e5064952" /><Relationship Type="http://schemas.openxmlformats.org/officeDocument/2006/relationships/notesMaster" Target="/ppt/notesMasters/notesMaster1.xml" Id="Rd3bb204b45904b56" /><Relationship Type="http://schemas.openxmlformats.org/officeDocument/2006/relationships/presProps" Target="/ppt/presProps.xml" Id="R818b935842764bd9" /><Relationship Type="http://schemas.openxmlformats.org/officeDocument/2006/relationships/tableStyles" Target="/ppt/tableStyles.xml" Id="Rcdd450a7118741c9" /><Relationship Type="http://schemas.openxmlformats.org/officeDocument/2006/relationships/slide" Target="/ppt/slides/slide1.xml" Id="R4cfc13741d384b50" /><Relationship Type="http://schemas.openxmlformats.org/officeDocument/2006/relationships/slide" Target="/ppt/slides/slide2.xml" Id="R621aa9fd7b3e4824" /><Relationship Type="http://schemas.openxmlformats.org/officeDocument/2006/relationships/slide" Target="/ppt/slides/slide3.xml" Id="R24e8a5c4a00642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4ba5585e9b4a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218cf536004980" /><Relationship Type="http://schemas.openxmlformats.org/officeDocument/2006/relationships/notesMaster" Target="/ppt/notesMasters/notesMaster1.xml" Id="Rdc9da0e699b240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8f726e541b47c3" /><Relationship Type="http://schemas.openxmlformats.org/officeDocument/2006/relationships/notesMaster" Target="/ppt/notesMasters/notesMaster1.xml" Id="Rac109b21895a4f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8de0f007284cbf" /><Relationship Type="http://schemas.openxmlformats.org/officeDocument/2006/relationships/notesMaster" Target="/ppt/notesMasters/notesMaster1.xml" Id="Rc95ddbd2a2ca4f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df8eba54a4f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344df75bf44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59a3fd187f407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00ddc4d524f2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6f5e0ff04f49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e27856452a44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EA521D-6389-42BB-A650-99CC9E214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706F60-C45C-44E1-AA38-5987C2EE77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A72B778-0F78-45F2-967A-C7B0D9DA16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6B08D6-7B97-47F9-8919-29C88F636F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9992C8-E41D-4136-8430-A435A3B35A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6C1291-21AE-4EAE-986E-D8738C2BBB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102C85-991B-4EC8-9214-8C7FECE51F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01AA4BB-9444-45EF-B2B0-B9395853A1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4DC315-D367-4F1D-B308-CBF0A092A6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6B5136-3C0D-40B7-9107-A2CAA72545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34a468da9c4e28" /><Relationship Type="http://schemas.openxmlformats.org/officeDocument/2006/relationships/slideLayout" Target="/ppt/slideLayouts/slideLayout1.xml" Id="R1f6c2d99772c4e5c" /><Relationship Type="http://schemas.openxmlformats.org/officeDocument/2006/relationships/slideLayout" Target="/ppt/slideLayouts/slideLayout2.xml" Id="R53941ee4e9dc43ac" /><Relationship Type="http://schemas.openxmlformats.org/officeDocument/2006/relationships/slideLayout" Target="/ppt/slideLayouts/slideLayout3.xml" Id="Rcf016fcc634e441c" /><Relationship Type="http://schemas.openxmlformats.org/officeDocument/2006/relationships/slideLayout" Target="/ppt/slideLayouts/slideLayout4.xml" Id="R964901416cda40da" /><Relationship Type="http://schemas.openxmlformats.org/officeDocument/2006/relationships/slideLayout" Target="/ppt/slideLayouts/slideLayout5.xml" Id="Rd889e72e9ee647b0" /><Relationship Type="http://schemas.openxmlformats.org/officeDocument/2006/relationships/slideLayout" Target="/ppt/slideLayouts/slideLayout6.xml" Id="R1a3a3e193cd240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6c2d99772c4e5c"/>
    <p:sldLayoutId xmlns:r="http://schemas.openxmlformats.org/officeDocument/2006/relationships" id="2147483650" r:id="R53941ee4e9dc43ac"/>
    <p:sldLayoutId xmlns:r="http://schemas.openxmlformats.org/officeDocument/2006/relationships" id="2147483651" r:id="Rcf016fcc634e441c"/>
    <p:sldLayoutId xmlns:r="http://schemas.openxmlformats.org/officeDocument/2006/relationships" id="2147483652" r:id="R964901416cda40da"/>
    <p:sldLayoutId xmlns:r="http://schemas.openxmlformats.org/officeDocument/2006/relationships" id="2147483653" r:id="Rd889e72e9ee647b0"/>
    <p:sldLayoutId xmlns:r="http://schemas.openxmlformats.org/officeDocument/2006/relationships" id="2147483654" r:id="R1a3a3e193cd240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3168550ccd4c8d" /><Relationship Type="http://schemas.openxmlformats.org/officeDocument/2006/relationships/notesSlide" Target="/ppt/notesSlides/notesSlide1.xml" Id="R47223424b68946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558536ec994ce8" /><Relationship Type="http://schemas.openxmlformats.org/officeDocument/2006/relationships/notesSlide" Target="/ppt/notesSlides/notesSlide2.xml" Id="R5211f274052040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17c4507a444d15" /><Relationship Type="http://schemas.openxmlformats.org/officeDocument/2006/relationships/notesSlide" Target="/ppt/notesSlides/notesSlide3.xml" Id="R04681961daec4e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E8D1B5-4607-4942-B375-E88D1373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8C77F-FAFB-41A2-BB9D-35554901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739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739"/>
                </a:solidFill>
              </a:defRPr>
            </a:pPr>
            <a:r>
              <a:rPr sz="2400" b="1">
                <a:solidFill>
                  <a:srgbClr val="0B1739"/>
                </a:solidFill>
              </a:rPr>
              <a:t>Binary-tree floating-point reduction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5CE6A-C591-4D40-A844-5C235712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1333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DD229-1452-4072-B436-E674CB52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Algorithm 1 pairs the two active halves at each level. An unmatched value moves forward without another addition.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E926C-2BE0-4434-8E11-BAAD8842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09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8933E-DA3A-494C-A48E-DAD0DBF0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098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8FF10-6736-4B1D-A9A8-E3772479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D3943-80FD-4A09-A3EA-E7C02C85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F67A9-D490-4BC2-8606-C5615FD0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09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623A8-2A03-45EA-9526-B3481DEA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098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D9575-A4F8-4987-B5CB-E987DE76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9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720E9-B05D-4483-BF6B-688F9EC6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98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6BB32-143C-4860-B665-72CC38C4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BEA99-FCE3-456C-8D21-F0C19A5D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A741D-E51E-4A9B-85F9-76CF86EE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LEVEL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039B1-67ED-465D-9F94-62943514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619250" y="2752725"/>
            <a:ext cx="85725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E98BBA-22E6-45CB-9365-D09FC5C4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476500" y="2752725"/>
            <a:ext cx="428625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30862-99CE-44C1-8D1D-7EF9C08B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750" y="2752725"/>
            <a:ext cx="257175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59C66C-8544-4DC9-9BA1-7E7DBC27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905500" y="2752725"/>
            <a:ext cx="257175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FD425F-345E-497C-BF85-2F2E6379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48250" y="2752725"/>
            <a:ext cx="342900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D03A3C-F075-4C5F-959F-9DB98547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57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E58BA3-BAEE-4807-8024-E847AC23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575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992297-2B99-4E42-94FE-65312862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57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7C2331-91B4-4BD9-97FC-080B769A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575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E1B187-D62D-4137-A09B-ECE21B16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D01FE0-23AD-4F1D-9876-F7CE2D9E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083155-71BE-4613-AB23-CE077AFD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LEVEL 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F32F2E-096F-4D72-A537-BADB966A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D97706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carried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138747-E2F5-4B43-B247-4D3C7058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6500" y="3800475"/>
            <a:ext cx="171450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179ADD-17AB-4BB1-B152-F25FE79B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191000" y="3800475"/>
            <a:ext cx="428625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24DF3B-BCEA-4B4C-BB31-1CD965A3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0" y="3800475"/>
            <a:ext cx="85725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599324-CD04-446C-853B-F5F86805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05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D04B41-8EA8-4287-8B11-17F476F4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053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11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94317D-EB99-4A58-95EF-EB176747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05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A2115E-10AA-438A-B129-4D4DE76C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053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F6F094-33A4-4225-A988-97C5403A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LEVEL 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351A91-43DE-444C-9AAA-56134529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91000" y="4848225"/>
            <a:ext cx="128587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BAAD5B-AAB4-40A4-9E4C-1FA03E03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476875" y="4848225"/>
            <a:ext cx="128587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14BAE3-6CF2-4CE2-9A4F-93D7DDFD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3149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28575">
            <a:solidFill>
              <a:srgbClr val="16A3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AA84FB-D3EA-4FD9-8BE2-D7848368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3149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20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E993B9-C4A0-4751-A80C-E2106CEB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LEVEL 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B0A92F-2FD9-40F8-8341-5F3CC95F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33625"/>
            <a:ext cx="1714500" cy="33813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739"/>
          </a:solidFill>
          <a:ln xmlns:a="http://schemas.openxmlformats.org/drawingml/2006/main" w="9525">
            <a:solidFill>
              <a:srgbClr val="0B173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CC29D6-6038-4AC4-9BA0-B21C75E9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717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Verified properties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2E7B79-A7CD-4131-92C2-7B71C3A2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0"/>
            <a:ext cx="133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Exact levels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Unmatched carry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All inputs preserved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Depth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Final sum = 20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0CF54E-E8F5-4B8C-8116-B6914986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Five-input acceptance test formalized in Lean</a:t>
            </a:r>
          </a:p>
        </p:txBody>
      </p:sp>
    </p:spTree>
    <p:extLst>
      <p:ext uri="{BB962C8B-B14F-4D97-AF65-F5344CB8AC3E}">
        <p14:creationId xmlns:p14="http://schemas.microsoft.com/office/powerpoint/2010/main" val="91195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992E91-90F9-4709-9425-07777EBA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4A434-5F71-492A-A7C6-13ED2FD1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739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739"/>
                </a:solidFill>
              </a:defRPr>
            </a:pPr>
            <a:r>
              <a:rPr sz="2400" b="1">
                <a:solidFill>
                  <a:srgbClr val="0B1739"/>
                </a:solidFill>
              </a:rPr>
              <a:t>Lean implementation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7F901-489C-4395-8BB9-CFB99D15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1333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EF62E-26D3-43E3-BA25-A1B9781A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43125" y="2714625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BE898-BBCF-4745-BE9C-18B4E7BC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142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374E2-3BD6-416D-8456-D34EB6FD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669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0B1739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B1739"/>
                </a:solidFill>
              </a:defRPr>
            </a:pPr>
            <a:r>
              <a:rPr sz="1275" b="1">
                <a:solidFill>
                  <a:srgbClr val="0B1739"/>
                </a:solidFill>
              </a:rPr>
              <a:t>Floating-point</a:t>
            </a:r>
          </a:p>
          <a:p xmlns:a="http://schemas.openxmlformats.org/drawingml/2006/main">
            <a:pPr algn="ctr">
              <a:defRPr sz="1275" b="1">
                <a:solidFill>
                  <a:srgbClr val="0B1739"/>
                </a:solidFill>
              </a:defRPr>
            </a:pPr>
            <a:r>
              <a:rPr sz="1275" b="1">
                <a:solidFill>
                  <a:srgbClr val="0B1739"/>
                </a:solidFill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2D0BC-D3B6-4A77-B7EC-B7861ABF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194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fl(z) = z(1 + δ)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2D451-0DD5-43C5-8D20-3D87337A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81500" y="2714625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25F79-2C81-4D2F-8231-0E40B24C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142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2CD18-31DF-46E1-9CA9-8B3074A8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669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0B1739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B1739"/>
                </a:solidFill>
              </a:defRPr>
            </a:pPr>
            <a:r>
              <a:rPr sz="1275" b="1">
                <a:solidFill>
                  <a:srgbClr val="0B1739"/>
                </a:solidFill>
              </a:rPr>
              <a:t>Accumulated</a:t>
            </a:r>
          </a:p>
          <a:p xmlns:a="http://schemas.openxmlformats.org/drawingml/2006/main">
            <a:pPr algn="ctr">
              <a:defRPr sz="1275" b="1">
                <a:solidFill>
                  <a:srgbClr val="0B1739"/>
                </a:solidFill>
              </a:defRPr>
            </a:pPr>
            <a:r>
              <a:rPr sz="1275" b="1">
                <a:solidFill>
                  <a:srgbClr val="0B1739"/>
                </a:solidFill>
              </a:rPr>
              <a:t>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7CA8C-0943-4D89-A99E-E114D55C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194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|θₖ| ≤ γₖ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055F4-22E4-4C3C-BDF9-FEFB173E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19875" y="2714625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BE261-BD47-430C-A09E-F5A6A281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43125"/>
            <a:ext cx="142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98026-0287-492B-BA4B-AEC02FD2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669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0B1739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B1739"/>
                </a:solidFill>
              </a:defRPr>
            </a:pPr>
            <a:r>
              <a:rPr sz="1275" b="1">
                <a:solidFill>
                  <a:srgbClr val="0B1739"/>
                </a:solidFill>
              </a:rPr>
              <a:t>Algorithm 1</a:t>
            </a:r>
          </a:p>
          <a:p xmlns:a="http://schemas.openxmlformats.org/drawingml/2006/main">
            <a:pPr algn="ctr">
              <a:defRPr sz="1275" b="1">
                <a:solidFill>
                  <a:srgbClr val="0B1739"/>
                </a:solidFill>
              </a:defRPr>
            </a:pPr>
            <a:r>
              <a:rPr sz="1275" b="1">
                <a:solidFill>
                  <a:srgbClr val="0B1739"/>
                </a:solidFill>
              </a:rPr>
              <a:t>tree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5C6AA-254D-4B45-9CCD-63B4B41A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194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depth ≤ clog₂ 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CE9ED-4B17-419C-8580-ED00DB70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58250" y="2714625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974C0-2B8A-4EC7-8861-A2AC554C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142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BCB645-B84E-4C5F-BA27-1B155058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0B1739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B1739"/>
                </a:solidFill>
              </a:defRPr>
            </a:pPr>
            <a:r>
              <a:rPr sz="1275" b="1">
                <a:solidFill>
                  <a:srgbClr val="0B1739"/>
                </a:solidFill>
              </a:rPr>
              <a:t>Backward-error</a:t>
            </a:r>
          </a:p>
          <a:p xmlns:a="http://schemas.openxmlformats.org/drawingml/2006/main">
            <a:pPr algn="ctr">
              <a:defRPr sz="1275" b="1">
                <a:solidFill>
                  <a:srgbClr val="0B1739"/>
                </a:solidFill>
              </a:defRPr>
            </a:pPr>
            <a:r>
              <a:rPr sz="1275" b="1">
                <a:solidFill>
                  <a:srgbClr val="0B1739"/>
                </a:solidFill>
              </a:rPr>
              <a:t>theorem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0FE42-2207-43A0-B170-97199BA9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194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|Δxᵢ| ≤ γₗ|xᵢ|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80E43A-D853-457D-A375-CE3F5A4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143125"/>
            <a:ext cx="1428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B33315-85C0-49E1-BCDE-4115F694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669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0B1739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B1739"/>
                </a:solidFill>
              </a:defRPr>
            </a:pPr>
            <a:r>
              <a:rPr sz="1275" b="1">
                <a:solidFill>
                  <a:srgbClr val="0B1739"/>
                </a:solidFill>
              </a:rPr>
              <a:t>Lean</a:t>
            </a:r>
          </a:p>
          <a:p xmlns:a="http://schemas.openxmlformats.org/drawingml/2006/main">
            <a:pPr algn="ctr">
              <a:defRPr sz="1275" b="1">
                <a:solidFill>
                  <a:srgbClr val="0B1739"/>
                </a:solidFill>
              </a:defRPr>
            </a:pPr>
            <a:r>
              <a:rPr sz="1275" b="1">
                <a:solidFill>
                  <a:srgbClr val="0B1739"/>
                </a:solidFill>
              </a:rPr>
              <a:t>verification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78A4D-6F8B-472E-9210-AB98F154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8194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full project build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E4D015-F916-4460-9108-484D2341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B1739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B1739"/>
                </a:solidFill>
              </a:defRPr>
            </a:pPr>
            <a:r>
              <a:rPr sz="1725" b="1">
                <a:solidFill>
                  <a:srgbClr val="0B1739"/>
                </a:solidFill>
              </a:rPr>
              <a:t>What Lean now proves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4FB407-A8DC-467B-80FB-F181C1F0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619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For every nonempty input list, Algorithm 1 returns one tree, preserves every input occurrence, keeps the exact sum, and has depth at most Nat.clog 2 n. The tree then satisfies the deterministic floating-point backward-error bound.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C1CC0C-60BF-458B-8090-65C5FAB7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57625"/>
            <a:ext cx="4000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B1739"/>
          </a:solidFill>
          <a:ln xmlns:a="http://schemas.openxmlformats.org/drawingml/2006/main" w="9525">
            <a:solidFill>
              <a:srgbClr val="0B173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5B0EB2-0663-44E7-AC97-8AADA17D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8,036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BC5EE7-A48E-4B0C-A1E5-27ED83A5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386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BFDBFE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BFDBFE"/>
                </a:solidFill>
              </a:defRPr>
            </a:pPr>
            <a:r>
              <a:rPr sz="1350" b="0">
                <a:solidFill>
                  <a:srgbClr val="BFDBFE"/>
                </a:solidFill>
              </a:rPr>
              <a:t>build jobs passed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64C317-8B86-4EB5-9279-54DC8D9E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0" y="409575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29C17E-15D4-453B-92BA-4219FEB3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4812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A1F1AC-4CE7-46A8-8AC2-3809C218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5910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BFDBFE"/>
                </a:solidFill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BFDBFE"/>
                </a:solidFill>
              </a:defRPr>
            </a:pPr>
            <a:r>
              <a:rPr sz="1125" b="0">
                <a:solidFill>
                  <a:srgbClr val="BFDBFE"/>
                </a:solidFill>
              </a:rPr>
              <a:t>sorry, admit, or</a:t>
            </a:r>
          </a:p>
          <a:p xmlns:a="http://schemas.openxmlformats.org/drawingml/2006/main">
            <a:pPr algn="ctr">
              <a:defRPr sz="1125" b="0">
                <a:solidFill>
                  <a:srgbClr val="BFDBFE"/>
                </a:solidFill>
              </a:defRPr>
            </a:pPr>
            <a:r>
              <a:rPr sz="1125" b="0">
                <a:solidFill>
                  <a:srgbClr val="BFDBFE"/>
                </a:solidFill>
              </a:rPr>
              <a:t>custom axioms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6D9500-6EBC-471B-BABA-EA408956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Abstract relative-error model; deterministic result</a:t>
            </a:r>
          </a:p>
        </p:txBody>
      </p:sp>
    </p:spTree>
    <p:extLst>
      <p:ext uri="{BB962C8B-B14F-4D97-AF65-F5344CB8AC3E}">
        <p14:creationId xmlns:p14="http://schemas.microsoft.com/office/powerpoint/2010/main" val="10848786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63CB7-3E04-44DF-A216-5020ABD9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1ACE3-B6E6-4A52-90F7-02EA4468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1739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B1739"/>
                </a:solidFill>
              </a:defRPr>
            </a:pPr>
            <a:r>
              <a:rPr sz="2400" b="1">
                <a:solidFill>
                  <a:srgbClr val="0B1739"/>
                </a:solidFill>
              </a:rPr>
              <a:t>Agent memory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EBEFA-045E-4259-8416-33DE9220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" y="1333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05774-00C2-44E2-9493-F6846CFE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The next question is whether compiler-verified external memory improves proof performance without changing model weights.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B5708-6FBB-4219-ADB1-990CBE90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7645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B1739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0B1739"/>
                </a:solidFill>
              </a:defRPr>
            </a:pPr>
            <a:r>
              <a:rPr sz="1350" b="1">
                <a:solidFill>
                  <a:srgbClr val="0B1739"/>
                </a:solidFill>
              </a:rPr>
              <a:t>Same task specification, model, tools, time limit, and 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96D33-135B-4CF1-BBE4-64815E87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4381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8B881-D739-4739-A0FF-867CCDB9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52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B1739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B1739"/>
                </a:solidFill>
              </a:defRPr>
            </a:pPr>
            <a:r>
              <a:rPr sz="1800" b="1">
                <a:solidFill>
                  <a:srgbClr val="0B1739"/>
                </a:solidFill>
              </a:rPr>
              <a:t>Stateless condition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EBC2F-01E4-4AB3-B888-A7CAEC34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76625"/>
            <a:ext cx="3619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No artifact retrieval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No prior run records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Ordinary Lean source and library search remain available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F8420-5D54-468E-B543-977745BE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4381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72ED5-CEA9-4A21-9966-607A7C99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52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Artifact-enabled condition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400F0-E17E-4752-8294-3DADA167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76625"/>
            <a:ext cx="3619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72033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Search a frozen artifact snapshot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Log every retrieved artifact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Use verified strategies and failure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6D2A9-CB14-41B9-9109-D5CD263F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38750" y="39052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FDC48-0A34-48F2-96E0-EA76A00A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385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9526A-56C5-4562-837C-C568E46B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Primary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C1C9F-35DC-4EBA-8604-03B19411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B1739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B1739"/>
                </a:solidFill>
              </a:defRPr>
            </a:pPr>
            <a:r>
              <a:rPr sz="1650" b="1">
                <a:solidFill>
                  <a:srgbClr val="0B1739"/>
                </a:solidFill>
              </a:rPr>
              <a:t>Proof success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B0B28-0AC6-4405-87AB-323D619E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768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Secondary outcomes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DF691-68FD-4443-8ADD-A55D8625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531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B1739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B1739"/>
                </a:solidFill>
              </a:defRPr>
            </a:pPr>
            <a:r>
              <a:rPr sz="1500" b="1">
                <a:solidFill>
                  <a:srgbClr val="0B1739"/>
                </a:solidFill>
              </a:rPr>
              <a:t>Time, cost, compiler attempts, Aristotle calls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D9562D-55E9-4D2C-8A4A-68D56C4A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External-memory learning measured through controlled ablation</a:t>
            </a:r>
          </a:p>
        </p:txBody>
      </p:sp>
    </p:spTree>
    <p:extLst>
      <p:ext uri="{BB962C8B-B14F-4D97-AF65-F5344CB8AC3E}">
        <p14:creationId xmlns:p14="http://schemas.microsoft.com/office/powerpoint/2010/main" val="958298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2026-10-12T15:37:53.9800000Z</dcterms:created>
  <dcterms:modified xsi:type="dcterms:W3CDTF">2026-10-12T15:37:53.9800000Z</dcterms:modified>
</coreProperties>
</file>