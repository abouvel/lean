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1"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889" autoAdjust="0"/>
  </p:normalViewPr>
  <p:slideViewPr>
    <p:cSldViewPr snapToGrid="0">
      <p:cViewPr varScale="1">
        <p:scale>
          <a:sx n="43" d="100"/>
          <a:sy n="43" d="100"/>
        </p:scale>
        <p:origin x="76" y="5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row has fewer partial sums until one result remains. The five-input example checks the paper's exact pairing. A carried value gets no extra addition or rounding.</a:t>
            </a:r>
          </a:p>
          <a:p>
            <a:endParaRPr/>
          </a:p>
          <a:p>
            <a:r>
              <a:t>Lean proves this for every nonempty list: every input survives, including duplicates, and depth is at most ceil(log2 n). Under the relative-error assumption, the computed answer is the exact sum of slightly perturbed inputs, bounded by gamma.</a:t>
            </a:r>
          </a:p>
          <a:p>
            <a:endParaRPr/>
          </a:p>
          <a:p>
            <a:r>
              <a:t>If asked: the dot product adds one multiplication error per leaf. The current result is deterministic and uses an abstract model, without IEEE 754 bit semantics.</a:t>
            </a:r>
          </a:p>
          <a:p>
            <a:endParaRPr/>
          </a:p>
          <a:p>
            <a:r>
              <a:t>Code: Research/Projects/BinaryTreeReduction/{Algorithm,Examples,Reduction,DotProduct}.lean; Research/Common/FloatingPoint/Model.lean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guided the specification, tests, and decomposition. The coding agent generated and repaired substantial parts of the Lean code. Lean checked the resulting proofs.</a:t>
            </a:r>
          </a:p>
          <a:p>
            <a:endParaRPr/>
          </a:p>
          <a:p>
            <a:r>
              <a:t>The core argument is induction: bound the two subtrees, then account for one more rounding factor. I also review the statement against the paper, because Lean can verify a correctly proved but incorrectly specified theorem.</a:t>
            </a:r>
          </a:p>
          <a:p>
            <a:endParaRPr/>
          </a:p>
          <a:p>
            <a:r>
              <a:t>We used no Aristotle for this run. The 8,036 figure counts build jobs, including dependencies, rather than independent tests. The final gate builds the project and scans for sorry, admit, and custom axiom declarations.</a:t>
            </a:r>
          </a:p>
          <a:p>
            <a:endParaRPr/>
          </a:p>
          <a:p>
            <a:r>
              <a:t>Evidence: pipeline/verify.sh; projects/binary-tree-reduction/theorem.md; artifacts/runs/2026-10-11-algorithm1-offset-reduction.md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Next, I want to compare fresh agents with and without verified memory on new proofs. Both conditions get the same starting code, model, tools, and budget. The completed target proof stays unavailable.</a:t>
            </a:r>
          </a:p>
          <a:p>
            <a:endParaRPr/>
          </a:p>
          <a:p>
            <a:r>
              <a:t>I will measure proof success first, then time, cost, compiler attempts, and Aristotle calls. I will also check whether the agent found and correctly applied a relevant lesson. Include the cost of creating memory.</a:t>
            </a:r>
          </a:p>
          <a:p>
            <a:endParaRPr/>
          </a:p>
          <a:p>
            <a:r>
              <a:t>The plasticity paper found that reuse can help, but high reuse alone does not guarantee improvement. This experiment tests external-memory adaptation with fixed model weights. We have not demonstrated a performance gain yet.</a:t>
            </a:r>
          </a:p>
          <a:p>
            <a:endParaRPr/>
          </a:p>
          <a:p>
            <a:r>
              <a:t>Sources: AGENTS.md; pipeline/README.md; C:/Users/austi/Downloads/2610.08902v1.pdf, sections 2-4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keep one repository, but each run gets a separate container and fresh session. The agent and all file tools execute inside it.</a:t>
            </a:r>
          </a:p>
          <a:p>
            <a:endParaRPr/>
          </a:p>
          <a:p>
            <a:r>
              <a:t>A host-side script copies permitted files into each workspace. It mounts the frozen artifact snapshot read-only at /memory for the retrieved condition. The stateless condition gets no memory mount.</a:t>
            </a:r>
          </a:p>
          <a:p>
            <a:endParaRPr/>
          </a:p>
          <a:p>
            <a:r>
              <a:t>Exclude completed proofs, answer-bearing Git history, and build outputs. Restrict other tools and network access so they cannot bypass isolation. Test those boundaries before the experiment. This setup is proposed and still needs implementation.</a:t>
            </a:r>
          </a:p>
          <a:p>
            <a:endParaRPr/>
          </a:p>
          <a:p>
            <a:r>
              <a:t>Reference: https://developers.openai.com/codex/cli; project protocol in AGENTS.md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whole system stays in one monorepo. A small orchestration script prepares identical starting workspaces, freezes memory, and launches fresh agent runs. An orchestrator agent is optional.</a:t>
            </a:r>
          </a:p>
          <a:p>
            <a:endParaRPr/>
          </a:p>
          <a:p>
            <a:r>
              <a:t>Each agent writes proofs and logs its decisions. A trusted evaluator checks the exported code, and I review its mathematical meaning. We compare success and cost across the two conditions.</a:t>
            </a:r>
          </a:p>
          <a:p>
            <a:endParaRPr/>
          </a:p>
          <a:p>
            <a:r>
              <a:t>Only after both runs finish do we promote verified lessons into memory for future experiments. The Lean foundation exists. Container orchestration and comparative evaluation are the next steps.</a:t>
            </a:r>
          </a:p>
          <a:p>
            <a:endParaRPr/>
          </a:p>
          <a:p>
            <a:r>
              <a:t>Sources: pipeline/README.md; AGENTS.md; proposed architecture from this research plan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paper shows that retrieving and reusing memory does not explain all improvement. Relevant lessons can still be poor, too specific, or incorrectly applied. These are candidate bottlenecks, not established causal findings.</a:t>
            </a:r>
          </a:p>
          <a:p>
            <a:endParaRPr/>
          </a:p>
          <a:p>
            <a:r>
              <a:t>After the baseline works, I would test three changes separately: supply relevant lessons directly, improve lessons using compiler feedback, and save tested executable skills alongside notes.</a:t>
            </a:r>
          </a:p>
          <a:p>
            <a:endParaRPr/>
          </a:p>
          <a:p>
            <a:r>
              <a:t>Each change must improve verified performance on unseen proofs relative to its total cost. Post-training can wait until we have a reliable evaluation.</a:t>
            </a:r>
          </a:p>
          <a:p>
            <a:endParaRPr/>
          </a:p>
          <a:p>
            <a:r>
              <a:t>Source: C:/Users/austi/Downloads/2610.08902v1.pdf, Agent Plasticity: Measuring Self-Improvement Through Experience, sections 3.5 and 4. The experiments listed here are proposed adaptations for Lean.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DB91804-B8DE-49E1-945B-93C295CE6E60}"/>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A4F8A991-B1C0-463E-A1E6-E74FAFC16163}"/>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8CB384AA-84B0-43C3-A541-C8CBE1EAF8C5}"/>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5E481C5-8456-4F1D-8B14-266A7BCAE6B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BA156454-AA3E-4AAC-BD78-4DBE089361DD}"/>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504E8D41-E0C8-4610-9AE3-AD2A59C4193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AFB615B2-0989-49E2-A995-F403B897C3F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52E98744-E27B-466D-BA9C-0C93CB663872}"/>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E1315B2-0AAE-475F-B4A5-0CA5AEEC98A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9B3B20C8-2A68-4DEC-A303-0791EDABD7E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DB43FF63-86B6-4EAB-9011-3483909D5B78}"/>
              </a:ext>
            </a:extLst>
          </p:cNvPr>
          <p:cNvSpPr>
            <a:spLocks noGrp="1"/>
          </p:cNvSpPr>
          <p:nvPr/>
        </p:nvSpPr>
        <p:spPr>
          <a:xfrm>
            <a:off x="666750" y="361950"/>
            <a:ext cx="419100" cy="247650"/>
          </a:xfrm>
          <a:prstGeom prst="rect">
            <a:avLst/>
          </a:prstGeom>
          <a:noFill/>
          <a:ln w="0">
            <a:noFill/>
            <a:prstDash val="solid"/>
          </a:ln>
        </p:spPr>
        <p:txBody>
          <a:bodyPr anchor="ctr"/>
          <a:lstStyle>
            <a:defPPr algn="l">
              <a:defRPr sz="975" b="1">
                <a:solidFill>
                  <a:srgbClr val="2563EB"/>
                </a:solidFill>
              </a:defRPr>
            </a:defPPr>
          </a:lstStyle>
          <a:p>
            <a:pPr algn="l">
              <a:defRPr sz="975" b="1">
                <a:solidFill>
                  <a:srgbClr val="2563EB"/>
                </a:solidFill>
              </a:defRPr>
            </a:pPr>
            <a:r>
              <a:rPr sz="975" b="1">
                <a:solidFill>
                  <a:srgbClr val="2563EB"/>
                </a:solidFill>
              </a:rPr>
              <a:t>01</a:t>
            </a:r>
          </a:p>
        </p:txBody>
      </p:sp>
      <p:sp>
        <p:nvSpPr>
          <p:cNvPr id="2" name="Rectangle 1">
            <a:extLst>
              <a:ext uri="{FF2B5EF4-FFF2-40B4-BE49-F238E27FC236}">
                <a16:creationId xmlns:a16="http://schemas.microsoft.com/office/drawing/2014/main" id="{41AB3FE5-E87B-4B17-9E77-8D7571B7D31E}"/>
              </a:ext>
            </a:extLst>
          </p:cNvPr>
          <p:cNvSpPr>
            <a:spLocks noGrp="1"/>
          </p:cNvSpPr>
          <p:nvPr/>
        </p:nvSpPr>
        <p:spPr>
          <a:xfrm>
            <a:off x="666750" y="685800"/>
            <a:ext cx="10477500" cy="552450"/>
          </a:xfrm>
          <a:prstGeom prst="rect">
            <a:avLst/>
          </a:prstGeom>
          <a:noFill/>
          <a:ln w="0">
            <a:noFill/>
            <a:prstDash val="solid"/>
          </a:ln>
        </p:spPr>
        <p:txBody>
          <a:bodyPr anchor="ctr"/>
          <a:lstStyle>
            <a:defPPr algn="l">
              <a:defRPr sz="2400" b="1">
                <a:solidFill>
                  <a:srgbClr val="0B1739"/>
                </a:solidFill>
              </a:defRPr>
            </a:defPPr>
          </a:lstStyle>
          <a:p>
            <a:pPr algn="l">
              <a:defRPr sz="2400" b="1">
                <a:solidFill>
                  <a:srgbClr val="0B1739"/>
                </a:solidFill>
              </a:defRPr>
            </a:pPr>
            <a:r>
              <a:rPr sz="2400" b="1">
                <a:solidFill>
                  <a:srgbClr val="0B1739"/>
                </a:solidFill>
              </a:rPr>
              <a:t>Binary-tree floating-point reduction</a:t>
            </a:r>
          </a:p>
        </p:txBody>
      </p:sp>
      <p:sp>
        <p:nvSpPr>
          <p:cNvPr id="3" name="Straight Connector 2">
            <a:extLst>
              <a:ext uri="{FF2B5EF4-FFF2-40B4-BE49-F238E27FC236}">
                <a16:creationId xmlns:a16="http://schemas.microsoft.com/office/drawing/2014/main" id="{1A31DCC2-F0A8-4B55-A38E-2C61E0F87072}"/>
              </a:ext>
            </a:extLst>
          </p:cNvPr>
          <p:cNvSpPr>
            <a:spLocks noGrp="1"/>
          </p:cNvSpPr>
          <p:nvPr/>
        </p:nvSpPr>
        <p:spPr>
          <a:xfrm>
            <a:off x="666750" y="1333500"/>
            <a:ext cx="10858500" cy="0"/>
          </a:xfrm>
          <a:prstGeom prst="line">
            <a:avLst/>
          </a:prstGeom>
          <a:noFill/>
          <a:ln w="9525">
            <a:solidFill>
              <a:srgbClr val="CBD5E1"/>
            </a:solidFill>
            <a:prstDash val="solid"/>
          </a:ln>
        </p:spPr>
        <p:txBody>
          <a:bodyPr/>
          <a:lstStyle/>
          <a:p>
            <a:endParaRPr lang="en-US"/>
          </a:p>
        </p:txBody>
      </p:sp>
      <p:sp>
        <p:nvSpPr>
          <p:cNvPr id="4" name="Rectangle 3">
            <a:extLst>
              <a:ext uri="{FF2B5EF4-FFF2-40B4-BE49-F238E27FC236}">
                <a16:creationId xmlns:a16="http://schemas.microsoft.com/office/drawing/2014/main" id="{DE59232D-F7FB-4A42-B1ED-3358E73066CF}"/>
              </a:ext>
            </a:extLst>
          </p:cNvPr>
          <p:cNvSpPr>
            <a:spLocks noGrp="1"/>
          </p:cNvSpPr>
          <p:nvPr/>
        </p:nvSpPr>
        <p:spPr>
          <a:xfrm>
            <a:off x="666750" y="1457325"/>
            <a:ext cx="10668000" cy="457200"/>
          </a:xfrm>
          <a:prstGeom prst="rect">
            <a:avLst/>
          </a:prstGeom>
          <a:noFill/>
          <a:ln w="0">
            <a:noFill/>
            <a:prstDash val="solid"/>
          </a:ln>
        </p:spPr>
        <p:txBody>
          <a:bodyPr anchor="ctr"/>
          <a:lstStyle>
            <a:defPPr algn="l">
              <a:defRPr sz="1500" b="0">
                <a:solidFill>
                  <a:srgbClr val="64748B"/>
                </a:solidFill>
              </a:defRPr>
            </a:defPPr>
          </a:lstStyle>
          <a:p>
            <a:pPr algn="l">
              <a:defRPr sz="1500" b="0">
                <a:solidFill>
                  <a:srgbClr val="64748B"/>
                </a:solidFill>
              </a:defRPr>
            </a:pPr>
            <a:r>
              <a:rPr sz="1500" b="0">
                <a:solidFill>
                  <a:srgbClr val="64748B"/>
                </a:solidFill>
              </a:rPr>
              <a:t>Completed: Algorithm 1 for every nonempty list, with a deterministic backward-error theorem in Lean.</a:t>
            </a:r>
          </a:p>
        </p:txBody>
      </p:sp>
      <p:sp>
        <p:nvSpPr>
          <p:cNvPr id="5" name="Oval 4">
            <a:extLst>
              <a:ext uri="{FF2B5EF4-FFF2-40B4-BE49-F238E27FC236}">
                <a16:creationId xmlns:a16="http://schemas.microsoft.com/office/drawing/2014/main" id="{5119ECAF-FD00-4884-BD0D-F7D7C0DCD413}"/>
              </a:ext>
            </a:extLst>
          </p:cNvPr>
          <p:cNvSpPr>
            <a:spLocks noGrp="1"/>
          </p:cNvSpPr>
          <p:nvPr/>
        </p:nvSpPr>
        <p:spPr>
          <a:xfrm>
            <a:off x="1352550" y="2209800"/>
            <a:ext cx="533400" cy="533400"/>
          </a:xfrm>
          <a:prstGeom prst="ellipse">
            <a:avLst/>
          </a:prstGeom>
          <a:solidFill>
            <a:srgbClr val="FFFFFF"/>
          </a:solidFill>
          <a:ln w="19050">
            <a:solidFill>
              <a:srgbClr val="2563EB"/>
            </a:solidFill>
            <a:prstDash val="solid"/>
          </a:ln>
        </p:spPr>
        <p:txBody>
          <a:bodyPr/>
          <a:lstStyle/>
          <a:p>
            <a:endParaRPr lang="en-US"/>
          </a:p>
        </p:txBody>
      </p:sp>
      <p:sp>
        <p:nvSpPr>
          <p:cNvPr id="6" name="Rectangle 5">
            <a:extLst>
              <a:ext uri="{FF2B5EF4-FFF2-40B4-BE49-F238E27FC236}">
                <a16:creationId xmlns:a16="http://schemas.microsoft.com/office/drawing/2014/main" id="{3692961A-964E-49BE-A281-8DDAC4AA4F9E}"/>
              </a:ext>
            </a:extLst>
          </p:cNvPr>
          <p:cNvSpPr>
            <a:spLocks noGrp="1"/>
          </p:cNvSpPr>
          <p:nvPr/>
        </p:nvSpPr>
        <p:spPr>
          <a:xfrm>
            <a:off x="1352550" y="2209800"/>
            <a:ext cx="533400" cy="533400"/>
          </a:xfrm>
          <a:prstGeom prst="rect">
            <a:avLst/>
          </a:prstGeom>
          <a:noFill/>
          <a:ln w="0">
            <a:noFill/>
            <a:prstDash val="solid"/>
          </a:ln>
        </p:spPr>
        <p:txBody>
          <a:bodyPr anchor="ctr"/>
          <a:lstStyle>
            <a:defPPr algn="ctr">
              <a:defRPr sz="1200" b="1">
                <a:solidFill>
                  <a:srgbClr val="172033"/>
                </a:solidFill>
              </a:defRPr>
            </a:defPPr>
          </a:lstStyle>
          <a:p>
            <a:pPr algn="ctr">
              <a:defRPr sz="1200" b="1">
                <a:solidFill>
                  <a:srgbClr val="172033"/>
                </a:solidFill>
              </a:defRPr>
            </a:pPr>
            <a:r>
              <a:rPr sz="1200" b="1">
                <a:solidFill>
                  <a:srgbClr val="172033"/>
                </a:solidFill>
              </a:rPr>
              <a:t>2</a:t>
            </a:r>
          </a:p>
        </p:txBody>
      </p:sp>
      <p:sp>
        <p:nvSpPr>
          <p:cNvPr id="7" name="Oval 6">
            <a:extLst>
              <a:ext uri="{FF2B5EF4-FFF2-40B4-BE49-F238E27FC236}">
                <a16:creationId xmlns:a16="http://schemas.microsoft.com/office/drawing/2014/main" id="{4A6E578A-FCE6-474B-965A-2AE516C18EB5}"/>
              </a:ext>
            </a:extLst>
          </p:cNvPr>
          <p:cNvSpPr>
            <a:spLocks noGrp="1"/>
          </p:cNvSpPr>
          <p:nvPr/>
        </p:nvSpPr>
        <p:spPr>
          <a:xfrm>
            <a:off x="3067050" y="2209800"/>
            <a:ext cx="533400" cy="533400"/>
          </a:xfrm>
          <a:prstGeom prst="ellipse">
            <a:avLst/>
          </a:prstGeom>
          <a:solidFill>
            <a:srgbClr val="FFFFFF"/>
          </a:solidFill>
          <a:ln w="19050">
            <a:solidFill>
              <a:srgbClr val="2563EB"/>
            </a:solidFill>
            <a:prstDash val="solid"/>
          </a:ln>
        </p:spPr>
        <p:txBody>
          <a:bodyPr/>
          <a:lstStyle/>
          <a:p>
            <a:endParaRPr lang="en-US"/>
          </a:p>
        </p:txBody>
      </p:sp>
      <p:sp>
        <p:nvSpPr>
          <p:cNvPr id="8" name="Rectangle 7">
            <a:extLst>
              <a:ext uri="{FF2B5EF4-FFF2-40B4-BE49-F238E27FC236}">
                <a16:creationId xmlns:a16="http://schemas.microsoft.com/office/drawing/2014/main" id="{9F1665C5-BFE4-4FDD-B2C6-B837009697A2}"/>
              </a:ext>
            </a:extLst>
          </p:cNvPr>
          <p:cNvSpPr>
            <a:spLocks noGrp="1"/>
          </p:cNvSpPr>
          <p:nvPr/>
        </p:nvSpPr>
        <p:spPr>
          <a:xfrm>
            <a:off x="3067050" y="2209800"/>
            <a:ext cx="533400" cy="533400"/>
          </a:xfrm>
          <a:prstGeom prst="rect">
            <a:avLst/>
          </a:prstGeom>
          <a:noFill/>
          <a:ln w="0">
            <a:noFill/>
            <a:prstDash val="solid"/>
          </a:ln>
        </p:spPr>
        <p:txBody>
          <a:bodyPr anchor="ctr"/>
          <a:lstStyle>
            <a:defPPr algn="ctr">
              <a:defRPr sz="1200" b="1">
                <a:solidFill>
                  <a:srgbClr val="172033"/>
                </a:solidFill>
              </a:defRPr>
            </a:defPPr>
          </a:lstStyle>
          <a:p>
            <a:pPr algn="ctr">
              <a:defRPr sz="1200" b="1">
                <a:solidFill>
                  <a:srgbClr val="172033"/>
                </a:solidFill>
              </a:defRPr>
            </a:pPr>
            <a:r>
              <a:rPr sz="1200" b="1">
                <a:solidFill>
                  <a:srgbClr val="172033"/>
                </a:solidFill>
              </a:rPr>
              <a:t>3</a:t>
            </a:r>
          </a:p>
        </p:txBody>
      </p:sp>
      <p:sp>
        <p:nvSpPr>
          <p:cNvPr id="9" name="Oval 8">
            <a:extLst>
              <a:ext uri="{FF2B5EF4-FFF2-40B4-BE49-F238E27FC236}">
                <a16:creationId xmlns:a16="http://schemas.microsoft.com/office/drawing/2014/main" id="{41F1A2C3-9E12-485A-ABA9-30037EA6DACA}"/>
              </a:ext>
            </a:extLst>
          </p:cNvPr>
          <p:cNvSpPr>
            <a:spLocks noGrp="1"/>
          </p:cNvSpPr>
          <p:nvPr/>
        </p:nvSpPr>
        <p:spPr>
          <a:xfrm>
            <a:off x="4781550" y="2209800"/>
            <a:ext cx="533400" cy="533400"/>
          </a:xfrm>
          <a:prstGeom prst="ellipse">
            <a:avLst/>
          </a:prstGeom>
          <a:solidFill>
            <a:srgbClr val="FFFFFF"/>
          </a:solidFill>
          <a:ln w="19050">
            <a:solidFill>
              <a:srgbClr val="2563EB"/>
            </a:solidFill>
            <a:prstDash val="solid"/>
          </a:ln>
        </p:spPr>
        <p:txBody>
          <a:bodyPr/>
          <a:lstStyle/>
          <a:p>
            <a:endParaRPr lang="en-US"/>
          </a:p>
        </p:txBody>
      </p:sp>
      <p:sp>
        <p:nvSpPr>
          <p:cNvPr id="10" name="Rectangle 9">
            <a:extLst>
              <a:ext uri="{FF2B5EF4-FFF2-40B4-BE49-F238E27FC236}">
                <a16:creationId xmlns:a16="http://schemas.microsoft.com/office/drawing/2014/main" id="{46FAEC97-2DC6-4296-9E6B-D8B97A1D4CF5}"/>
              </a:ext>
            </a:extLst>
          </p:cNvPr>
          <p:cNvSpPr>
            <a:spLocks noGrp="1"/>
          </p:cNvSpPr>
          <p:nvPr/>
        </p:nvSpPr>
        <p:spPr>
          <a:xfrm>
            <a:off x="4781550" y="2209800"/>
            <a:ext cx="533400" cy="533400"/>
          </a:xfrm>
          <a:prstGeom prst="rect">
            <a:avLst/>
          </a:prstGeom>
          <a:noFill/>
          <a:ln w="0">
            <a:noFill/>
            <a:prstDash val="solid"/>
          </a:ln>
        </p:spPr>
        <p:txBody>
          <a:bodyPr anchor="ctr"/>
          <a:lstStyle>
            <a:defPPr algn="ctr">
              <a:defRPr sz="1200" b="1">
                <a:solidFill>
                  <a:srgbClr val="172033"/>
                </a:solidFill>
              </a:defRPr>
            </a:defPPr>
          </a:lstStyle>
          <a:p>
            <a:pPr algn="ctr">
              <a:defRPr sz="1200" b="1">
                <a:solidFill>
                  <a:srgbClr val="172033"/>
                </a:solidFill>
              </a:defRPr>
            </a:pPr>
            <a:r>
              <a:rPr sz="1200" b="1">
                <a:solidFill>
                  <a:srgbClr val="172033"/>
                </a:solidFill>
              </a:rPr>
              <a:t>4</a:t>
            </a:r>
          </a:p>
        </p:txBody>
      </p:sp>
      <p:sp>
        <p:nvSpPr>
          <p:cNvPr id="11" name="Oval 10">
            <a:extLst>
              <a:ext uri="{FF2B5EF4-FFF2-40B4-BE49-F238E27FC236}">
                <a16:creationId xmlns:a16="http://schemas.microsoft.com/office/drawing/2014/main" id="{73987468-9704-4169-9620-F09B1520CA2B}"/>
              </a:ext>
            </a:extLst>
          </p:cNvPr>
          <p:cNvSpPr>
            <a:spLocks noGrp="1"/>
          </p:cNvSpPr>
          <p:nvPr/>
        </p:nvSpPr>
        <p:spPr>
          <a:xfrm>
            <a:off x="6496050" y="2209800"/>
            <a:ext cx="533400" cy="533400"/>
          </a:xfrm>
          <a:prstGeom prst="ellipse">
            <a:avLst/>
          </a:prstGeom>
          <a:solidFill>
            <a:srgbClr val="FFFFFF"/>
          </a:solidFill>
          <a:ln w="19050">
            <a:solidFill>
              <a:srgbClr val="2563EB"/>
            </a:solidFill>
            <a:prstDash val="solid"/>
          </a:ln>
        </p:spPr>
        <p:txBody>
          <a:bodyPr/>
          <a:lstStyle/>
          <a:p>
            <a:endParaRPr lang="en-US"/>
          </a:p>
        </p:txBody>
      </p:sp>
      <p:sp>
        <p:nvSpPr>
          <p:cNvPr id="12" name="Rectangle 11">
            <a:extLst>
              <a:ext uri="{FF2B5EF4-FFF2-40B4-BE49-F238E27FC236}">
                <a16:creationId xmlns:a16="http://schemas.microsoft.com/office/drawing/2014/main" id="{328DB726-7A7B-4596-88B7-C3BD90E23F67}"/>
              </a:ext>
            </a:extLst>
          </p:cNvPr>
          <p:cNvSpPr>
            <a:spLocks noGrp="1"/>
          </p:cNvSpPr>
          <p:nvPr/>
        </p:nvSpPr>
        <p:spPr>
          <a:xfrm>
            <a:off x="6496050" y="2209800"/>
            <a:ext cx="533400" cy="533400"/>
          </a:xfrm>
          <a:prstGeom prst="rect">
            <a:avLst/>
          </a:prstGeom>
          <a:noFill/>
          <a:ln w="0">
            <a:noFill/>
            <a:prstDash val="solid"/>
          </a:ln>
        </p:spPr>
        <p:txBody>
          <a:bodyPr anchor="ctr"/>
          <a:lstStyle>
            <a:defPPr algn="ctr">
              <a:defRPr sz="1200" b="1">
                <a:solidFill>
                  <a:srgbClr val="172033"/>
                </a:solidFill>
              </a:defRPr>
            </a:defPPr>
          </a:lstStyle>
          <a:p>
            <a:pPr algn="ctr">
              <a:defRPr sz="1200" b="1">
                <a:solidFill>
                  <a:srgbClr val="172033"/>
                </a:solidFill>
              </a:defRPr>
            </a:pPr>
            <a:r>
              <a:rPr sz="1200" b="1">
                <a:solidFill>
                  <a:srgbClr val="172033"/>
                </a:solidFill>
              </a:rPr>
              <a:t>5</a:t>
            </a:r>
          </a:p>
        </p:txBody>
      </p:sp>
      <p:sp>
        <p:nvSpPr>
          <p:cNvPr id="13" name="Oval 12">
            <a:extLst>
              <a:ext uri="{FF2B5EF4-FFF2-40B4-BE49-F238E27FC236}">
                <a16:creationId xmlns:a16="http://schemas.microsoft.com/office/drawing/2014/main" id="{3647D04B-06E3-4736-8E0C-9F95D73895EC}"/>
              </a:ext>
            </a:extLst>
          </p:cNvPr>
          <p:cNvSpPr>
            <a:spLocks noGrp="1"/>
          </p:cNvSpPr>
          <p:nvPr/>
        </p:nvSpPr>
        <p:spPr>
          <a:xfrm>
            <a:off x="8210550" y="2209800"/>
            <a:ext cx="533400" cy="533400"/>
          </a:xfrm>
          <a:prstGeom prst="ellipse">
            <a:avLst/>
          </a:prstGeom>
          <a:solidFill>
            <a:srgbClr val="FFFFFF"/>
          </a:solidFill>
          <a:ln w="19050">
            <a:solidFill>
              <a:srgbClr val="2563EB"/>
            </a:solidFill>
            <a:prstDash val="solid"/>
          </a:ln>
        </p:spPr>
        <p:txBody>
          <a:bodyPr/>
          <a:lstStyle/>
          <a:p>
            <a:endParaRPr lang="en-US"/>
          </a:p>
        </p:txBody>
      </p:sp>
      <p:sp>
        <p:nvSpPr>
          <p:cNvPr id="14" name="Rectangle 13">
            <a:extLst>
              <a:ext uri="{FF2B5EF4-FFF2-40B4-BE49-F238E27FC236}">
                <a16:creationId xmlns:a16="http://schemas.microsoft.com/office/drawing/2014/main" id="{18F95374-A508-4753-9270-B9EE6D8F12AB}"/>
              </a:ext>
            </a:extLst>
          </p:cNvPr>
          <p:cNvSpPr>
            <a:spLocks noGrp="1"/>
          </p:cNvSpPr>
          <p:nvPr/>
        </p:nvSpPr>
        <p:spPr>
          <a:xfrm>
            <a:off x="8210550" y="2209800"/>
            <a:ext cx="533400" cy="533400"/>
          </a:xfrm>
          <a:prstGeom prst="rect">
            <a:avLst/>
          </a:prstGeom>
          <a:noFill/>
          <a:ln w="0">
            <a:noFill/>
            <a:prstDash val="solid"/>
          </a:ln>
        </p:spPr>
        <p:txBody>
          <a:bodyPr anchor="ctr"/>
          <a:lstStyle>
            <a:defPPr algn="ctr">
              <a:defRPr sz="1200" b="1">
                <a:solidFill>
                  <a:srgbClr val="172033"/>
                </a:solidFill>
              </a:defRPr>
            </a:defPPr>
          </a:lstStyle>
          <a:p>
            <a:pPr algn="ctr">
              <a:defRPr sz="1200" b="1">
                <a:solidFill>
                  <a:srgbClr val="172033"/>
                </a:solidFill>
              </a:defRPr>
            </a:pPr>
            <a:r>
              <a:rPr sz="1200" b="1">
                <a:solidFill>
                  <a:srgbClr val="172033"/>
                </a:solidFill>
              </a:rPr>
              <a:t>6</a:t>
            </a:r>
          </a:p>
        </p:txBody>
      </p:sp>
      <p:sp>
        <p:nvSpPr>
          <p:cNvPr id="15" name="Rectangle 14">
            <a:extLst>
              <a:ext uri="{FF2B5EF4-FFF2-40B4-BE49-F238E27FC236}">
                <a16:creationId xmlns:a16="http://schemas.microsoft.com/office/drawing/2014/main" id="{C2791141-F99B-44B5-8FA4-E7122088BEDA}"/>
              </a:ext>
            </a:extLst>
          </p:cNvPr>
          <p:cNvSpPr>
            <a:spLocks noGrp="1"/>
          </p:cNvSpPr>
          <p:nvPr/>
        </p:nvSpPr>
        <p:spPr>
          <a:xfrm>
            <a:off x="666750" y="2333625"/>
            <a:ext cx="666750" cy="266700"/>
          </a:xfrm>
          <a:prstGeom prst="rect">
            <a:avLst/>
          </a:prstGeom>
          <a:noFill/>
          <a:ln w="0">
            <a:noFill/>
            <a:prstDash val="solid"/>
          </a:ln>
        </p:spPr>
        <p:txBody>
          <a:bodyPr anchor="ctr"/>
          <a:lstStyle>
            <a:defPPr algn="l">
              <a:defRPr sz="900" b="1">
                <a:solidFill>
                  <a:srgbClr val="64748B"/>
                </a:solidFill>
              </a:defRPr>
            </a:defPPr>
          </a:lstStyle>
          <a:p>
            <a:pPr algn="l">
              <a:defRPr sz="900" b="1">
                <a:solidFill>
                  <a:srgbClr val="64748B"/>
                </a:solidFill>
              </a:defRPr>
            </a:pPr>
            <a:r>
              <a:rPr sz="900" b="1">
                <a:solidFill>
                  <a:srgbClr val="64748B"/>
                </a:solidFill>
              </a:rPr>
              <a:t>LEVEL 0</a:t>
            </a:r>
          </a:p>
        </p:txBody>
      </p:sp>
      <p:sp>
        <p:nvSpPr>
          <p:cNvPr id="16" name="Straight Connector 15">
            <a:extLst>
              <a:ext uri="{FF2B5EF4-FFF2-40B4-BE49-F238E27FC236}">
                <a16:creationId xmlns:a16="http://schemas.microsoft.com/office/drawing/2014/main" id="{EF568851-3F6C-4D30-AD22-40C6D3FFB38B}"/>
              </a:ext>
            </a:extLst>
          </p:cNvPr>
          <p:cNvSpPr>
            <a:spLocks noGrp="1"/>
          </p:cNvSpPr>
          <p:nvPr/>
        </p:nvSpPr>
        <p:spPr>
          <a:xfrm>
            <a:off x="1619250" y="2752725"/>
            <a:ext cx="857250" cy="457200"/>
          </a:xfrm>
          <a:prstGeom prst="line">
            <a:avLst/>
          </a:prstGeom>
          <a:noFill/>
          <a:ln w="19050">
            <a:solidFill>
              <a:srgbClr val="2563EB"/>
            </a:solidFill>
            <a:prstDash val="solid"/>
          </a:ln>
        </p:spPr>
        <p:txBody>
          <a:bodyPr/>
          <a:lstStyle/>
          <a:p>
            <a:endParaRPr lang="en-US"/>
          </a:p>
        </p:txBody>
      </p:sp>
      <p:sp>
        <p:nvSpPr>
          <p:cNvPr id="17" name="Straight Connector 16">
            <a:extLst>
              <a:ext uri="{FF2B5EF4-FFF2-40B4-BE49-F238E27FC236}">
                <a16:creationId xmlns:a16="http://schemas.microsoft.com/office/drawing/2014/main" id="{05F624C7-D342-40FB-B98B-C91E28935F91}"/>
              </a:ext>
            </a:extLst>
          </p:cNvPr>
          <p:cNvSpPr>
            <a:spLocks noGrp="1"/>
          </p:cNvSpPr>
          <p:nvPr/>
        </p:nvSpPr>
        <p:spPr>
          <a:xfrm flipH="1">
            <a:off x="2476500" y="2752725"/>
            <a:ext cx="4286250" cy="457200"/>
          </a:xfrm>
          <a:prstGeom prst="line">
            <a:avLst/>
          </a:prstGeom>
          <a:noFill/>
          <a:ln w="19050">
            <a:solidFill>
              <a:srgbClr val="2563EB"/>
            </a:solidFill>
            <a:prstDash val="solid"/>
          </a:ln>
        </p:spPr>
        <p:txBody>
          <a:bodyPr/>
          <a:lstStyle/>
          <a:p>
            <a:endParaRPr lang="en-US"/>
          </a:p>
        </p:txBody>
      </p:sp>
      <p:sp>
        <p:nvSpPr>
          <p:cNvPr id="18" name="Straight Connector 17">
            <a:extLst>
              <a:ext uri="{FF2B5EF4-FFF2-40B4-BE49-F238E27FC236}">
                <a16:creationId xmlns:a16="http://schemas.microsoft.com/office/drawing/2014/main" id="{4C6B25C1-6BD3-449F-B976-696B06724895}"/>
              </a:ext>
            </a:extLst>
          </p:cNvPr>
          <p:cNvSpPr>
            <a:spLocks noGrp="1"/>
          </p:cNvSpPr>
          <p:nvPr/>
        </p:nvSpPr>
        <p:spPr>
          <a:xfrm>
            <a:off x="3333750" y="2752725"/>
            <a:ext cx="2571750" cy="457200"/>
          </a:xfrm>
          <a:prstGeom prst="line">
            <a:avLst/>
          </a:prstGeom>
          <a:noFill/>
          <a:ln w="19050">
            <a:solidFill>
              <a:srgbClr val="2563EB"/>
            </a:solidFill>
            <a:prstDash val="solid"/>
          </a:ln>
        </p:spPr>
        <p:txBody>
          <a:bodyPr/>
          <a:lstStyle/>
          <a:p>
            <a:endParaRPr lang="en-US"/>
          </a:p>
        </p:txBody>
      </p:sp>
      <p:sp>
        <p:nvSpPr>
          <p:cNvPr id="19" name="Straight Connector 18">
            <a:extLst>
              <a:ext uri="{FF2B5EF4-FFF2-40B4-BE49-F238E27FC236}">
                <a16:creationId xmlns:a16="http://schemas.microsoft.com/office/drawing/2014/main" id="{6421EBC7-FD7A-4666-BF08-2277994C0144}"/>
              </a:ext>
            </a:extLst>
          </p:cNvPr>
          <p:cNvSpPr>
            <a:spLocks noGrp="1"/>
          </p:cNvSpPr>
          <p:nvPr/>
        </p:nvSpPr>
        <p:spPr>
          <a:xfrm flipH="1">
            <a:off x="5905500" y="2752725"/>
            <a:ext cx="2571750" cy="457200"/>
          </a:xfrm>
          <a:prstGeom prst="line">
            <a:avLst/>
          </a:prstGeom>
          <a:noFill/>
          <a:ln w="19050">
            <a:solidFill>
              <a:srgbClr val="2563EB"/>
            </a:solidFill>
            <a:prstDash val="solid"/>
          </a:ln>
        </p:spPr>
        <p:txBody>
          <a:bodyPr/>
          <a:lstStyle/>
          <a:p>
            <a:endParaRPr lang="en-US"/>
          </a:p>
        </p:txBody>
      </p:sp>
      <p:sp>
        <p:nvSpPr>
          <p:cNvPr id="20" name="Straight Connector 19">
            <a:extLst>
              <a:ext uri="{FF2B5EF4-FFF2-40B4-BE49-F238E27FC236}">
                <a16:creationId xmlns:a16="http://schemas.microsoft.com/office/drawing/2014/main" id="{536EB30A-41B3-42CC-8655-7135F57B0647}"/>
              </a:ext>
            </a:extLst>
          </p:cNvPr>
          <p:cNvSpPr>
            <a:spLocks noGrp="1"/>
          </p:cNvSpPr>
          <p:nvPr/>
        </p:nvSpPr>
        <p:spPr>
          <a:xfrm>
            <a:off x="5048250" y="2752725"/>
            <a:ext cx="3429000" cy="457200"/>
          </a:xfrm>
          <a:prstGeom prst="line">
            <a:avLst/>
          </a:prstGeom>
          <a:noFill/>
          <a:ln w="19050">
            <a:solidFill>
              <a:srgbClr val="D97706"/>
            </a:solidFill>
            <a:prstDash val="solid"/>
          </a:ln>
        </p:spPr>
        <p:txBody>
          <a:bodyPr/>
          <a:lstStyle/>
          <a:p>
            <a:endParaRPr lang="en-US"/>
          </a:p>
        </p:txBody>
      </p:sp>
      <p:sp>
        <p:nvSpPr>
          <p:cNvPr id="21" name="Oval 20">
            <a:extLst>
              <a:ext uri="{FF2B5EF4-FFF2-40B4-BE49-F238E27FC236}">
                <a16:creationId xmlns:a16="http://schemas.microsoft.com/office/drawing/2014/main" id="{738B4EF4-5BE9-4838-BFC8-EAB0737D16BB}"/>
              </a:ext>
            </a:extLst>
          </p:cNvPr>
          <p:cNvSpPr>
            <a:spLocks noGrp="1"/>
          </p:cNvSpPr>
          <p:nvPr/>
        </p:nvSpPr>
        <p:spPr>
          <a:xfrm>
            <a:off x="2209800" y="3257550"/>
            <a:ext cx="533400" cy="533400"/>
          </a:xfrm>
          <a:prstGeom prst="ellipse">
            <a:avLst/>
          </a:prstGeom>
          <a:solidFill>
            <a:srgbClr val="DBEAFE"/>
          </a:solidFill>
          <a:ln w="19050">
            <a:solidFill>
              <a:srgbClr val="2563EB"/>
            </a:solidFill>
            <a:prstDash val="solid"/>
          </a:ln>
        </p:spPr>
        <p:txBody>
          <a:bodyPr/>
          <a:lstStyle/>
          <a:p>
            <a:endParaRPr lang="en-US"/>
          </a:p>
        </p:txBody>
      </p:sp>
      <p:sp>
        <p:nvSpPr>
          <p:cNvPr id="22" name="Rectangle 21">
            <a:extLst>
              <a:ext uri="{FF2B5EF4-FFF2-40B4-BE49-F238E27FC236}">
                <a16:creationId xmlns:a16="http://schemas.microsoft.com/office/drawing/2014/main" id="{03B59F98-849E-4381-8109-345B8A74ACD6}"/>
              </a:ext>
            </a:extLst>
          </p:cNvPr>
          <p:cNvSpPr>
            <a:spLocks noGrp="1"/>
          </p:cNvSpPr>
          <p:nvPr/>
        </p:nvSpPr>
        <p:spPr>
          <a:xfrm>
            <a:off x="2209800" y="3257550"/>
            <a:ext cx="533400" cy="533400"/>
          </a:xfrm>
          <a:prstGeom prst="rect">
            <a:avLst/>
          </a:prstGeom>
          <a:noFill/>
          <a:ln w="0">
            <a:noFill/>
            <a:prstDash val="solid"/>
          </a:ln>
        </p:spPr>
        <p:txBody>
          <a:bodyPr anchor="ctr"/>
          <a:lstStyle>
            <a:defPPr algn="ctr">
              <a:defRPr sz="1200" b="1">
                <a:solidFill>
                  <a:srgbClr val="172033"/>
                </a:solidFill>
              </a:defRPr>
            </a:defPPr>
          </a:lstStyle>
          <a:p>
            <a:pPr algn="ctr">
              <a:defRPr sz="1200" b="1">
                <a:solidFill>
                  <a:srgbClr val="172033"/>
                </a:solidFill>
              </a:defRPr>
            </a:pPr>
            <a:r>
              <a:rPr sz="1200" b="1">
                <a:solidFill>
                  <a:srgbClr val="172033"/>
                </a:solidFill>
              </a:rPr>
              <a:t>7</a:t>
            </a:r>
          </a:p>
        </p:txBody>
      </p:sp>
      <p:sp>
        <p:nvSpPr>
          <p:cNvPr id="23" name="Oval 22">
            <a:extLst>
              <a:ext uri="{FF2B5EF4-FFF2-40B4-BE49-F238E27FC236}">
                <a16:creationId xmlns:a16="http://schemas.microsoft.com/office/drawing/2014/main" id="{4F63182D-F226-45FE-B37B-89E760339525}"/>
              </a:ext>
            </a:extLst>
          </p:cNvPr>
          <p:cNvSpPr>
            <a:spLocks noGrp="1"/>
          </p:cNvSpPr>
          <p:nvPr/>
        </p:nvSpPr>
        <p:spPr>
          <a:xfrm>
            <a:off x="5638800" y="3257550"/>
            <a:ext cx="533400" cy="533400"/>
          </a:xfrm>
          <a:prstGeom prst="ellipse">
            <a:avLst/>
          </a:prstGeom>
          <a:solidFill>
            <a:srgbClr val="DBEAFE"/>
          </a:solidFill>
          <a:ln w="19050">
            <a:solidFill>
              <a:srgbClr val="2563EB"/>
            </a:solidFill>
            <a:prstDash val="solid"/>
          </a:ln>
        </p:spPr>
        <p:txBody>
          <a:bodyPr/>
          <a:lstStyle/>
          <a:p>
            <a:endParaRPr lang="en-US"/>
          </a:p>
        </p:txBody>
      </p:sp>
      <p:sp>
        <p:nvSpPr>
          <p:cNvPr id="24" name="Rectangle 23">
            <a:extLst>
              <a:ext uri="{FF2B5EF4-FFF2-40B4-BE49-F238E27FC236}">
                <a16:creationId xmlns:a16="http://schemas.microsoft.com/office/drawing/2014/main" id="{2A7DB5CF-5534-4D4A-BF8C-6B22C66A566E}"/>
              </a:ext>
            </a:extLst>
          </p:cNvPr>
          <p:cNvSpPr>
            <a:spLocks noGrp="1"/>
          </p:cNvSpPr>
          <p:nvPr/>
        </p:nvSpPr>
        <p:spPr>
          <a:xfrm>
            <a:off x="5638800" y="3257550"/>
            <a:ext cx="533400" cy="533400"/>
          </a:xfrm>
          <a:prstGeom prst="rect">
            <a:avLst/>
          </a:prstGeom>
          <a:noFill/>
          <a:ln w="0">
            <a:noFill/>
            <a:prstDash val="solid"/>
          </a:ln>
        </p:spPr>
        <p:txBody>
          <a:bodyPr anchor="ctr"/>
          <a:lstStyle>
            <a:defPPr algn="ctr">
              <a:defRPr sz="1200" b="1">
                <a:solidFill>
                  <a:srgbClr val="172033"/>
                </a:solidFill>
              </a:defRPr>
            </a:defPPr>
          </a:lstStyle>
          <a:p>
            <a:pPr algn="ctr">
              <a:defRPr sz="1200" b="1">
                <a:solidFill>
                  <a:srgbClr val="172033"/>
                </a:solidFill>
              </a:defRPr>
            </a:pPr>
            <a:r>
              <a:rPr sz="1200" b="1">
                <a:solidFill>
                  <a:srgbClr val="172033"/>
                </a:solidFill>
              </a:rPr>
              <a:t>9</a:t>
            </a:r>
          </a:p>
        </p:txBody>
      </p:sp>
      <p:sp>
        <p:nvSpPr>
          <p:cNvPr id="25" name="Oval 24">
            <a:extLst>
              <a:ext uri="{FF2B5EF4-FFF2-40B4-BE49-F238E27FC236}">
                <a16:creationId xmlns:a16="http://schemas.microsoft.com/office/drawing/2014/main" id="{CE3A84B8-C6AC-4D9F-9AFA-EB34EBF77FA0}"/>
              </a:ext>
            </a:extLst>
          </p:cNvPr>
          <p:cNvSpPr>
            <a:spLocks noGrp="1"/>
          </p:cNvSpPr>
          <p:nvPr/>
        </p:nvSpPr>
        <p:spPr>
          <a:xfrm>
            <a:off x="8210550" y="3257550"/>
            <a:ext cx="533400" cy="533400"/>
          </a:xfrm>
          <a:prstGeom prst="ellipse">
            <a:avLst/>
          </a:prstGeom>
          <a:solidFill>
            <a:srgbClr val="FEF3C7"/>
          </a:solidFill>
          <a:ln w="19050">
            <a:solidFill>
              <a:srgbClr val="D97706"/>
            </a:solidFill>
            <a:prstDash val="solid"/>
          </a:ln>
        </p:spPr>
        <p:txBody>
          <a:bodyPr/>
          <a:lstStyle/>
          <a:p>
            <a:endParaRPr lang="en-US"/>
          </a:p>
        </p:txBody>
      </p:sp>
      <p:sp>
        <p:nvSpPr>
          <p:cNvPr id="26" name="Rectangle 25">
            <a:extLst>
              <a:ext uri="{FF2B5EF4-FFF2-40B4-BE49-F238E27FC236}">
                <a16:creationId xmlns:a16="http://schemas.microsoft.com/office/drawing/2014/main" id="{8084973D-BC18-44BC-852C-AD9532583A29}"/>
              </a:ext>
            </a:extLst>
          </p:cNvPr>
          <p:cNvSpPr>
            <a:spLocks noGrp="1"/>
          </p:cNvSpPr>
          <p:nvPr/>
        </p:nvSpPr>
        <p:spPr>
          <a:xfrm>
            <a:off x="8210550" y="3257550"/>
            <a:ext cx="533400" cy="533400"/>
          </a:xfrm>
          <a:prstGeom prst="rect">
            <a:avLst/>
          </a:prstGeom>
          <a:noFill/>
          <a:ln w="0">
            <a:noFill/>
            <a:prstDash val="solid"/>
          </a:ln>
        </p:spPr>
        <p:txBody>
          <a:bodyPr anchor="ctr"/>
          <a:lstStyle>
            <a:defPPr algn="ctr">
              <a:defRPr sz="1200" b="1">
                <a:solidFill>
                  <a:srgbClr val="172033"/>
                </a:solidFill>
              </a:defRPr>
            </a:defPPr>
          </a:lstStyle>
          <a:p>
            <a:pPr algn="ctr">
              <a:defRPr sz="1200" b="1">
                <a:solidFill>
                  <a:srgbClr val="172033"/>
                </a:solidFill>
              </a:defRPr>
            </a:pPr>
            <a:r>
              <a:rPr sz="1200" b="1">
                <a:solidFill>
                  <a:srgbClr val="172033"/>
                </a:solidFill>
              </a:rPr>
              <a:t>4</a:t>
            </a:r>
          </a:p>
        </p:txBody>
      </p:sp>
      <p:sp>
        <p:nvSpPr>
          <p:cNvPr id="27" name="Rectangle 26">
            <a:extLst>
              <a:ext uri="{FF2B5EF4-FFF2-40B4-BE49-F238E27FC236}">
                <a16:creationId xmlns:a16="http://schemas.microsoft.com/office/drawing/2014/main" id="{D1AAD983-81BF-4D80-8301-00B5EE82557D}"/>
              </a:ext>
            </a:extLst>
          </p:cNvPr>
          <p:cNvSpPr>
            <a:spLocks noGrp="1"/>
          </p:cNvSpPr>
          <p:nvPr/>
        </p:nvSpPr>
        <p:spPr>
          <a:xfrm>
            <a:off x="666750" y="3381375"/>
            <a:ext cx="666750" cy="266700"/>
          </a:xfrm>
          <a:prstGeom prst="rect">
            <a:avLst/>
          </a:prstGeom>
          <a:noFill/>
          <a:ln w="0">
            <a:noFill/>
            <a:prstDash val="solid"/>
          </a:ln>
        </p:spPr>
        <p:txBody>
          <a:bodyPr anchor="ctr"/>
          <a:lstStyle>
            <a:defPPr algn="l">
              <a:defRPr sz="900" b="1">
                <a:solidFill>
                  <a:srgbClr val="64748B"/>
                </a:solidFill>
              </a:defRPr>
            </a:defPPr>
          </a:lstStyle>
          <a:p>
            <a:pPr algn="l">
              <a:defRPr sz="900" b="1">
                <a:solidFill>
                  <a:srgbClr val="64748B"/>
                </a:solidFill>
              </a:defRPr>
            </a:pPr>
            <a:r>
              <a:rPr sz="900" b="1">
                <a:solidFill>
                  <a:srgbClr val="64748B"/>
                </a:solidFill>
              </a:rPr>
              <a:t>LEVEL 1</a:t>
            </a:r>
          </a:p>
        </p:txBody>
      </p:sp>
      <p:sp>
        <p:nvSpPr>
          <p:cNvPr id="28" name="Rectangle 27">
            <a:extLst>
              <a:ext uri="{FF2B5EF4-FFF2-40B4-BE49-F238E27FC236}">
                <a16:creationId xmlns:a16="http://schemas.microsoft.com/office/drawing/2014/main" id="{7C5A27EA-915F-4741-8EB5-854E1FC3EB20}"/>
              </a:ext>
            </a:extLst>
          </p:cNvPr>
          <p:cNvSpPr>
            <a:spLocks noGrp="1"/>
          </p:cNvSpPr>
          <p:nvPr/>
        </p:nvSpPr>
        <p:spPr>
          <a:xfrm>
            <a:off x="8858250" y="3390900"/>
            <a:ext cx="809625" cy="228600"/>
          </a:xfrm>
          <a:prstGeom prst="rect">
            <a:avLst/>
          </a:prstGeom>
          <a:noFill/>
          <a:ln w="0">
            <a:noFill/>
            <a:prstDash val="solid"/>
          </a:ln>
        </p:spPr>
        <p:txBody>
          <a:bodyPr anchor="ctr"/>
          <a:lstStyle>
            <a:defPPr algn="l">
              <a:defRPr sz="900" b="1">
                <a:solidFill>
                  <a:srgbClr val="D97706"/>
                </a:solidFill>
              </a:defRPr>
            </a:defPPr>
          </a:lstStyle>
          <a:p>
            <a:pPr algn="l">
              <a:defRPr sz="900" b="1">
                <a:solidFill>
                  <a:srgbClr val="D97706"/>
                </a:solidFill>
              </a:defRPr>
            </a:pPr>
            <a:r>
              <a:rPr sz="900" b="1">
                <a:solidFill>
                  <a:srgbClr val="D97706"/>
                </a:solidFill>
              </a:rPr>
              <a:t>carried</a:t>
            </a:r>
          </a:p>
        </p:txBody>
      </p:sp>
      <p:sp>
        <p:nvSpPr>
          <p:cNvPr id="29" name="Straight Connector 28">
            <a:extLst>
              <a:ext uri="{FF2B5EF4-FFF2-40B4-BE49-F238E27FC236}">
                <a16:creationId xmlns:a16="http://schemas.microsoft.com/office/drawing/2014/main" id="{A23311FF-E5A6-4247-9401-030B9959FDDF}"/>
              </a:ext>
            </a:extLst>
          </p:cNvPr>
          <p:cNvSpPr>
            <a:spLocks noGrp="1"/>
          </p:cNvSpPr>
          <p:nvPr/>
        </p:nvSpPr>
        <p:spPr>
          <a:xfrm>
            <a:off x="2476500" y="3800475"/>
            <a:ext cx="1714500" cy="457200"/>
          </a:xfrm>
          <a:prstGeom prst="line">
            <a:avLst/>
          </a:prstGeom>
          <a:noFill/>
          <a:ln w="19050">
            <a:solidFill>
              <a:srgbClr val="2563EB"/>
            </a:solidFill>
            <a:prstDash val="solid"/>
          </a:ln>
        </p:spPr>
        <p:txBody>
          <a:bodyPr/>
          <a:lstStyle/>
          <a:p>
            <a:endParaRPr lang="en-US"/>
          </a:p>
        </p:txBody>
      </p:sp>
      <p:sp>
        <p:nvSpPr>
          <p:cNvPr id="30" name="Straight Connector 29">
            <a:extLst>
              <a:ext uri="{FF2B5EF4-FFF2-40B4-BE49-F238E27FC236}">
                <a16:creationId xmlns:a16="http://schemas.microsoft.com/office/drawing/2014/main" id="{844D8306-6759-4CB1-83BF-3F7B6EBE4BC1}"/>
              </a:ext>
            </a:extLst>
          </p:cNvPr>
          <p:cNvSpPr>
            <a:spLocks noGrp="1"/>
          </p:cNvSpPr>
          <p:nvPr/>
        </p:nvSpPr>
        <p:spPr>
          <a:xfrm flipH="1">
            <a:off x="4191000" y="3800475"/>
            <a:ext cx="4286250" cy="457200"/>
          </a:xfrm>
          <a:prstGeom prst="line">
            <a:avLst/>
          </a:prstGeom>
          <a:noFill/>
          <a:ln w="19050">
            <a:solidFill>
              <a:srgbClr val="2563EB"/>
            </a:solidFill>
            <a:prstDash val="solid"/>
          </a:ln>
        </p:spPr>
        <p:txBody>
          <a:bodyPr/>
          <a:lstStyle/>
          <a:p>
            <a:endParaRPr lang="en-US"/>
          </a:p>
        </p:txBody>
      </p:sp>
      <p:sp>
        <p:nvSpPr>
          <p:cNvPr id="31" name="Straight Connector 30">
            <a:extLst>
              <a:ext uri="{FF2B5EF4-FFF2-40B4-BE49-F238E27FC236}">
                <a16:creationId xmlns:a16="http://schemas.microsoft.com/office/drawing/2014/main" id="{F7468141-F701-43EF-B9A3-50C2F71096C2}"/>
              </a:ext>
            </a:extLst>
          </p:cNvPr>
          <p:cNvSpPr>
            <a:spLocks noGrp="1"/>
          </p:cNvSpPr>
          <p:nvPr/>
        </p:nvSpPr>
        <p:spPr>
          <a:xfrm>
            <a:off x="5905500" y="3800475"/>
            <a:ext cx="857250" cy="457200"/>
          </a:xfrm>
          <a:prstGeom prst="line">
            <a:avLst/>
          </a:prstGeom>
          <a:noFill/>
          <a:ln w="19050">
            <a:solidFill>
              <a:srgbClr val="D97706"/>
            </a:solidFill>
            <a:prstDash val="solid"/>
          </a:ln>
        </p:spPr>
        <p:txBody>
          <a:bodyPr/>
          <a:lstStyle/>
          <a:p>
            <a:endParaRPr lang="en-US"/>
          </a:p>
        </p:txBody>
      </p:sp>
      <p:sp>
        <p:nvSpPr>
          <p:cNvPr id="32" name="Oval 31">
            <a:extLst>
              <a:ext uri="{FF2B5EF4-FFF2-40B4-BE49-F238E27FC236}">
                <a16:creationId xmlns:a16="http://schemas.microsoft.com/office/drawing/2014/main" id="{101DD500-F8CC-43EE-82E5-7CB41122A8EC}"/>
              </a:ext>
            </a:extLst>
          </p:cNvPr>
          <p:cNvSpPr>
            <a:spLocks noGrp="1"/>
          </p:cNvSpPr>
          <p:nvPr/>
        </p:nvSpPr>
        <p:spPr>
          <a:xfrm>
            <a:off x="3924300" y="4305300"/>
            <a:ext cx="533400" cy="533400"/>
          </a:xfrm>
          <a:prstGeom prst="ellipse">
            <a:avLst/>
          </a:prstGeom>
          <a:solidFill>
            <a:srgbClr val="DBEAFE"/>
          </a:solidFill>
          <a:ln w="19050">
            <a:solidFill>
              <a:srgbClr val="2563EB"/>
            </a:solidFill>
            <a:prstDash val="solid"/>
          </a:ln>
        </p:spPr>
        <p:txBody>
          <a:bodyPr/>
          <a:lstStyle/>
          <a:p>
            <a:endParaRPr lang="en-US"/>
          </a:p>
        </p:txBody>
      </p:sp>
      <p:sp>
        <p:nvSpPr>
          <p:cNvPr id="33" name="Rectangle 32">
            <a:extLst>
              <a:ext uri="{FF2B5EF4-FFF2-40B4-BE49-F238E27FC236}">
                <a16:creationId xmlns:a16="http://schemas.microsoft.com/office/drawing/2014/main" id="{830436FF-5FF8-4ACF-A505-76E91632B6FC}"/>
              </a:ext>
            </a:extLst>
          </p:cNvPr>
          <p:cNvSpPr>
            <a:spLocks noGrp="1"/>
          </p:cNvSpPr>
          <p:nvPr/>
        </p:nvSpPr>
        <p:spPr>
          <a:xfrm>
            <a:off x="3924300" y="4305300"/>
            <a:ext cx="533400" cy="533400"/>
          </a:xfrm>
          <a:prstGeom prst="rect">
            <a:avLst/>
          </a:prstGeom>
          <a:noFill/>
          <a:ln w="0">
            <a:noFill/>
            <a:prstDash val="solid"/>
          </a:ln>
        </p:spPr>
        <p:txBody>
          <a:bodyPr anchor="ctr"/>
          <a:lstStyle>
            <a:defPPr algn="ctr">
              <a:defRPr sz="1200" b="1">
                <a:solidFill>
                  <a:srgbClr val="172033"/>
                </a:solidFill>
              </a:defRPr>
            </a:defPPr>
          </a:lstStyle>
          <a:p>
            <a:pPr algn="ctr">
              <a:defRPr sz="1200" b="1">
                <a:solidFill>
                  <a:srgbClr val="172033"/>
                </a:solidFill>
              </a:defRPr>
            </a:pPr>
            <a:r>
              <a:rPr sz="1200" b="1">
                <a:solidFill>
                  <a:srgbClr val="172033"/>
                </a:solidFill>
              </a:rPr>
              <a:t>11</a:t>
            </a:r>
          </a:p>
        </p:txBody>
      </p:sp>
      <p:sp>
        <p:nvSpPr>
          <p:cNvPr id="34" name="Oval 33">
            <a:extLst>
              <a:ext uri="{FF2B5EF4-FFF2-40B4-BE49-F238E27FC236}">
                <a16:creationId xmlns:a16="http://schemas.microsoft.com/office/drawing/2014/main" id="{BB0FF777-7D15-49BF-B332-73B8351C2A23}"/>
              </a:ext>
            </a:extLst>
          </p:cNvPr>
          <p:cNvSpPr>
            <a:spLocks noGrp="1"/>
          </p:cNvSpPr>
          <p:nvPr/>
        </p:nvSpPr>
        <p:spPr>
          <a:xfrm>
            <a:off x="6496050" y="4305300"/>
            <a:ext cx="533400" cy="533400"/>
          </a:xfrm>
          <a:prstGeom prst="ellipse">
            <a:avLst/>
          </a:prstGeom>
          <a:solidFill>
            <a:srgbClr val="FEF3C7"/>
          </a:solidFill>
          <a:ln w="19050">
            <a:solidFill>
              <a:srgbClr val="D97706"/>
            </a:solidFill>
            <a:prstDash val="solid"/>
          </a:ln>
        </p:spPr>
        <p:txBody>
          <a:bodyPr/>
          <a:lstStyle/>
          <a:p>
            <a:endParaRPr lang="en-US"/>
          </a:p>
        </p:txBody>
      </p:sp>
      <p:sp>
        <p:nvSpPr>
          <p:cNvPr id="35" name="Rectangle 34">
            <a:extLst>
              <a:ext uri="{FF2B5EF4-FFF2-40B4-BE49-F238E27FC236}">
                <a16:creationId xmlns:a16="http://schemas.microsoft.com/office/drawing/2014/main" id="{EDC7B6F5-AA1B-42C1-B5D7-F2046BC7281D}"/>
              </a:ext>
            </a:extLst>
          </p:cNvPr>
          <p:cNvSpPr>
            <a:spLocks noGrp="1"/>
          </p:cNvSpPr>
          <p:nvPr/>
        </p:nvSpPr>
        <p:spPr>
          <a:xfrm>
            <a:off x="6496050" y="4305300"/>
            <a:ext cx="533400" cy="533400"/>
          </a:xfrm>
          <a:prstGeom prst="rect">
            <a:avLst/>
          </a:prstGeom>
          <a:noFill/>
          <a:ln w="0">
            <a:noFill/>
            <a:prstDash val="solid"/>
          </a:ln>
        </p:spPr>
        <p:txBody>
          <a:bodyPr anchor="ctr"/>
          <a:lstStyle>
            <a:defPPr algn="ctr">
              <a:defRPr sz="1200" b="1">
                <a:solidFill>
                  <a:srgbClr val="172033"/>
                </a:solidFill>
              </a:defRPr>
            </a:defPPr>
          </a:lstStyle>
          <a:p>
            <a:pPr algn="ctr">
              <a:defRPr sz="1200" b="1">
                <a:solidFill>
                  <a:srgbClr val="172033"/>
                </a:solidFill>
              </a:defRPr>
            </a:pPr>
            <a:r>
              <a:rPr sz="1200" b="1">
                <a:solidFill>
                  <a:srgbClr val="172033"/>
                </a:solidFill>
              </a:rPr>
              <a:t>9</a:t>
            </a:r>
          </a:p>
        </p:txBody>
      </p:sp>
      <p:sp>
        <p:nvSpPr>
          <p:cNvPr id="36" name="Rectangle 35">
            <a:extLst>
              <a:ext uri="{FF2B5EF4-FFF2-40B4-BE49-F238E27FC236}">
                <a16:creationId xmlns:a16="http://schemas.microsoft.com/office/drawing/2014/main" id="{3CA42DE2-CCE7-4E90-BC7A-17BC3C7F6A8E}"/>
              </a:ext>
            </a:extLst>
          </p:cNvPr>
          <p:cNvSpPr>
            <a:spLocks noGrp="1"/>
          </p:cNvSpPr>
          <p:nvPr/>
        </p:nvSpPr>
        <p:spPr>
          <a:xfrm>
            <a:off x="666750" y="4429125"/>
            <a:ext cx="666750" cy="266700"/>
          </a:xfrm>
          <a:prstGeom prst="rect">
            <a:avLst/>
          </a:prstGeom>
          <a:noFill/>
          <a:ln w="0">
            <a:noFill/>
            <a:prstDash val="solid"/>
          </a:ln>
        </p:spPr>
        <p:txBody>
          <a:bodyPr anchor="ctr"/>
          <a:lstStyle>
            <a:defPPr algn="l">
              <a:defRPr sz="900" b="1">
                <a:solidFill>
                  <a:srgbClr val="64748B"/>
                </a:solidFill>
              </a:defRPr>
            </a:defPPr>
          </a:lstStyle>
          <a:p>
            <a:pPr algn="l">
              <a:defRPr sz="900" b="1">
                <a:solidFill>
                  <a:srgbClr val="64748B"/>
                </a:solidFill>
              </a:defRPr>
            </a:pPr>
            <a:r>
              <a:rPr sz="900" b="1">
                <a:solidFill>
                  <a:srgbClr val="64748B"/>
                </a:solidFill>
              </a:rPr>
              <a:t>LEVEL 2</a:t>
            </a:r>
          </a:p>
        </p:txBody>
      </p:sp>
      <p:sp>
        <p:nvSpPr>
          <p:cNvPr id="37" name="Straight Connector 36">
            <a:extLst>
              <a:ext uri="{FF2B5EF4-FFF2-40B4-BE49-F238E27FC236}">
                <a16:creationId xmlns:a16="http://schemas.microsoft.com/office/drawing/2014/main" id="{F317AF4C-1F6A-40D5-BD8E-510707C89CD8}"/>
              </a:ext>
            </a:extLst>
          </p:cNvPr>
          <p:cNvSpPr>
            <a:spLocks noGrp="1"/>
          </p:cNvSpPr>
          <p:nvPr/>
        </p:nvSpPr>
        <p:spPr>
          <a:xfrm>
            <a:off x="4191000" y="4848225"/>
            <a:ext cx="1285875" cy="457200"/>
          </a:xfrm>
          <a:prstGeom prst="line">
            <a:avLst/>
          </a:prstGeom>
          <a:noFill/>
          <a:ln w="19050">
            <a:solidFill>
              <a:srgbClr val="2563EB"/>
            </a:solidFill>
            <a:prstDash val="solid"/>
          </a:ln>
        </p:spPr>
        <p:txBody>
          <a:bodyPr/>
          <a:lstStyle/>
          <a:p>
            <a:endParaRPr lang="en-US"/>
          </a:p>
        </p:txBody>
      </p:sp>
      <p:sp>
        <p:nvSpPr>
          <p:cNvPr id="38" name="Straight Connector 37">
            <a:extLst>
              <a:ext uri="{FF2B5EF4-FFF2-40B4-BE49-F238E27FC236}">
                <a16:creationId xmlns:a16="http://schemas.microsoft.com/office/drawing/2014/main" id="{26737A35-34E9-4EE2-94C1-E256A827DB3C}"/>
              </a:ext>
            </a:extLst>
          </p:cNvPr>
          <p:cNvSpPr>
            <a:spLocks noGrp="1"/>
          </p:cNvSpPr>
          <p:nvPr/>
        </p:nvSpPr>
        <p:spPr>
          <a:xfrm flipH="1">
            <a:off x="5476875" y="4848225"/>
            <a:ext cx="1285875" cy="457200"/>
          </a:xfrm>
          <a:prstGeom prst="line">
            <a:avLst/>
          </a:prstGeom>
          <a:noFill/>
          <a:ln w="19050">
            <a:solidFill>
              <a:srgbClr val="2563EB"/>
            </a:solidFill>
            <a:prstDash val="solid"/>
          </a:ln>
        </p:spPr>
        <p:txBody>
          <a:bodyPr/>
          <a:lstStyle/>
          <a:p>
            <a:endParaRPr lang="en-US"/>
          </a:p>
        </p:txBody>
      </p:sp>
      <p:sp>
        <p:nvSpPr>
          <p:cNvPr id="39" name="Oval 38">
            <a:extLst>
              <a:ext uri="{FF2B5EF4-FFF2-40B4-BE49-F238E27FC236}">
                <a16:creationId xmlns:a16="http://schemas.microsoft.com/office/drawing/2014/main" id="{1B66C503-CBA5-4B25-AC76-90459F5AC5AA}"/>
              </a:ext>
            </a:extLst>
          </p:cNvPr>
          <p:cNvSpPr>
            <a:spLocks noGrp="1"/>
          </p:cNvSpPr>
          <p:nvPr/>
        </p:nvSpPr>
        <p:spPr>
          <a:xfrm>
            <a:off x="5172075" y="5314950"/>
            <a:ext cx="609600" cy="609600"/>
          </a:xfrm>
          <a:prstGeom prst="ellipse">
            <a:avLst/>
          </a:prstGeom>
          <a:solidFill>
            <a:srgbClr val="DCFCE7"/>
          </a:solidFill>
          <a:ln w="28575">
            <a:solidFill>
              <a:srgbClr val="16A34A"/>
            </a:solidFill>
            <a:prstDash val="solid"/>
          </a:ln>
        </p:spPr>
        <p:txBody>
          <a:bodyPr/>
          <a:lstStyle/>
          <a:p>
            <a:endParaRPr lang="en-US"/>
          </a:p>
        </p:txBody>
      </p:sp>
      <p:sp>
        <p:nvSpPr>
          <p:cNvPr id="40" name="Rectangle 39">
            <a:extLst>
              <a:ext uri="{FF2B5EF4-FFF2-40B4-BE49-F238E27FC236}">
                <a16:creationId xmlns:a16="http://schemas.microsoft.com/office/drawing/2014/main" id="{D3DF0BAF-B7F9-4EA0-B3E2-A7AE3C915895}"/>
              </a:ext>
            </a:extLst>
          </p:cNvPr>
          <p:cNvSpPr>
            <a:spLocks noGrp="1"/>
          </p:cNvSpPr>
          <p:nvPr/>
        </p:nvSpPr>
        <p:spPr>
          <a:xfrm>
            <a:off x="5172075" y="5314950"/>
            <a:ext cx="609600" cy="609600"/>
          </a:xfrm>
          <a:prstGeom prst="rect">
            <a:avLst/>
          </a:prstGeom>
          <a:noFill/>
          <a:ln w="0">
            <a:noFill/>
            <a:prstDash val="solid"/>
          </a:ln>
        </p:spPr>
        <p:txBody>
          <a:bodyPr anchor="ctr"/>
          <a:lstStyle>
            <a:defPPr algn="ctr">
              <a:defRPr sz="1200" b="1">
                <a:solidFill>
                  <a:srgbClr val="172033"/>
                </a:solidFill>
              </a:defRPr>
            </a:defPPr>
          </a:lstStyle>
          <a:p>
            <a:pPr algn="ctr">
              <a:defRPr sz="1200" b="1">
                <a:solidFill>
                  <a:srgbClr val="172033"/>
                </a:solidFill>
              </a:defRPr>
            </a:pPr>
            <a:r>
              <a:rPr sz="1200" b="1">
                <a:solidFill>
                  <a:srgbClr val="172033"/>
                </a:solidFill>
              </a:rPr>
              <a:t>20</a:t>
            </a:r>
          </a:p>
        </p:txBody>
      </p:sp>
      <p:sp>
        <p:nvSpPr>
          <p:cNvPr id="41" name="Rectangle 40">
            <a:extLst>
              <a:ext uri="{FF2B5EF4-FFF2-40B4-BE49-F238E27FC236}">
                <a16:creationId xmlns:a16="http://schemas.microsoft.com/office/drawing/2014/main" id="{09F07E22-0370-4219-BA04-861552ADB55F}"/>
              </a:ext>
            </a:extLst>
          </p:cNvPr>
          <p:cNvSpPr>
            <a:spLocks noGrp="1"/>
          </p:cNvSpPr>
          <p:nvPr/>
        </p:nvSpPr>
        <p:spPr>
          <a:xfrm>
            <a:off x="666750" y="5476875"/>
            <a:ext cx="666750" cy="266700"/>
          </a:xfrm>
          <a:prstGeom prst="rect">
            <a:avLst/>
          </a:prstGeom>
          <a:noFill/>
          <a:ln w="0">
            <a:noFill/>
            <a:prstDash val="solid"/>
          </a:ln>
        </p:spPr>
        <p:txBody>
          <a:bodyPr anchor="ctr"/>
          <a:lstStyle>
            <a:defPPr algn="l">
              <a:defRPr sz="900" b="1">
                <a:solidFill>
                  <a:srgbClr val="64748B"/>
                </a:solidFill>
              </a:defRPr>
            </a:defPPr>
          </a:lstStyle>
          <a:p>
            <a:pPr algn="l">
              <a:defRPr sz="900" b="1">
                <a:solidFill>
                  <a:srgbClr val="64748B"/>
                </a:solidFill>
              </a:defRPr>
            </a:pPr>
            <a:r>
              <a:rPr sz="900" b="1">
                <a:solidFill>
                  <a:srgbClr val="64748B"/>
                </a:solidFill>
              </a:rPr>
              <a:t>LEVEL 3</a:t>
            </a:r>
          </a:p>
        </p:txBody>
      </p:sp>
      <p:sp>
        <p:nvSpPr>
          <p:cNvPr id="42" name="Rectangle 41">
            <a:extLst>
              <a:ext uri="{FF2B5EF4-FFF2-40B4-BE49-F238E27FC236}">
                <a16:creationId xmlns:a16="http://schemas.microsoft.com/office/drawing/2014/main" id="{B7C36202-A8CB-47C4-87C3-5E778D47D59F}"/>
              </a:ext>
            </a:extLst>
          </p:cNvPr>
          <p:cNvSpPr>
            <a:spLocks noGrp="1"/>
          </p:cNvSpPr>
          <p:nvPr/>
        </p:nvSpPr>
        <p:spPr>
          <a:xfrm>
            <a:off x="9715500" y="2333625"/>
            <a:ext cx="1809750" cy="381000"/>
          </a:xfrm>
          <a:prstGeom prst="rect">
            <a:avLst/>
          </a:prstGeom>
          <a:noFill/>
          <a:ln w="0">
            <a:noFill/>
            <a:prstDash val="solid"/>
          </a:ln>
        </p:spPr>
        <p:txBody>
          <a:bodyPr anchor="ctr"/>
          <a:lstStyle>
            <a:defPPr algn="l">
              <a:defRPr sz="1650" b="1">
                <a:solidFill>
                  <a:srgbClr val="0B1739"/>
                </a:solidFill>
              </a:defRPr>
            </a:defPPr>
          </a:lstStyle>
          <a:p>
            <a:pPr algn="l">
              <a:defRPr sz="1650" b="1">
                <a:solidFill>
                  <a:srgbClr val="0B1739"/>
                </a:solidFill>
              </a:defRPr>
            </a:pPr>
            <a:r>
              <a:rPr sz="1650" b="1">
                <a:solidFill>
                  <a:srgbClr val="0B1739"/>
                </a:solidFill>
              </a:rPr>
              <a:t>General guarantee</a:t>
            </a:r>
          </a:p>
        </p:txBody>
      </p:sp>
      <p:sp>
        <p:nvSpPr>
          <p:cNvPr id="43" name="Rectangle 42">
            <a:extLst>
              <a:ext uri="{FF2B5EF4-FFF2-40B4-BE49-F238E27FC236}">
                <a16:creationId xmlns:a16="http://schemas.microsoft.com/office/drawing/2014/main" id="{5B07B6A7-89F4-47D9-91A5-B036BD62C03A}"/>
              </a:ext>
            </a:extLst>
          </p:cNvPr>
          <p:cNvSpPr>
            <a:spLocks noGrp="1"/>
          </p:cNvSpPr>
          <p:nvPr/>
        </p:nvSpPr>
        <p:spPr>
          <a:xfrm>
            <a:off x="9715500" y="2838450"/>
            <a:ext cx="1809750" cy="2190750"/>
          </a:xfrm>
          <a:prstGeom prst="rect">
            <a:avLst/>
          </a:prstGeom>
          <a:noFill/>
          <a:ln w="0">
            <a:noFill/>
            <a:prstDash val="solid"/>
          </a:ln>
        </p:spPr>
        <p:txBody>
          <a:bodyPr anchor="t"/>
          <a:lstStyle>
            <a:defPPr algn="l">
              <a:defRPr sz="1500" b="0">
                <a:solidFill>
                  <a:srgbClr val="172033"/>
                </a:solidFill>
              </a:defRPr>
            </a:defPPr>
          </a:lstStyle>
          <a:p>
            <a:pPr algn="l">
              <a:defRPr sz="1500" b="0">
                <a:solidFill>
                  <a:srgbClr val="172033"/>
                </a:solidFill>
              </a:defRPr>
            </a:pPr>
            <a:r>
              <a:rPr sz="1500" b="0">
                <a:solidFill>
                  <a:srgbClr val="172033"/>
                </a:solidFill>
              </a:rPr>
              <a:t>Every input occurrence survives</a:t>
            </a:r>
          </a:p>
          <a:p>
            <a:endParaRPr sz="1500" b="0">
              <a:solidFill>
                <a:srgbClr val="172033"/>
              </a:solidFill>
            </a:endParaRPr>
          </a:p>
          <a:p>
            <a:pPr algn="l">
              <a:defRPr sz="1500" b="0">
                <a:solidFill>
                  <a:srgbClr val="172033"/>
                </a:solidFill>
              </a:defRPr>
            </a:pPr>
            <a:r>
              <a:rPr sz="1500" b="0">
                <a:solidFill>
                  <a:srgbClr val="172033"/>
                </a:solidFill>
              </a:rPr>
              <a:t>Carries add no rounding operation</a:t>
            </a:r>
          </a:p>
          <a:p>
            <a:endParaRPr sz="1500" b="0">
              <a:solidFill>
                <a:srgbClr val="172033"/>
              </a:solidFill>
            </a:endParaRPr>
          </a:p>
          <a:p>
            <a:pPr algn="l">
              <a:defRPr sz="1500" b="0">
                <a:solidFill>
                  <a:srgbClr val="172033"/>
                </a:solidFill>
              </a:defRPr>
            </a:pPr>
            <a:r>
              <a:rPr sz="1500" b="0">
                <a:solidFill>
                  <a:srgbClr val="172033"/>
                </a:solidFill>
              </a:rPr>
              <a:t>L = ⌈log₂ n⌉</a:t>
            </a:r>
          </a:p>
          <a:p>
            <a:pPr algn="l">
              <a:defRPr sz="1500" b="0">
                <a:solidFill>
                  <a:srgbClr val="172033"/>
                </a:solidFill>
              </a:defRPr>
            </a:pPr>
            <a:r>
              <a:rPr sz="1500" b="0">
                <a:solidFill>
                  <a:srgbClr val="172033"/>
                </a:solidFill>
              </a:rPr>
              <a:t>Depth ≤ L</a:t>
            </a:r>
          </a:p>
        </p:txBody>
      </p:sp>
      <p:sp>
        <p:nvSpPr>
          <p:cNvPr id="44" name="Rectangle 43">
            <a:extLst>
              <a:ext uri="{FF2B5EF4-FFF2-40B4-BE49-F238E27FC236}">
                <a16:creationId xmlns:a16="http://schemas.microsoft.com/office/drawing/2014/main" id="{99317E53-6086-483A-80C1-67A1DB19053C}"/>
              </a:ext>
            </a:extLst>
          </p:cNvPr>
          <p:cNvSpPr>
            <a:spLocks noGrp="1"/>
          </p:cNvSpPr>
          <p:nvPr/>
        </p:nvSpPr>
        <p:spPr>
          <a:xfrm>
            <a:off x="1714500" y="6057900"/>
            <a:ext cx="9525000" cy="304800"/>
          </a:xfrm>
          <a:prstGeom prst="rect">
            <a:avLst/>
          </a:prstGeom>
          <a:noFill/>
          <a:ln w="0">
            <a:noFill/>
            <a:prstDash val="solid"/>
          </a:ln>
        </p:spPr>
        <p:txBody>
          <a:bodyPr anchor="ctr"/>
          <a:lstStyle>
            <a:defPPr algn="ctr">
              <a:defRPr sz="1725" b="1">
                <a:solidFill>
                  <a:srgbClr val="0B1739"/>
                </a:solidFill>
              </a:defRPr>
            </a:defPPr>
          </a:lstStyle>
          <a:p>
            <a:pPr algn="ctr">
              <a:defRPr sz="1725" b="1">
                <a:solidFill>
                  <a:srgbClr val="0B1739"/>
                </a:solidFill>
              </a:defRPr>
            </a:pPr>
            <a:r>
              <a:rPr sz="1725" b="1">
                <a:solidFill>
                  <a:srgbClr val="0B1739"/>
                </a:solidFill>
              </a:rPr>
              <a:t>ŷ = Σᵢ (xᵢ + Δxᵢ)     |Δxᵢ| ≤ γ_L |xᵢ|     γ_L = Lu / (1 − Lu)</a:t>
            </a:r>
          </a:p>
        </p:txBody>
      </p:sp>
      <p:sp>
        <p:nvSpPr>
          <p:cNvPr id="45" name="Rectangle 44">
            <a:extLst>
              <a:ext uri="{FF2B5EF4-FFF2-40B4-BE49-F238E27FC236}">
                <a16:creationId xmlns:a16="http://schemas.microsoft.com/office/drawing/2014/main" id="{7AE839E9-B43C-4DB8-A607-1526DC37B1CD}"/>
              </a:ext>
            </a:extLst>
          </p:cNvPr>
          <p:cNvSpPr>
            <a:spLocks noGrp="1"/>
          </p:cNvSpPr>
          <p:nvPr/>
        </p:nvSpPr>
        <p:spPr>
          <a:xfrm>
            <a:off x="666750" y="6429375"/>
            <a:ext cx="10858500" cy="209550"/>
          </a:xfrm>
          <a:prstGeom prst="rect">
            <a:avLst/>
          </a:prstGeom>
          <a:noFill/>
          <a:ln w="0">
            <a:noFill/>
            <a:prstDash val="solid"/>
          </a:ln>
        </p:spPr>
        <p:txBody>
          <a:bodyPr anchor="ctr"/>
          <a:lstStyle>
            <a:defPPr algn="r">
              <a:defRPr sz="825" b="0">
                <a:solidFill>
                  <a:srgbClr val="64748B"/>
                </a:solidFill>
              </a:defRPr>
            </a:defPPr>
          </a:lstStyle>
          <a:p>
            <a:pPr algn="r">
              <a:defRPr sz="825" b="0">
                <a:solidFill>
                  <a:srgbClr val="64748B"/>
                </a:solidFill>
              </a:defRPr>
            </a:pPr>
            <a:r>
              <a:rPr sz="825" b="0">
                <a:solidFill>
                  <a:srgbClr val="64748B"/>
                </a:solidFill>
              </a:rPr>
              <a:t>Abstract relative-error model, Lu &lt; 1. IEEE 754 bit semantics and probabilistic bounds remain outside this result.</a:t>
            </a:r>
          </a:p>
        </p:txBody>
      </p:sp>
    </p:spTree>
    <p:extLst>
      <p:ext uri="{BB962C8B-B14F-4D97-AF65-F5344CB8AC3E}">
        <p14:creationId xmlns:p14="http://schemas.microsoft.com/office/powerpoint/2010/main" val="4299322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72A21B6D-8FE3-4365-A5A7-DF74E1217175}"/>
              </a:ext>
            </a:extLst>
          </p:cNvPr>
          <p:cNvSpPr>
            <a:spLocks noGrp="1"/>
          </p:cNvSpPr>
          <p:nvPr/>
        </p:nvSpPr>
        <p:spPr>
          <a:xfrm>
            <a:off x="666750" y="361950"/>
            <a:ext cx="419100" cy="247650"/>
          </a:xfrm>
          <a:prstGeom prst="rect">
            <a:avLst/>
          </a:prstGeom>
          <a:noFill/>
          <a:ln w="0">
            <a:noFill/>
            <a:prstDash val="solid"/>
          </a:ln>
        </p:spPr>
        <p:txBody>
          <a:bodyPr anchor="ctr"/>
          <a:lstStyle>
            <a:defPPr algn="l">
              <a:defRPr sz="975" b="1">
                <a:solidFill>
                  <a:srgbClr val="2563EB"/>
                </a:solidFill>
              </a:defRPr>
            </a:defPPr>
          </a:lstStyle>
          <a:p>
            <a:pPr algn="l">
              <a:defRPr sz="975" b="1">
                <a:solidFill>
                  <a:srgbClr val="2563EB"/>
                </a:solidFill>
              </a:defRPr>
            </a:pPr>
            <a:r>
              <a:rPr sz="975" b="1">
                <a:solidFill>
                  <a:srgbClr val="2563EB"/>
                </a:solidFill>
              </a:rPr>
              <a:t>02</a:t>
            </a:r>
          </a:p>
        </p:txBody>
      </p:sp>
      <p:sp>
        <p:nvSpPr>
          <p:cNvPr id="2" name="Rectangle 1">
            <a:extLst>
              <a:ext uri="{FF2B5EF4-FFF2-40B4-BE49-F238E27FC236}">
                <a16:creationId xmlns:a16="http://schemas.microsoft.com/office/drawing/2014/main" id="{74F468BD-21EB-4C12-9754-954290311629}"/>
              </a:ext>
            </a:extLst>
          </p:cNvPr>
          <p:cNvSpPr>
            <a:spLocks noGrp="1"/>
          </p:cNvSpPr>
          <p:nvPr/>
        </p:nvSpPr>
        <p:spPr>
          <a:xfrm>
            <a:off x="666750" y="685800"/>
            <a:ext cx="10477500" cy="552450"/>
          </a:xfrm>
          <a:prstGeom prst="rect">
            <a:avLst/>
          </a:prstGeom>
          <a:noFill/>
          <a:ln w="0">
            <a:noFill/>
            <a:prstDash val="solid"/>
          </a:ln>
        </p:spPr>
        <p:txBody>
          <a:bodyPr anchor="ctr"/>
          <a:lstStyle>
            <a:defPPr algn="l">
              <a:defRPr sz="2400" b="1">
                <a:solidFill>
                  <a:srgbClr val="0B1739"/>
                </a:solidFill>
              </a:defRPr>
            </a:defPPr>
          </a:lstStyle>
          <a:p>
            <a:pPr algn="l">
              <a:defRPr sz="2400" b="1">
                <a:solidFill>
                  <a:srgbClr val="0B1739"/>
                </a:solidFill>
              </a:defRPr>
            </a:pPr>
            <a:r>
              <a:rPr sz="2400" b="1">
                <a:solidFill>
                  <a:srgbClr val="0B1739"/>
                </a:solidFill>
              </a:rPr>
              <a:t>Proof pipeline and instruction fidelity</a:t>
            </a:r>
          </a:p>
        </p:txBody>
      </p:sp>
      <p:sp>
        <p:nvSpPr>
          <p:cNvPr id="3" name="Straight Connector 2">
            <a:extLst>
              <a:ext uri="{FF2B5EF4-FFF2-40B4-BE49-F238E27FC236}">
                <a16:creationId xmlns:a16="http://schemas.microsoft.com/office/drawing/2014/main" id="{DB17C307-FA47-43AC-98B1-40FEB4B0C763}"/>
              </a:ext>
            </a:extLst>
          </p:cNvPr>
          <p:cNvSpPr>
            <a:spLocks noGrp="1"/>
          </p:cNvSpPr>
          <p:nvPr/>
        </p:nvSpPr>
        <p:spPr>
          <a:xfrm>
            <a:off x="666750" y="1333500"/>
            <a:ext cx="10858500" cy="0"/>
          </a:xfrm>
          <a:prstGeom prst="line">
            <a:avLst/>
          </a:prstGeom>
          <a:noFill/>
          <a:ln w="9525">
            <a:solidFill>
              <a:srgbClr val="CBD5E1"/>
            </a:solidFill>
            <a:prstDash val="solid"/>
          </a:ln>
        </p:spPr>
        <p:txBody>
          <a:bodyPr/>
          <a:lstStyle/>
          <a:p>
            <a:endParaRPr lang="en-US"/>
          </a:p>
        </p:txBody>
      </p:sp>
      <p:sp>
        <p:nvSpPr>
          <p:cNvPr id="4" name="Rectangle 3">
            <a:extLst>
              <a:ext uri="{FF2B5EF4-FFF2-40B4-BE49-F238E27FC236}">
                <a16:creationId xmlns:a16="http://schemas.microsoft.com/office/drawing/2014/main" id="{E0134761-2AFE-44EC-B6AA-3C84FC28AAB8}"/>
              </a:ext>
            </a:extLst>
          </p:cNvPr>
          <p:cNvSpPr>
            <a:spLocks noGrp="1"/>
          </p:cNvSpPr>
          <p:nvPr/>
        </p:nvSpPr>
        <p:spPr>
          <a:xfrm>
            <a:off x="666750" y="1457325"/>
            <a:ext cx="10668000" cy="457200"/>
          </a:xfrm>
          <a:prstGeom prst="rect">
            <a:avLst/>
          </a:prstGeom>
          <a:noFill/>
          <a:ln w="0">
            <a:noFill/>
            <a:prstDash val="solid"/>
          </a:ln>
        </p:spPr>
        <p:txBody>
          <a:bodyPr anchor="ctr"/>
          <a:lstStyle>
            <a:defPPr algn="l">
              <a:defRPr sz="1500" b="0">
                <a:solidFill>
                  <a:srgbClr val="64748B"/>
                </a:solidFill>
              </a:defRPr>
            </a:defPPr>
          </a:lstStyle>
          <a:p>
            <a:pPr algn="l">
              <a:defRPr sz="1500" b="0">
                <a:solidFill>
                  <a:srgbClr val="64748B"/>
                </a:solidFill>
              </a:defRPr>
            </a:pPr>
            <a:r>
              <a:rPr sz="1500" b="0">
                <a:solidFill>
                  <a:srgbClr val="64748B"/>
                </a:solidFill>
              </a:rPr>
              <a:t>The agent proposes Lean code. Formal checking and semantic review provide separate acceptance gates.</a:t>
            </a:r>
          </a:p>
        </p:txBody>
      </p:sp>
      <p:sp>
        <p:nvSpPr>
          <p:cNvPr id="5" name="Straight Connector 4">
            <a:extLst>
              <a:ext uri="{FF2B5EF4-FFF2-40B4-BE49-F238E27FC236}">
                <a16:creationId xmlns:a16="http://schemas.microsoft.com/office/drawing/2014/main" id="{E62EA5D1-EFA9-4E6C-82B5-BDD562D7A5AA}"/>
              </a:ext>
            </a:extLst>
          </p:cNvPr>
          <p:cNvSpPr>
            <a:spLocks noGrp="1"/>
          </p:cNvSpPr>
          <p:nvPr/>
        </p:nvSpPr>
        <p:spPr>
          <a:xfrm>
            <a:off x="3000375" y="2743200"/>
            <a:ext cx="476250" cy="0"/>
          </a:xfrm>
          <a:prstGeom prst="line">
            <a:avLst/>
          </a:prstGeom>
          <a:noFill/>
          <a:ln w="28575">
            <a:solidFill>
              <a:srgbClr val="CBD5E1"/>
            </a:solidFill>
            <a:prstDash val="solid"/>
          </a:ln>
        </p:spPr>
        <p:txBody>
          <a:bodyPr/>
          <a:lstStyle/>
          <a:p>
            <a:endParaRPr lang="en-US"/>
          </a:p>
        </p:txBody>
      </p:sp>
      <p:sp>
        <p:nvSpPr>
          <p:cNvPr id="6" name="Rectangle: Rounded Corners 5">
            <a:extLst>
              <a:ext uri="{FF2B5EF4-FFF2-40B4-BE49-F238E27FC236}">
                <a16:creationId xmlns:a16="http://schemas.microsoft.com/office/drawing/2014/main" id="{133C982D-90CB-4B22-9CB3-38C50749802C}"/>
              </a:ext>
            </a:extLst>
          </p:cNvPr>
          <p:cNvSpPr>
            <a:spLocks noGrp="1"/>
          </p:cNvSpPr>
          <p:nvPr/>
        </p:nvSpPr>
        <p:spPr>
          <a:xfrm>
            <a:off x="666750" y="2190750"/>
            <a:ext cx="2333625" cy="1143000"/>
          </a:xfrm>
          <a:prstGeom prst="roundRect">
            <a:avLst>
              <a:gd name="adj" fmla="val 6667"/>
            </a:avLst>
          </a:prstGeom>
          <a:solidFill>
            <a:srgbClr val="F7F9FC"/>
          </a:solidFill>
          <a:ln w="9525">
            <a:solidFill>
              <a:srgbClr val="CBD5E1"/>
            </a:solidFill>
            <a:prstDash val="solid"/>
          </a:ln>
        </p:spPr>
        <p:txBody>
          <a:bodyPr/>
          <a:lstStyle/>
          <a:p>
            <a:endParaRPr lang="en-US"/>
          </a:p>
        </p:txBody>
      </p:sp>
      <p:sp>
        <p:nvSpPr>
          <p:cNvPr id="7" name="Rectangle 6">
            <a:extLst>
              <a:ext uri="{FF2B5EF4-FFF2-40B4-BE49-F238E27FC236}">
                <a16:creationId xmlns:a16="http://schemas.microsoft.com/office/drawing/2014/main" id="{9CC66CDB-55C2-4DC3-A437-A0B77E6DE0F5}"/>
              </a:ext>
            </a:extLst>
          </p:cNvPr>
          <p:cNvSpPr>
            <a:spLocks noGrp="1"/>
          </p:cNvSpPr>
          <p:nvPr/>
        </p:nvSpPr>
        <p:spPr>
          <a:xfrm>
            <a:off x="819150" y="2286000"/>
            <a:ext cx="2028825" cy="323850"/>
          </a:xfrm>
          <a:prstGeom prst="rect">
            <a:avLst/>
          </a:prstGeom>
          <a:noFill/>
          <a:ln w="0">
            <a:noFill/>
            <a:prstDash val="solid"/>
          </a:ln>
        </p:spPr>
        <p:txBody>
          <a:bodyPr anchor="ctr"/>
          <a:lstStyle>
            <a:defPPr algn="l">
              <a:defRPr sz="1800" b="1">
                <a:solidFill>
                  <a:srgbClr val="0B1739"/>
                </a:solidFill>
              </a:defRPr>
            </a:defPPr>
          </a:lstStyle>
          <a:p>
            <a:pPr algn="l">
              <a:defRPr sz="1800" b="1">
                <a:solidFill>
                  <a:srgbClr val="0B1739"/>
                </a:solidFill>
              </a:defRPr>
            </a:pPr>
            <a:r>
              <a:rPr sz="1800" b="1">
                <a:solidFill>
                  <a:srgbClr val="0B1739"/>
                </a:solidFill>
              </a:rPr>
              <a:t>Specify</a:t>
            </a:r>
          </a:p>
        </p:txBody>
      </p:sp>
      <p:sp>
        <p:nvSpPr>
          <p:cNvPr id="8" name="Rectangle 7">
            <a:extLst>
              <a:ext uri="{FF2B5EF4-FFF2-40B4-BE49-F238E27FC236}">
                <a16:creationId xmlns:a16="http://schemas.microsoft.com/office/drawing/2014/main" id="{7CE4C784-0E02-4F62-B010-2F9B23D8A74C}"/>
              </a:ext>
            </a:extLst>
          </p:cNvPr>
          <p:cNvSpPr>
            <a:spLocks noGrp="1"/>
          </p:cNvSpPr>
          <p:nvPr/>
        </p:nvSpPr>
        <p:spPr>
          <a:xfrm>
            <a:off x="819150" y="2695575"/>
            <a:ext cx="2028825" cy="523875"/>
          </a:xfrm>
          <a:prstGeom prst="rect">
            <a:avLst/>
          </a:prstGeom>
          <a:noFill/>
          <a:ln w="0">
            <a:noFill/>
            <a:prstDash val="solid"/>
          </a:ln>
        </p:spPr>
        <p:txBody>
          <a:bodyPr anchor="ctr"/>
          <a:lstStyle>
            <a:defPPr algn="l">
              <a:defRPr sz="1425" b="0">
                <a:solidFill>
                  <a:srgbClr val="172033"/>
                </a:solidFill>
              </a:defRPr>
            </a:defPPr>
          </a:lstStyle>
          <a:p>
            <a:pPr algn="l">
              <a:defRPr sz="1425" b="0">
                <a:solidFill>
                  <a:srgbClr val="172033"/>
                </a:solidFill>
              </a:defRPr>
            </a:pPr>
            <a:r>
              <a:rPr sz="1425" b="0">
                <a:solidFill>
                  <a:srgbClr val="172033"/>
                </a:solidFill>
              </a:rPr>
              <a:t>Paper assumptions</a:t>
            </a:r>
          </a:p>
          <a:p>
            <a:pPr algn="l">
              <a:defRPr sz="1425" b="0">
                <a:solidFill>
                  <a:srgbClr val="172033"/>
                </a:solidFill>
              </a:defRPr>
            </a:pPr>
            <a:r>
              <a:rPr sz="1425" b="0">
                <a:solidFill>
                  <a:srgbClr val="172033"/>
                </a:solidFill>
              </a:rPr>
              <a:t>Lean statement</a:t>
            </a:r>
          </a:p>
        </p:txBody>
      </p:sp>
      <p:sp>
        <p:nvSpPr>
          <p:cNvPr id="9" name="Straight Connector 8">
            <a:extLst>
              <a:ext uri="{FF2B5EF4-FFF2-40B4-BE49-F238E27FC236}">
                <a16:creationId xmlns:a16="http://schemas.microsoft.com/office/drawing/2014/main" id="{907ECBA9-F887-440D-B401-9F52ECB1B893}"/>
              </a:ext>
            </a:extLst>
          </p:cNvPr>
          <p:cNvSpPr>
            <a:spLocks noGrp="1"/>
          </p:cNvSpPr>
          <p:nvPr/>
        </p:nvSpPr>
        <p:spPr>
          <a:xfrm>
            <a:off x="5810250" y="2743200"/>
            <a:ext cx="476250" cy="0"/>
          </a:xfrm>
          <a:prstGeom prst="line">
            <a:avLst/>
          </a:prstGeom>
          <a:noFill/>
          <a:ln w="28575">
            <a:solidFill>
              <a:srgbClr val="CBD5E1"/>
            </a:solidFill>
            <a:prstDash val="solid"/>
          </a:ln>
        </p:spPr>
        <p:txBody>
          <a:bodyPr/>
          <a:lstStyle/>
          <a:p>
            <a:endParaRPr lang="en-US"/>
          </a:p>
        </p:txBody>
      </p:sp>
      <p:sp>
        <p:nvSpPr>
          <p:cNvPr id="10" name="Rectangle: Rounded Corners 9">
            <a:extLst>
              <a:ext uri="{FF2B5EF4-FFF2-40B4-BE49-F238E27FC236}">
                <a16:creationId xmlns:a16="http://schemas.microsoft.com/office/drawing/2014/main" id="{EDF32AB9-7321-4BDC-8E27-B5237AC80EF8}"/>
              </a:ext>
            </a:extLst>
          </p:cNvPr>
          <p:cNvSpPr>
            <a:spLocks noGrp="1"/>
          </p:cNvSpPr>
          <p:nvPr/>
        </p:nvSpPr>
        <p:spPr>
          <a:xfrm>
            <a:off x="3476625" y="2190750"/>
            <a:ext cx="2333625" cy="1143000"/>
          </a:xfrm>
          <a:prstGeom prst="roundRect">
            <a:avLst>
              <a:gd name="adj" fmla="val 6667"/>
            </a:avLst>
          </a:prstGeom>
          <a:solidFill>
            <a:srgbClr val="F7F9FC"/>
          </a:solidFill>
          <a:ln w="9525">
            <a:solidFill>
              <a:srgbClr val="CBD5E1"/>
            </a:solidFill>
            <a:prstDash val="solid"/>
          </a:ln>
        </p:spPr>
        <p:txBody>
          <a:bodyPr/>
          <a:lstStyle/>
          <a:p>
            <a:endParaRPr lang="en-US"/>
          </a:p>
        </p:txBody>
      </p:sp>
      <p:sp>
        <p:nvSpPr>
          <p:cNvPr id="11" name="Rectangle 10">
            <a:extLst>
              <a:ext uri="{FF2B5EF4-FFF2-40B4-BE49-F238E27FC236}">
                <a16:creationId xmlns:a16="http://schemas.microsoft.com/office/drawing/2014/main" id="{DC29627A-1A7F-456E-8362-FAB58D7B94F9}"/>
              </a:ext>
            </a:extLst>
          </p:cNvPr>
          <p:cNvSpPr>
            <a:spLocks noGrp="1"/>
          </p:cNvSpPr>
          <p:nvPr/>
        </p:nvSpPr>
        <p:spPr>
          <a:xfrm>
            <a:off x="3629025" y="2286000"/>
            <a:ext cx="2028825" cy="323850"/>
          </a:xfrm>
          <a:prstGeom prst="rect">
            <a:avLst/>
          </a:prstGeom>
          <a:noFill/>
          <a:ln w="0">
            <a:noFill/>
            <a:prstDash val="solid"/>
          </a:ln>
        </p:spPr>
        <p:txBody>
          <a:bodyPr anchor="ctr"/>
          <a:lstStyle>
            <a:defPPr algn="l">
              <a:defRPr sz="1800" b="1">
                <a:solidFill>
                  <a:srgbClr val="0B1739"/>
                </a:solidFill>
              </a:defRPr>
            </a:defPPr>
          </a:lstStyle>
          <a:p>
            <a:pPr algn="l">
              <a:defRPr sz="1800" b="1">
                <a:solidFill>
                  <a:srgbClr val="0B1739"/>
                </a:solidFill>
              </a:defRPr>
            </a:pPr>
            <a:r>
              <a:rPr sz="1800" b="1">
                <a:solidFill>
                  <a:srgbClr val="0B1739"/>
                </a:solidFill>
              </a:rPr>
              <a:t>Construct</a:t>
            </a:r>
          </a:p>
        </p:txBody>
      </p:sp>
      <p:sp>
        <p:nvSpPr>
          <p:cNvPr id="12" name="Rectangle 11">
            <a:extLst>
              <a:ext uri="{FF2B5EF4-FFF2-40B4-BE49-F238E27FC236}">
                <a16:creationId xmlns:a16="http://schemas.microsoft.com/office/drawing/2014/main" id="{FA3B5EBE-13E2-4FFD-9511-74C59C57D51D}"/>
              </a:ext>
            </a:extLst>
          </p:cNvPr>
          <p:cNvSpPr>
            <a:spLocks noGrp="1"/>
          </p:cNvSpPr>
          <p:nvPr/>
        </p:nvSpPr>
        <p:spPr>
          <a:xfrm>
            <a:off x="3629025" y="2695575"/>
            <a:ext cx="2028825" cy="523875"/>
          </a:xfrm>
          <a:prstGeom prst="rect">
            <a:avLst/>
          </a:prstGeom>
          <a:noFill/>
          <a:ln w="0">
            <a:noFill/>
            <a:prstDash val="solid"/>
          </a:ln>
        </p:spPr>
        <p:txBody>
          <a:bodyPr anchor="ctr"/>
          <a:lstStyle>
            <a:defPPr algn="l">
              <a:defRPr sz="1425" b="0">
                <a:solidFill>
                  <a:srgbClr val="172033"/>
                </a:solidFill>
              </a:defRPr>
            </a:defPPr>
          </a:lstStyle>
          <a:p>
            <a:pPr algn="l">
              <a:defRPr sz="1425" b="0">
                <a:solidFill>
                  <a:srgbClr val="172033"/>
                </a:solidFill>
              </a:defRPr>
            </a:pPr>
            <a:r>
              <a:rPr sz="1425" b="0">
                <a:solidFill>
                  <a:srgbClr val="172033"/>
                </a:solidFill>
              </a:rPr>
              <a:t>Small lemmas</a:t>
            </a:r>
          </a:p>
          <a:p>
            <a:pPr algn="l">
              <a:defRPr sz="1425" b="0">
                <a:solidFill>
                  <a:srgbClr val="172033"/>
                </a:solidFill>
              </a:defRPr>
            </a:pPr>
            <a:r>
              <a:rPr sz="1425" b="0">
                <a:solidFill>
                  <a:srgbClr val="172033"/>
                </a:solidFill>
              </a:rPr>
              <a:t>Compile and repair</a:t>
            </a:r>
          </a:p>
        </p:txBody>
      </p:sp>
      <p:sp>
        <p:nvSpPr>
          <p:cNvPr id="13" name="Straight Connector 12">
            <a:extLst>
              <a:ext uri="{FF2B5EF4-FFF2-40B4-BE49-F238E27FC236}">
                <a16:creationId xmlns:a16="http://schemas.microsoft.com/office/drawing/2014/main" id="{587F7086-A461-410E-905D-5CAC132D2413}"/>
              </a:ext>
            </a:extLst>
          </p:cNvPr>
          <p:cNvSpPr>
            <a:spLocks noGrp="1"/>
          </p:cNvSpPr>
          <p:nvPr/>
        </p:nvSpPr>
        <p:spPr>
          <a:xfrm>
            <a:off x="8620125" y="2743200"/>
            <a:ext cx="476250" cy="0"/>
          </a:xfrm>
          <a:prstGeom prst="line">
            <a:avLst/>
          </a:prstGeom>
          <a:noFill/>
          <a:ln w="28575">
            <a:solidFill>
              <a:srgbClr val="CBD5E1"/>
            </a:solidFill>
            <a:prstDash val="solid"/>
          </a:ln>
        </p:spPr>
        <p:txBody>
          <a:bodyPr/>
          <a:lstStyle/>
          <a:p>
            <a:endParaRPr lang="en-US"/>
          </a:p>
        </p:txBody>
      </p:sp>
      <p:sp>
        <p:nvSpPr>
          <p:cNvPr id="14" name="Rectangle: Rounded Corners 13">
            <a:extLst>
              <a:ext uri="{FF2B5EF4-FFF2-40B4-BE49-F238E27FC236}">
                <a16:creationId xmlns:a16="http://schemas.microsoft.com/office/drawing/2014/main" id="{18AEA96D-4F2D-4E1C-87AF-54C3034F148C}"/>
              </a:ext>
            </a:extLst>
          </p:cNvPr>
          <p:cNvSpPr>
            <a:spLocks noGrp="1"/>
          </p:cNvSpPr>
          <p:nvPr/>
        </p:nvSpPr>
        <p:spPr>
          <a:xfrm>
            <a:off x="6286500" y="2190750"/>
            <a:ext cx="2333625" cy="1143000"/>
          </a:xfrm>
          <a:prstGeom prst="roundRect">
            <a:avLst>
              <a:gd name="adj" fmla="val 6667"/>
            </a:avLst>
          </a:prstGeom>
          <a:solidFill>
            <a:srgbClr val="DCFCE7"/>
          </a:solidFill>
          <a:ln w="9525">
            <a:solidFill>
              <a:srgbClr val="16A34A"/>
            </a:solidFill>
            <a:prstDash val="solid"/>
          </a:ln>
        </p:spPr>
        <p:txBody>
          <a:bodyPr/>
          <a:lstStyle/>
          <a:p>
            <a:endParaRPr lang="en-US"/>
          </a:p>
        </p:txBody>
      </p:sp>
      <p:sp>
        <p:nvSpPr>
          <p:cNvPr id="15" name="Rectangle 14">
            <a:extLst>
              <a:ext uri="{FF2B5EF4-FFF2-40B4-BE49-F238E27FC236}">
                <a16:creationId xmlns:a16="http://schemas.microsoft.com/office/drawing/2014/main" id="{F6436D3E-CF7C-4BFE-A4F8-2519BC0444E8}"/>
              </a:ext>
            </a:extLst>
          </p:cNvPr>
          <p:cNvSpPr>
            <a:spLocks noGrp="1"/>
          </p:cNvSpPr>
          <p:nvPr/>
        </p:nvSpPr>
        <p:spPr>
          <a:xfrm>
            <a:off x="6438900" y="2286000"/>
            <a:ext cx="2028825" cy="323850"/>
          </a:xfrm>
          <a:prstGeom prst="rect">
            <a:avLst/>
          </a:prstGeom>
          <a:noFill/>
          <a:ln w="0">
            <a:noFill/>
            <a:prstDash val="solid"/>
          </a:ln>
        </p:spPr>
        <p:txBody>
          <a:bodyPr anchor="ctr"/>
          <a:lstStyle>
            <a:defPPr algn="l">
              <a:defRPr sz="1800" b="1">
                <a:solidFill>
                  <a:srgbClr val="0B1739"/>
                </a:solidFill>
              </a:defRPr>
            </a:defPPr>
          </a:lstStyle>
          <a:p>
            <a:pPr algn="l">
              <a:defRPr sz="1800" b="1">
                <a:solidFill>
                  <a:srgbClr val="0B1739"/>
                </a:solidFill>
              </a:defRPr>
            </a:pPr>
            <a:r>
              <a:rPr sz="1800" b="1">
                <a:solidFill>
                  <a:srgbClr val="0B1739"/>
                </a:solidFill>
              </a:rPr>
              <a:t>Check</a:t>
            </a:r>
          </a:p>
        </p:txBody>
      </p:sp>
      <p:sp>
        <p:nvSpPr>
          <p:cNvPr id="16" name="Rectangle 15">
            <a:extLst>
              <a:ext uri="{FF2B5EF4-FFF2-40B4-BE49-F238E27FC236}">
                <a16:creationId xmlns:a16="http://schemas.microsoft.com/office/drawing/2014/main" id="{FC0C4B61-917C-4B65-8A56-7EC9FED44CBA}"/>
              </a:ext>
            </a:extLst>
          </p:cNvPr>
          <p:cNvSpPr>
            <a:spLocks noGrp="1"/>
          </p:cNvSpPr>
          <p:nvPr/>
        </p:nvSpPr>
        <p:spPr>
          <a:xfrm>
            <a:off x="6438900" y="2695575"/>
            <a:ext cx="2028825" cy="523875"/>
          </a:xfrm>
          <a:prstGeom prst="rect">
            <a:avLst/>
          </a:prstGeom>
          <a:noFill/>
          <a:ln w="0">
            <a:noFill/>
            <a:prstDash val="solid"/>
          </a:ln>
        </p:spPr>
        <p:txBody>
          <a:bodyPr anchor="ctr"/>
          <a:lstStyle>
            <a:defPPr algn="l">
              <a:defRPr sz="1425" b="0">
                <a:solidFill>
                  <a:srgbClr val="172033"/>
                </a:solidFill>
              </a:defRPr>
            </a:defPPr>
          </a:lstStyle>
          <a:p>
            <a:pPr algn="l">
              <a:defRPr sz="1425" b="0">
                <a:solidFill>
                  <a:srgbClr val="172033"/>
                </a:solidFill>
              </a:defRPr>
            </a:pPr>
            <a:r>
              <a:rPr sz="1425" b="0">
                <a:solidFill>
                  <a:srgbClr val="172033"/>
                </a:solidFill>
              </a:rPr>
              <a:t>Full build + scans</a:t>
            </a:r>
          </a:p>
          <a:p>
            <a:pPr algn="l">
              <a:defRPr sz="1425" b="0">
                <a:solidFill>
                  <a:srgbClr val="172033"/>
                </a:solidFill>
              </a:defRPr>
            </a:pPr>
            <a:r>
              <a:rPr sz="1425" b="0">
                <a:solidFill>
                  <a:srgbClr val="172033"/>
                </a:solidFill>
              </a:rPr>
              <a:t>Semantic review</a:t>
            </a:r>
          </a:p>
        </p:txBody>
      </p:sp>
      <p:sp>
        <p:nvSpPr>
          <p:cNvPr id="17" name="Rectangle: Rounded Corners 16">
            <a:extLst>
              <a:ext uri="{FF2B5EF4-FFF2-40B4-BE49-F238E27FC236}">
                <a16:creationId xmlns:a16="http://schemas.microsoft.com/office/drawing/2014/main" id="{763D78D0-DCFF-40B1-9D84-560CB1E252E0}"/>
              </a:ext>
            </a:extLst>
          </p:cNvPr>
          <p:cNvSpPr>
            <a:spLocks noGrp="1"/>
          </p:cNvSpPr>
          <p:nvPr/>
        </p:nvSpPr>
        <p:spPr>
          <a:xfrm>
            <a:off x="9096375" y="2190750"/>
            <a:ext cx="2333625" cy="1143000"/>
          </a:xfrm>
          <a:prstGeom prst="roundRect">
            <a:avLst>
              <a:gd name="adj" fmla="val 6667"/>
            </a:avLst>
          </a:prstGeom>
          <a:solidFill>
            <a:srgbClr val="F7F9FC"/>
          </a:solidFill>
          <a:ln w="9525">
            <a:solidFill>
              <a:srgbClr val="CBD5E1"/>
            </a:solidFill>
            <a:prstDash val="solid"/>
          </a:ln>
        </p:spPr>
        <p:txBody>
          <a:bodyPr/>
          <a:lstStyle/>
          <a:p>
            <a:endParaRPr lang="en-US"/>
          </a:p>
        </p:txBody>
      </p:sp>
      <p:sp>
        <p:nvSpPr>
          <p:cNvPr id="18" name="Rectangle 17">
            <a:extLst>
              <a:ext uri="{FF2B5EF4-FFF2-40B4-BE49-F238E27FC236}">
                <a16:creationId xmlns:a16="http://schemas.microsoft.com/office/drawing/2014/main" id="{69FD7E8F-6D35-421D-98EA-F44A2559236D}"/>
              </a:ext>
            </a:extLst>
          </p:cNvPr>
          <p:cNvSpPr>
            <a:spLocks noGrp="1"/>
          </p:cNvSpPr>
          <p:nvPr/>
        </p:nvSpPr>
        <p:spPr>
          <a:xfrm>
            <a:off x="9248775" y="2286000"/>
            <a:ext cx="2028825" cy="323850"/>
          </a:xfrm>
          <a:prstGeom prst="rect">
            <a:avLst/>
          </a:prstGeom>
          <a:noFill/>
          <a:ln w="0">
            <a:noFill/>
            <a:prstDash val="solid"/>
          </a:ln>
        </p:spPr>
        <p:txBody>
          <a:bodyPr anchor="ctr"/>
          <a:lstStyle>
            <a:defPPr algn="l">
              <a:defRPr sz="1800" b="1">
                <a:solidFill>
                  <a:srgbClr val="0B1739"/>
                </a:solidFill>
              </a:defRPr>
            </a:defPPr>
          </a:lstStyle>
          <a:p>
            <a:pPr algn="l">
              <a:defRPr sz="1800" b="1">
                <a:solidFill>
                  <a:srgbClr val="0B1739"/>
                </a:solidFill>
              </a:defRPr>
            </a:pPr>
            <a:r>
              <a:rPr sz="1800" b="1">
                <a:solidFill>
                  <a:srgbClr val="0B1739"/>
                </a:solidFill>
              </a:rPr>
              <a:t>Record</a:t>
            </a:r>
          </a:p>
        </p:txBody>
      </p:sp>
      <p:sp>
        <p:nvSpPr>
          <p:cNvPr id="19" name="Rectangle 18">
            <a:extLst>
              <a:ext uri="{FF2B5EF4-FFF2-40B4-BE49-F238E27FC236}">
                <a16:creationId xmlns:a16="http://schemas.microsoft.com/office/drawing/2014/main" id="{60F3BF79-8B9A-4505-9B5C-1D97C1061770}"/>
              </a:ext>
            </a:extLst>
          </p:cNvPr>
          <p:cNvSpPr>
            <a:spLocks noGrp="1"/>
          </p:cNvSpPr>
          <p:nvPr/>
        </p:nvSpPr>
        <p:spPr>
          <a:xfrm>
            <a:off x="9248775" y="2695575"/>
            <a:ext cx="2028825" cy="523875"/>
          </a:xfrm>
          <a:prstGeom prst="rect">
            <a:avLst/>
          </a:prstGeom>
          <a:noFill/>
          <a:ln w="0">
            <a:noFill/>
            <a:prstDash val="solid"/>
          </a:ln>
        </p:spPr>
        <p:txBody>
          <a:bodyPr anchor="ctr"/>
          <a:lstStyle>
            <a:defPPr algn="l">
              <a:defRPr sz="1425" b="0">
                <a:solidFill>
                  <a:srgbClr val="172033"/>
                </a:solidFill>
              </a:defRPr>
            </a:defPPr>
          </a:lstStyle>
          <a:p>
            <a:pPr algn="l">
              <a:defRPr sz="1425" b="0">
                <a:solidFill>
                  <a:srgbClr val="172033"/>
                </a:solidFill>
              </a:defRPr>
            </a:pPr>
            <a:r>
              <a:rPr sz="1425" b="0">
                <a:solidFill>
                  <a:srgbClr val="172033"/>
                </a:solidFill>
              </a:rPr>
              <a:t>Prompts and decisions</a:t>
            </a:r>
          </a:p>
          <a:p>
            <a:pPr algn="l">
              <a:defRPr sz="1425" b="0">
                <a:solidFill>
                  <a:srgbClr val="172033"/>
                </a:solidFill>
              </a:defRPr>
            </a:pPr>
            <a:r>
              <a:rPr sz="1425" b="0">
                <a:solidFill>
                  <a:srgbClr val="172033"/>
                </a:solidFill>
              </a:rPr>
              <a:t>Verified lessons</a:t>
            </a:r>
          </a:p>
        </p:txBody>
      </p:sp>
      <p:sp>
        <p:nvSpPr>
          <p:cNvPr id="20" name="Rectangle 19">
            <a:extLst>
              <a:ext uri="{FF2B5EF4-FFF2-40B4-BE49-F238E27FC236}">
                <a16:creationId xmlns:a16="http://schemas.microsoft.com/office/drawing/2014/main" id="{0D1FFC0E-D069-4EEA-9623-EC480680DC74}"/>
              </a:ext>
            </a:extLst>
          </p:cNvPr>
          <p:cNvSpPr>
            <a:spLocks noGrp="1"/>
          </p:cNvSpPr>
          <p:nvPr/>
        </p:nvSpPr>
        <p:spPr>
          <a:xfrm>
            <a:off x="666750" y="3695700"/>
            <a:ext cx="2857500" cy="342900"/>
          </a:xfrm>
          <a:prstGeom prst="rect">
            <a:avLst/>
          </a:prstGeom>
          <a:noFill/>
          <a:ln w="0">
            <a:noFill/>
            <a:prstDash val="solid"/>
          </a:ln>
        </p:spPr>
        <p:txBody>
          <a:bodyPr anchor="ctr"/>
          <a:lstStyle>
            <a:defPPr algn="l">
              <a:defRPr sz="1800" b="1">
                <a:solidFill>
                  <a:srgbClr val="0B1739"/>
                </a:solidFill>
              </a:defRPr>
            </a:defPPr>
          </a:lstStyle>
          <a:p>
            <a:pPr algn="l">
              <a:defRPr sz="1800" b="1">
                <a:solidFill>
                  <a:srgbClr val="0B1739"/>
                </a:solidFill>
              </a:defRPr>
            </a:pPr>
            <a:r>
              <a:rPr sz="1800" b="1">
                <a:solidFill>
                  <a:srgbClr val="0B1739"/>
                </a:solidFill>
              </a:rPr>
              <a:t>My interventions</a:t>
            </a:r>
          </a:p>
        </p:txBody>
      </p:sp>
      <p:sp>
        <p:nvSpPr>
          <p:cNvPr id="21" name="Rectangle 20">
            <a:extLst>
              <a:ext uri="{FF2B5EF4-FFF2-40B4-BE49-F238E27FC236}">
                <a16:creationId xmlns:a16="http://schemas.microsoft.com/office/drawing/2014/main" id="{966CFACF-BBB9-4FDE-B3DB-CF5E0BBD661E}"/>
              </a:ext>
            </a:extLst>
          </p:cNvPr>
          <p:cNvSpPr>
            <a:spLocks noGrp="1"/>
          </p:cNvSpPr>
          <p:nvPr/>
        </p:nvSpPr>
        <p:spPr>
          <a:xfrm>
            <a:off x="666750" y="4143375"/>
            <a:ext cx="5334000" cy="1381125"/>
          </a:xfrm>
          <a:prstGeom prst="rect">
            <a:avLst/>
          </a:prstGeom>
          <a:noFill/>
          <a:ln w="0">
            <a:noFill/>
            <a:prstDash val="solid"/>
          </a:ln>
        </p:spPr>
        <p:txBody>
          <a:bodyPr anchor="t"/>
          <a:lstStyle>
            <a:defPPr algn="l">
              <a:defRPr sz="1650" b="0">
                <a:solidFill>
                  <a:srgbClr val="172033"/>
                </a:solidFill>
              </a:defRPr>
            </a:defPPr>
          </a:lstStyle>
          <a:p>
            <a:pPr algn="l">
              <a:defRPr sz="1650" b="0">
                <a:solidFill>
                  <a:srgbClr val="172033"/>
                </a:solidFill>
              </a:defRPr>
            </a:pPr>
            <a:r>
              <a:rPr sz="1650" b="0">
                <a:solidFill>
                  <a:srgbClr val="172033"/>
                </a:solidFill>
              </a:rPr>
              <a:t>Review assumptions and the target statement</a:t>
            </a:r>
          </a:p>
          <a:p>
            <a:pPr algn="l">
              <a:defRPr sz="1650" b="0">
                <a:solidFill>
                  <a:srgbClr val="172033"/>
                </a:solidFill>
              </a:defRPr>
            </a:pPr>
            <a:r>
              <a:rPr sz="1650" b="0">
                <a:solidFill>
                  <a:srgbClr val="172033"/>
                </a:solidFill>
              </a:rPr>
              <a:t>Set exact tests and decompose the argument</a:t>
            </a:r>
          </a:p>
          <a:p>
            <a:pPr algn="l">
              <a:defRPr sz="1650" b="0">
                <a:solidFill>
                  <a:srgbClr val="172033"/>
                </a:solidFill>
              </a:defRPr>
            </a:pPr>
            <a:r>
              <a:rPr sz="1650" b="0">
                <a:solidFill>
                  <a:srgbClr val="172033"/>
                </a:solidFill>
              </a:rPr>
              <a:t>Review the result against the source theorem</a:t>
            </a:r>
          </a:p>
        </p:txBody>
      </p:sp>
      <p:sp>
        <p:nvSpPr>
          <p:cNvPr id="22" name="Rectangle 21">
            <a:extLst>
              <a:ext uri="{FF2B5EF4-FFF2-40B4-BE49-F238E27FC236}">
                <a16:creationId xmlns:a16="http://schemas.microsoft.com/office/drawing/2014/main" id="{CFBC25D0-FE91-4109-8FE6-2CDA003542FC}"/>
              </a:ext>
            </a:extLst>
          </p:cNvPr>
          <p:cNvSpPr>
            <a:spLocks noGrp="1"/>
          </p:cNvSpPr>
          <p:nvPr/>
        </p:nvSpPr>
        <p:spPr>
          <a:xfrm>
            <a:off x="6477000" y="3695700"/>
            <a:ext cx="4286250" cy="342900"/>
          </a:xfrm>
          <a:prstGeom prst="rect">
            <a:avLst/>
          </a:prstGeom>
          <a:noFill/>
          <a:ln w="0">
            <a:noFill/>
            <a:prstDash val="solid"/>
          </a:ln>
        </p:spPr>
        <p:txBody>
          <a:bodyPr anchor="ctr"/>
          <a:lstStyle>
            <a:defPPr algn="l">
              <a:defRPr sz="1800" b="1">
                <a:solidFill>
                  <a:srgbClr val="0B1739"/>
                </a:solidFill>
              </a:defRPr>
            </a:defPPr>
          </a:lstStyle>
          <a:p>
            <a:pPr algn="l">
              <a:defRPr sz="1800" b="1">
                <a:solidFill>
                  <a:srgbClr val="0B1739"/>
                </a:solidFill>
              </a:defRPr>
            </a:pPr>
            <a:r>
              <a:rPr sz="1800" b="1">
                <a:solidFill>
                  <a:srgbClr val="0B1739"/>
                </a:solidFill>
              </a:rPr>
              <a:t>Observable evidence</a:t>
            </a:r>
          </a:p>
        </p:txBody>
      </p:sp>
      <p:sp>
        <p:nvSpPr>
          <p:cNvPr id="23" name="Rectangle 22">
            <a:extLst>
              <a:ext uri="{FF2B5EF4-FFF2-40B4-BE49-F238E27FC236}">
                <a16:creationId xmlns:a16="http://schemas.microsoft.com/office/drawing/2014/main" id="{9D9638D4-560F-455A-AB72-B156220C8E35}"/>
              </a:ext>
            </a:extLst>
          </p:cNvPr>
          <p:cNvSpPr>
            <a:spLocks noGrp="1"/>
          </p:cNvSpPr>
          <p:nvPr/>
        </p:nvSpPr>
        <p:spPr>
          <a:xfrm>
            <a:off x="6477000" y="4143375"/>
            <a:ext cx="5048250" cy="1381125"/>
          </a:xfrm>
          <a:prstGeom prst="rect">
            <a:avLst/>
          </a:prstGeom>
          <a:noFill/>
          <a:ln w="0">
            <a:noFill/>
            <a:prstDash val="solid"/>
          </a:ln>
        </p:spPr>
        <p:txBody>
          <a:bodyPr anchor="t"/>
          <a:lstStyle>
            <a:defPPr algn="l">
              <a:defRPr sz="1650" b="0">
                <a:solidFill>
                  <a:srgbClr val="172033"/>
                </a:solidFill>
              </a:defRPr>
            </a:defPPr>
          </a:lstStyle>
          <a:p>
            <a:pPr algn="l">
              <a:defRPr sz="1650" b="0">
                <a:solidFill>
                  <a:srgbClr val="172033"/>
                </a:solidFill>
              </a:defRPr>
            </a:pPr>
            <a:r>
              <a:rPr sz="1650" b="0">
                <a:solidFill>
                  <a:srgbClr val="172033"/>
                </a:solidFill>
              </a:rPr>
              <a:t>Exact levels and unchanged carry structure</a:t>
            </a:r>
          </a:p>
          <a:p>
            <a:pPr algn="l">
              <a:defRPr sz="1650" b="0">
                <a:solidFill>
                  <a:srgbClr val="172033"/>
                </a:solidFill>
              </a:defRPr>
            </a:pPr>
            <a:r>
              <a:rPr sz="1650" b="0">
                <a:solidFill>
                  <a:srgbClr val="172033"/>
                </a:solidFill>
              </a:rPr>
              <a:t>General preservation and depth theorems</a:t>
            </a:r>
          </a:p>
          <a:p>
            <a:pPr algn="l">
              <a:defRPr sz="1650" b="0">
                <a:solidFill>
                  <a:srgbClr val="172033"/>
                </a:solidFill>
              </a:defRPr>
            </a:pPr>
            <a:r>
              <a:rPr sz="1650" b="0">
                <a:solidFill>
                  <a:srgbClr val="172033"/>
                </a:solidFill>
              </a:rPr>
              <a:t>Build result, scans, and decision records</a:t>
            </a:r>
          </a:p>
        </p:txBody>
      </p:sp>
      <p:sp>
        <p:nvSpPr>
          <p:cNvPr id="24" name="Rectangle 23">
            <a:extLst>
              <a:ext uri="{FF2B5EF4-FFF2-40B4-BE49-F238E27FC236}">
                <a16:creationId xmlns:a16="http://schemas.microsoft.com/office/drawing/2014/main" id="{AE4967D4-1043-46DD-BC5C-B8F595503B69}"/>
              </a:ext>
            </a:extLst>
          </p:cNvPr>
          <p:cNvSpPr>
            <a:spLocks noGrp="1"/>
          </p:cNvSpPr>
          <p:nvPr/>
        </p:nvSpPr>
        <p:spPr>
          <a:xfrm>
            <a:off x="666750" y="5762625"/>
            <a:ext cx="10858500" cy="457200"/>
          </a:xfrm>
          <a:prstGeom prst="rect">
            <a:avLst/>
          </a:prstGeom>
          <a:noFill/>
          <a:ln w="0">
            <a:noFill/>
            <a:prstDash val="solid"/>
          </a:ln>
        </p:spPr>
        <p:txBody>
          <a:bodyPr anchor="ctr"/>
          <a:lstStyle>
            <a:defPPr algn="l">
              <a:defRPr sz="1500" b="1">
                <a:solidFill>
                  <a:srgbClr val="16A34A"/>
                </a:solidFill>
              </a:defRPr>
            </a:defPPr>
          </a:lstStyle>
          <a:p>
            <a:pPr algn="l">
              <a:defRPr sz="1500" b="1">
                <a:solidFill>
                  <a:srgbClr val="16A34A"/>
                </a:solidFill>
              </a:defRPr>
            </a:pPr>
            <a:r>
              <a:rPr sz="1500" b="1">
                <a:solidFill>
                  <a:srgbClr val="16A34A"/>
                </a:solidFill>
              </a:rPr>
              <a:t>Full project build passed. No proof placeholders or project-defined axioms. Aristotle calls: 0.</a:t>
            </a:r>
          </a:p>
        </p:txBody>
      </p:sp>
      <p:sp>
        <p:nvSpPr>
          <p:cNvPr id="25" name="Rectangle 24">
            <a:extLst>
              <a:ext uri="{FF2B5EF4-FFF2-40B4-BE49-F238E27FC236}">
                <a16:creationId xmlns:a16="http://schemas.microsoft.com/office/drawing/2014/main" id="{73022875-BD9E-4A52-9A74-505DE1D0D362}"/>
              </a:ext>
            </a:extLst>
          </p:cNvPr>
          <p:cNvSpPr>
            <a:spLocks noGrp="1"/>
          </p:cNvSpPr>
          <p:nvPr/>
        </p:nvSpPr>
        <p:spPr>
          <a:xfrm>
            <a:off x="666750" y="6429375"/>
            <a:ext cx="10858500" cy="209550"/>
          </a:xfrm>
          <a:prstGeom prst="rect">
            <a:avLst/>
          </a:prstGeom>
          <a:noFill/>
          <a:ln w="0">
            <a:noFill/>
            <a:prstDash val="solid"/>
          </a:ln>
        </p:spPr>
        <p:txBody>
          <a:bodyPr anchor="ctr"/>
          <a:lstStyle>
            <a:defPPr algn="r">
              <a:defRPr sz="825" b="0">
                <a:solidFill>
                  <a:srgbClr val="64748B"/>
                </a:solidFill>
              </a:defRPr>
            </a:defPPr>
          </a:lstStyle>
          <a:p>
            <a:pPr algn="r">
              <a:defRPr sz="825" b="0">
                <a:solidFill>
                  <a:srgbClr val="64748B"/>
                </a:solidFill>
              </a:defRPr>
            </a:pPr>
            <a:r>
              <a:rPr sz="825" b="0">
                <a:solidFill>
                  <a:srgbClr val="64748B"/>
                </a:solidFill>
              </a:rPr>
              <a:t>Aristotle remains an optional fallback for an isolated blocked lemma after local decomposition.</a:t>
            </a:r>
          </a:p>
        </p:txBody>
      </p:sp>
    </p:spTree>
    <p:extLst>
      <p:ext uri="{BB962C8B-B14F-4D97-AF65-F5344CB8AC3E}">
        <p14:creationId xmlns:p14="http://schemas.microsoft.com/office/powerpoint/2010/main" val="828839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03AA8DF-46FB-43BA-992C-852816042CF3}"/>
              </a:ext>
            </a:extLst>
          </p:cNvPr>
          <p:cNvSpPr>
            <a:spLocks noGrp="1"/>
          </p:cNvSpPr>
          <p:nvPr/>
        </p:nvSpPr>
        <p:spPr>
          <a:xfrm>
            <a:off x="666750" y="361950"/>
            <a:ext cx="419100" cy="247650"/>
          </a:xfrm>
          <a:prstGeom prst="rect">
            <a:avLst/>
          </a:prstGeom>
          <a:noFill/>
          <a:ln w="0">
            <a:noFill/>
            <a:prstDash val="solid"/>
          </a:ln>
        </p:spPr>
        <p:txBody>
          <a:bodyPr anchor="ctr"/>
          <a:lstStyle>
            <a:defPPr algn="l">
              <a:defRPr sz="975" b="1">
                <a:solidFill>
                  <a:srgbClr val="2563EB"/>
                </a:solidFill>
              </a:defRPr>
            </a:defPPr>
          </a:lstStyle>
          <a:p>
            <a:pPr algn="l">
              <a:defRPr sz="975" b="1">
                <a:solidFill>
                  <a:srgbClr val="2563EB"/>
                </a:solidFill>
              </a:defRPr>
            </a:pPr>
            <a:r>
              <a:rPr sz="975" b="1">
                <a:solidFill>
                  <a:srgbClr val="2563EB"/>
                </a:solidFill>
              </a:rPr>
              <a:t>03</a:t>
            </a:r>
          </a:p>
        </p:txBody>
      </p:sp>
      <p:sp>
        <p:nvSpPr>
          <p:cNvPr id="2" name="Rectangle 1">
            <a:extLst>
              <a:ext uri="{FF2B5EF4-FFF2-40B4-BE49-F238E27FC236}">
                <a16:creationId xmlns:a16="http://schemas.microsoft.com/office/drawing/2014/main" id="{628C3738-857D-4131-A88B-3539A236F04B}"/>
              </a:ext>
            </a:extLst>
          </p:cNvPr>
          <p:cNvSpPr>
            <a:spLocks noGrp="1"/>
          </p:cNvSpPr>
          <p:nvPr/>
        </p:nvSpPr>
        <p:spPr>
          <a:xfrm>
            <a:off x="666750" y="685800"/>
            <a:ext cx="10477500" cy="552450"/>
          </a:xfrm>
          <a:prstGeom prst="rect">
            <a:avLst/>
          </a:prstGeom>
          <a:noFill/>
          <a:ln w="0">
            <a:noFill/>
            <a:prstDash val="solid"/>
          </a:ln>
        </p:spPr>
        <p:txBody>
          <a:bodyPr anchor="ctr"/>
          <a:lstStyle>
            <a:defPPr algn="l">
              <a:defRPr sz="2400" b="1">
                <a:solidFill>
                  <a:srgbClr val="0B1739"/>
                </a:solidFill>
              </a:defRPr>
            </a:defPPr>
          </a:lstStyle>
          <a:p>
            <a:pPr algn="l">
              <a:defRPr sz="2400" b="1">
                <a:solidFill>
                  <a:srgbClr val="0B1739"/>
                </a:solidFill>
              </a:defRPr>
            </a:pPr>
            <a:r>
              <a:rPr sz="2400" b="1">
                <a:solidFill>
                  <a:srgbClr val="0B1739"/>
                </a:solidFill>
              </a:rPr>
              <a:t>Proposed experiment: learning from proof experience</a:t>
            </a:r>
          </a:p>
        </p:txBody>
      </p:sp>
      <p:sp>
        <p:nvSpPr>
          <p:cNvPr id="3" name="Straight Connector 2">
            <a:extLst>
              <a:ext uri="{FF2B5EF4-FFF2-40B4-BE49-F238E27FC236}">
                <a16:creationId xmlns:a16="http://schemas.microsoft.com/office/drawing/2014/main" id="{FD1D8861-FED8-4E85-B25C-19817B2EE74A}"/>
              </a:ext>
            </a:extLst>
          </p:cNvPr>
          <p:cNvSpPr>
            <a:spLocks noGrp="1"/>
          </p:cNvSpPr>
          <p:nvPr/>
        </p:nvSpPr>
        <p:spPr>
          <a:xfrm>
            <a:off x="666750" y="1333500"/>
            <a:ext cx="10858500" cy="0"/>
          </a:xfrm>
          <a:prstGeom prst="line">
            <a:avLst/>
          </a:prstGeom>
          <a:noFill/>
          <a:ln w="9525">
            <a:solidFill>
              <a:srgbClr val="CBD5E1"/>
            </a:solidFill>
            <a:prstDash val="solid"/>
          </a:ln>
        </p:spPr>
        <p:txBody>
          <a:bodyPr/>
          <a:lstStyle/>
          <a:p>
            <a:endParaRPr lang="en-US"/>
          </a:p>
        </p:txBody>
      </p:sp>
      <p:sp>
        <p:nvSpPr>
          <p:cNvPr id="4" name="Rectangle 3">
            <a:extLst>
              <a:ext uri="{FF2B5EF4-FFF2-40B4-BE49-F238E27FC236}">
                <a16:creationId xmlns:a16="http://schemas.microsoft.com/office/drawing/2014/main" id="{9B3EC02A-E9A5-4415-89BB-8CD93BB2E9A2}"/>
              </a:ext>
            </a:extLst>
          </p:cNvPr>
          <p:cNvSpPr>
            <a:spLocks noGrp="1"/>
          </p:cNvSpPr>
          <p:nvPr/>
        </p:nvSpPr>
        <p:spPr>
          <a:xfrm>
            <a:off x="666750" y="1457325"/>
            <a:ext cx="10668000" cy="457200"/>
          </a:xfrm>
          <a:prstGeom prst="rect">
            <a:avLst/>
          </a:prstGeom>
          <a:noFill/>
          <a:ln w="0">
            <a:noFill/>
            <a:prstDash val="solid"/>
          </a:ln>
        </p:spPr>
        <p:txBody>
          <a:bodyPr anchor="ctr"/>
          <a:lstStyle>
            <a:defPPr algn="l">
              <a:defRPr sz="1500" b="0">
                <a:solidFill>
                  <a:srgbClr val="64748B"/>
                </a:solidFill>
              </a:defRPr>
            </a:defPPr>
          </a:lstStyle>
          <a:p>
            <a:pPr algn="l">
              <a:defRPr sz="1500" b="0">
                <a:solidFill>
                  <a:srgbClr val="64748B"/>
                </a:solidFill>
              </a:defRPr>
            </a:pPr>
            <a:r>
              <a:rPr sz="1500" b="0">
                <a:solidFill>
                  <a:srgbClr val="64748B"/>
                </a:solidFill>
              </a:rPr>
              <a:t>Can a fixed model use verified experience to solve new floating-point proofs more reliably or at lower cost?</a:t>
            </a:r>
          </a:p>
        </p:txBody>
      </p:sp>
      <p:sp>
        <p:nvSpPr>
          <p:cNvPr id="5" name="Rectangle 4">
            <a:extLst>
              <a:ext uri="{FF2B5EF4-FFF2-40B4-BE49-F238E27FC236}">
                <a16:creationId xmlns:a16="http://schemas.microsoft.com/office/drawing/2014/main" id="{FF75C278-384E-4A84-83F3-FEBFC756958A}"/>
              </a:ext>
            </a:extLst>
          </p:cNvPr>
          <p:cNvSpPr>
            <a:spLocks noGrp="1"/>
          </p:cNvSpPr>
          <p:nvPr/>
        </p:nvSpPr>
        <p:spPr>
          <a:xfrm>
            <a:off x="1190625" y="2076450"/>
            <a:ext cx="9810750" cy="342900"/>
          </a:xfrm>
          <a:prstGeom prst="rect">
            <a:avLst/>
          </a:prstGeom>
          <a:noFill/>
          <a:ln w="0">
            <a:noFill/>
            <a:prstDash val="solid"/>
          </a:ln>
        </p:spPr>
        <p:txBody>
          <a:bodyPr anchor="ctr"/>
          <a:lstStyle>
            <a:defPPr algn="ctr">
              <a:defRPr sz="1350" b="1">
                <a:solidFill>
                  <a:srgbClr val="0B1739"/>
                </a:solidFill>
              </a:defRPr>
            </a:defPPr>
          </a:lstStyle>
          <a:p>
            <a:pPr algn="ctr">
              <a:defRPr sz="1350" b="1">
                <a:solidFill>
                  <a:srgbClr val="0B1739"/>
                </a:solidFill>
              </a:defRPr>
            </a:pPr>
            <a:r>
              <a:rPr sz="1350" b="1">
                <a:solidFill>
                  <a:srgbClr val="0B1739"/>
                </a:solidFill>
              </a:rPr>
              <a:t>Fixed model, reasoning setting, tools, budgets, starting code, and verification</a:t>
            </a:r>
          </a:p>
        </p:txBody>
      </p:sp>
      <p:sp>
        <p:nvSpPr>
          <p:cNvPr id="6" name="Rectangle: Rounded Corners 5">
            <a:extLst>
              <a:ext uri="{FF2B5EF4-FFF2-40B4-BE49-F238E27FC236}">
                <a16:creationId xmlns:a16="http://schemas.microsoft.com/office/drawing/2014/main" id="{B5156164-DA8F-4F53-B7A8-EE3268718D87}"/>
              </a:ext>
            </a:extLst>
          </p:cNvPr>
          <p:cNvSpPr>
            <a:spLocks noGrp="1"/>
          </p:cNvSpPr>
          <p:nvPr/>
        </p:nvSpPr>
        <p:spPr>
          <a:xfrm>
            <a:off x="857250" y="2714625"/>
            <a:ext cx="4381500" cy="2095500"/>
          </a:xfrm>
          <a:prstGeom prst="roundRect">
            <a:avLst>
              <a:gd name="adj" fmla="val 3636"/>
            </a:avLst>
          </a:prstGeom>
          <a:solidFill>
            <a:srgbClr val="FFFFFF"/>
          </a:solidFill>
          <a:ln w="19050">
            <a:solidFill>
              <a:srgbClr val="CBD5E1"/>
            </a:solidFill>
            <a:prstDash val="solid"/>
          </a:ln>
        </p:spPr>
        <p:txBody>
          <a:bodyPr/>
          <a:lstStyle/>
          <a:p>
            <a:endParaRPr lang="en-US"/>
          </a:p>
        </p:txBody>
      </p:sp>
      <p:sp>
        <p:nvSpPr>
          <p:cNvPr id="7" name="Rectangle 6">
            <a:extLst>
              <a:ext uri="{FF2B5EF4-FFF2-40B4-BE49-F238E27FC236}">
                <a16:creationId xmlns:a16="http://schemas.microsoft.com/office/drawing/2014/main" id="{5E8AF8D1-A575-42FE-9787-7410F5645970}"/>
              </a:ext>
            </a:extLst>
          </p:cNvPr>
          <p:cNvSpPr>
            <a:spLocks noGrp="1"/>
          </p:cNvSpPr>
          <p:nvPr/>
        </p:nvSpPr>
        <p:spPr>
          <a:xfrm>
            <a:off x="1190625" y="2952750"/>
            <a:ext cx="3714750" cy="400050"/>
          </a:xfrm>
          <a:prstGeom prst="rect">
            <a:avLst/>
          </a:prstGeom>
          <a:noFill/>
          <a:ln w="0">
            <a:noFill/>
            <a:prstDash val="solid"/>
          </a:ln>
        </p:spPr>
        <p:txBody>
          <a:bodyPr anchor="ctr"/>
          <a:lstStyle>
            <a:defPPr algn="l">
              <a:defRPr sz="1800" b="1">
                <a:solidFill>
                  <a:srgbClr val="0B1739"/>
                </a:solidFill>
              </a:defRPr>
            </a:defPPr>
          </a:lstStyle>
          <a:p>
            <a:pPr algn="l">
              <a:defRPr sz="1800" b="1">
                <a:solidFill>
                  <a:srgbClr val="0B1739"/>
                </a:solidFill>
              </a:defRPr>
            </a:pPr>
            <a:r>
              <a:rPr sz="1800" b="1">
                <a:solidFill>
                  <a:srgbClr val="0B1739"/>
                </a:solidFill>
              </a:rPr>
              <a:t>Stateless condition</a:t>
            </a:r>
          </a:p>
        </p:txBody>
      </p:sp>
      <p:sp>
        <p:nvSpPr>
          <p:cNvPr id="8" name="Rectangle 7">
            <a:extLst>
              <a:ext uri="{FF2B5EF4-FFF2-40B4-BE49-F238E27FC236}">
                <a16:creationId xmlns:a16="http://schemas.microsoft.com/office/drawing/2014/main" id="{814542AB-D5E4-44EB-BBDD-864E2BEB4A21}"/>
              </a:ext>
            </a:extLst>
          </p:cNvPr>
          <p:cNvSpPr>
            <a:spLocks noGrp="1"/>
          </p:cNvSpPr>
          <p:nvPr/>
        </p:nvSpPr>
        <p:spPr>
          <a:xfrm>
            <a:off x="1190625" y="3476625"/>
            <a:ext cx="3714750" cy="1190625"/>
          </a:xfrm>
          <a:prstGeom prst="rect">
            <a:avLst/>
          </a:prstGeom>
          <a:noFill/>
          <a:ln w="0">
            <a:noFill/>
            <a:prstDash val="solid"/>
          </a:ln>
        </p:spPr>
        <p:txBody>
          <a:bodyPr anchor="t"/>
          <a:lstStyle>
            <a:defPPr algn="l">
              <a:defRPr sz="1425" b="0">
                <a:solidFill>
                  <a:srgbClr val="172033"/>
                </a:solidFill>
              </a:defRPr>
            </a:defPPr>
          </a:lstStyle>
          <a:p>
            <a:pPr algn="l">
              <a:defRPr sz="1425" b="0">
                <a:solidFill>
                  <a:srgbClr val="172033"/>
                </a:solidFill>
              </a:defRPr>
            </a:pPr>
            <a:r>
              <a:rPr sz="1425" b="0">
                <a:solidFill>
                  <a:srgbClr val="172033"/>
                </a:solidFill>
              </a:rPr>
              <a:t>Fresh context with no research memory</a:t>
            </a:r>
          </a:p>
          <a:p>
            <a:endParaRPr sz="1425" b="0">
              <a:solidFill>
                <a:srgbClr val="172033"/>
              </a:solidFill>
            </a:endParaRPr>
          </a:p>
          <a:p>
            <a:pPr algn="l">
              <a:defRPr sz="1425" b="0">
                <a:solidFill>
                  <a:srgbClr val="172033"/>
                </a:solidFill>
              </a:defRPr>
            </a:pPr>
            <a:r>
              <a:rPr sz="1425" b="0">
                <a:solidFill>
                  <a:srgbClr val="172033"/>
                </a:solidFill>
              </a:rPr>
              <a:t>Shared Lean prerequisites and Mathlib</a:t>
            </a:r>
          </a:p>
          <a:p>
            <a:endParaRPr sz="1425" b="0">
              <a:solidFill>
                <a:srgbClr val="172033"/>
              </a:solidFill>
            </a:endParaRPr>
          </a:p>
          <a:p>
            <a:pPr algn="l">
              <a:defRPr sz="1425" b="0">
                <a:solidFill>
                  <a:srgbClr val="172033"/>
                </a:solidFill>
              </a:defRPr>
            </a:pPr>
            <a:r>
              <a:rPr sz="1425" b="0">
                <a:solidFill>
                  <a:srgbClr val="172033"/>
                </a:solidFill>
              </a:rPr>
              <a:t>Unfinished target and acceptance tests</a:t>
            </a:r>
          </a:p>
        </p:txBody>
      </p:sp>
      <p:sp>
        <p:nvSpPr>
          <p:cNvPr id="9" name="Rectangle: Rounded Corners 8">
            <a:extLst>
              <a:ext uri="{FF2B5EF4-FFF2-40B4-BE49-F238E27FC236}">
                <a16:creationId xmlns:a16="http://schemas.microsoft.com/office/drawing/2014/main" id="{198C7FD3-8D1A-4C49-BFAC-C30291B1B511}"/>
              </a:ext>
            </a:extLst>
          </p:cNvPr>
          <p:cNvSpPr>
            <a:spLocks noGrp="1"/>
          </p:cNvSpPr>
          <p:nvPr/>
        </p:nvSpPr>
        <p:spPr>
          <a:xfrm>
            <a:off x="6953250" y="2714625"/>
            <a:ext cx="4381500" cy="2095500"/>
          </a:xfrm>
          <a:prstGeom prst="roundRect">
            <a:avLst>
              <a:gd name="adj" fmla="val 3636"/>
            </a:avLst>
          </a:prstGeom>
          <a:solidFill>
            <a:srgbClr val="EFF6FF"/>
          </a:solidFill>
          <a:ln w="19050">
            <a:solidFill>
              <a:srgbClr val="2563EB"/>
            </a:solidFill>
            <a:prstDash val="solid"/>
          </a:ln>
        </p:spPr>
        <p:txBody>
          <a:bodyPr/>
          <a:lstStyle/>
          <a:p>
            <a:endParaRPr lang="en-US"/>
          </a:p>
        </p:txBody>
      </p:sp>
      <p:sp>
        <p:nvSpPr>
          <p:cNvPr id="10" name="Rectangle 9">
            <a:extLst>
              <a:ext uri="{FF2B5EF4-FFF2-40B4-BE49-F238E27FC236}">
                <a16:creationId xmlns:a16="http://schemas.microsoft.com/office/drawing/2014/main" id="{EAB262D5-A409-4F6B-BF5A-93BDF342F6E4}"/>
              </a:ext>
            </a:extLst>
          </p:cNvPr>
          <p:cNvSpPr>
            <a:spLocks noGrp="1"/>
          </p:cNvSpPr>
          <p:nvPr/>
        </p:nvSpPr>
        <p:spPr>
          <a:xfrm>
            <a:off x="7286625" y="2952750"/>
            <a:ext cx="3714750" cy="400050"/>
          </a:xfrm>
          <a:prstGeom prst="rect">
            <a:avLst/>
          </a:prstGeom>
          <a:noFill/>
          <a:ln w="0">
            <a:noFill/>
            <a:prstDash val="solid"/>
          </a:ln>
        </p:spPr>
        <p:txBody>
          <a:bodyPr anchor="ctr"/>
          <a:lstStyle>
            <a:defPPr algn="l">
              <a:defRPr sz="1800" b="1">
                <a:solidFill>
                  <a:srgbClr val="2563EB"/>
                </a:solidFill>
              </a:defRPr>
            </a:defPPr>
          </a:lstStyle>
          <a:p>
            <a:pPr algn="l">
              <a:defRPr sz="1800" b="1">
                <a:solidFill>
                  <a:srgbClr val="2563EB"/>
                </a:solidFill>
              </a:defRPr>
            </a:pPr>
            <a:r>
              <a:rPr sz="1800" b="1">
                <a:solidFill>
                  <a:srgbClr val="2563EB"/>
                </a:solidFill>
              </a:rPr>
              <a:t>Artifact-enabled condition</a:t>
            </a:r>
          </a:p>
        </p:txBody>
      </p:sp>
      <p:sp>
        <p:nvSpPr>
          <p:cNvPr id="11" name="Rectangle 10">
            <a:extLst>
              <a:ext uri="{FF2B5EF4-FFF2-40B4-BE49-F238E27FC236}">
                <a16:creationId xmlns:a16="http://schemas.microsoft.com/office/drawing/2014/main" id="{9A5C2BEE-CB87-44DA-867D-0C3E7DDB4B7E}"/>
              </a:ext>
            </a:extLst>
          </p:cNvPr>
          <p:cNvSpPr>
            <a:spLocks noGrp="1"/>
          </p:cNvSpPr>
          <p:nvPr/>
        </p:nvSpPr>
        <p:spPr>
          <a:xfrm>
            <a:off x="7286625" y="3476625"/>
            <a:ext cx="3714750" cy="1190625"/>
          </a:xfrm>
          <a:prstGeom prst="rect">
            <a:avLst/>
          </a:prstGeom>
          <a:noFill/>
          <a:ln w="0">
            <a:noFill/>
            <a:prstDash val="solid"/>
          </a:ln>
        </p:spPr>
        <p:txBody>
          <a:bodyPr anchor="t"/>
          <a:lstStyle>
            <a:defPPr algn="l">
              <a:defRPr sz="1425" b="0">
                <a:solidFill>
                  <a:srgbClr val="172033"/>
                </a:solidFill>
              </a:defRPr>
            </a:defPPr>
          </a:lstStyle>
          <a:p>
            <a:pPr algn="l">
              <a:defRPr sz="1425" b="0">
                <a:solidFill>
                  <a:srgbClr val="172033"/>
                </a:solidFill>
              </a:defRPr>
            </a:pPr>
            <a:r>
              <a:rPr sz="1425" b="0">
                <a:solidFill>
                  <a:srgbClr val="172033"/>
                </a:solidFill>
              </a:rPr>
              <a:t>Same setup plus frozen verified memory</a:t>
            </a:r>
          </a:p>
          <a:p>
            <a:endParaRPr sz="1425" b="0">
              <a:solidFill>
                <a:srgbClr val="172033"/>
              </a:solidFill>
            </a:endParaRPr>
          </a:p>
          <a:p>
            <a:pPr algn="l">
              <a:defRPr sz="1425" b="0">
                <a:solidFill>
                  <a:srgbClr val="172033"/>
                </a:solidFill>
              </a:defRPr>
            </a:pPr>
            <a:r>
              <a:rPr sz="1425" b="0">
                <a:solidFill>
                  <a:srgbClr val="172033"/>
                </a:solidFill>
              </a:rPr>
              <a:t>Log retrieval and decisions it changes</a:t>
            </a:r>
          </a:p>
          <a:p>
            <a:endParaRPr sz="1425" b="0">
              <a:solidFill>
                <a:srgbClr val="172033"/>
              </a:solidFill>
            </a:endParaRPr>
          </a:p>
          <a:p>
            <a:pPr algn="l">
              <a:defRPr sz="1425" b="0">
                <a:solidFill>
                  <a:srgbClr val="172033"/>
                </a:solidFill>
              </a:defRPr>
            </a:pPr>
            <a:r>
              <a:rPr sz="1425" b="0">
                <a:solidFill>
                  <a:srgbClr val="172033"/>
                </a:solidFill>
              </a:rPr>
              <a:t>Exclude the completed target proof</a:t>
            </a:r>
          </a:p>
        </p:txBody>
      </p:sp>
      <p:sp>
        <p:nvSpPr>
          <p:cNvPr id="12" name="Straight Connector 11">
            <a:extLst>
              <a:ext uri="{FF2B5EF4-FFF2-40B4-BE49-F238E27FC236}">
                <a16:creationId xmlns:a16="http://schemas.microsoft.com/office/drawing/2014/main" id="{6736BB39-0944-4FA8-ADEA-865E7B667AA0}"/>
              </a:ext>
            </a:extLst>
          </p:cNvPr>
          <p:cNvSpPr>
            <a:spLocks noGrp="1"/>
          </p:cNvSpPr>
          <p:nvPr/>
        </p:nvSpPr>
        <p:spPr>
          <a:xfrm>
            <a:off x="5238750" y="3905250"/>
            <a:ext cx="1714500" cy="0"/>
          </a:xfrm>
          <a:prstGeom prst="line">
            <a:avLst/>
          </a:prstGeom>
          <a:noFill/>
          <a:ln w="28575">
            <a:solidFill>
              <a:srgbClr val="CBD5E1"/>
            </a:solidFill>
            <a:prstDash val="solid"/>
          </a:ln>
        </p:spPr>
        <p:txBody>
          <a:bodyPr/>
          <a:lstStyle/>
          <a:p>
            <a:endParaRPr lang="en-US"/>
          </a:p>
        </p:txBody>
      </p:sp>
      <p:sp>
        <p:nvSpPr>
          <p:cNvPr id="13" name="Rectangle 12">
            <a:extLst>
              <a:ext uri="{FF2B5EF4-FFF2-40B4-BE49-F238E27FC236}">
                <a16:creationId xmlns:a16="http://schemas.microsoft.com/office/drawing/2014/main" id="{B868E6F3-2978-44EE-A66A-60E30B482B5D}"/>
              </a:ext>
            </a:extLst>
          </p:cNvPr>
          <p:cNvSpPr>
            <a:spLocks noGrp="1"/>
          </p:cNvSpPr>
          <p:nvPr/>
        </p:nvSpPr>
        <p:spPr>
          <a:xfrm>
            <a:off x="5667375" y="3638550"/>
            <a:ext cx="857250" cy="266700"/>
          </a:xfrm>
          <a:prstGeom prst="rect">
            <a:avLst/>
          </a:prstGeom>
          <a:noFill/>
          <a:ln w="0">
            <a:noFill/>
            <a:prstDash val="solid"/>
          </a:ln>
        </p:spPr>
        <p:txBody>
          <a:bodyPr anchor="ctr"/>
          <a:lstStyle>
            <a:defPPr algn="ctr">
              <a:defRPr sz="1050" b="1">
                <a:solidFill>
                  <a:srgbClr val="64748B"/>
                </a:solidFill>
              </a:defRPr>
            </a:defPPr>
          </a:lstStyle>
          <a:p>
            <a:pPr algn="ctr">
              <a:defRPr sz="1050" b="1">
                <a:solidFill>
                  <a:srgbClr val="64748B"/>
                </a:solidFill>
              </a:defRPr>
            </a:pPr>
            <a:r>
              <a:rPr sz="1050" b="1">
                <a:solidFill>
                  <a:srgbClr val="64748B"/>
                </a:solidFill>
              </a:rPr>
              <a:t>compare</a:t>
            </a:r>
          </a:p>
        </p:txBody>
      </p:sp>
      <p:sp>
        <p:nvSpPr>
          <p:cNvPr id="14" name="Rectangle 13">
            <a:extLst>
              <a:ext uri="{FF2B5EF4-FFF2-40B4-BE49-F238E27FC236}">
                <a16:creationId xmlns:a16="http://schemas.microsoft.com/office/drawing/2014/main" id="{0F6C5216-E6FA-42A4-9BBC-92551FC4ED91}"/>
              </a:ext>
            </a:extLst>
          </p:cNvPr>
          <p:cNvSpPr>
            <a:spLocks noGrp="1"/>
          </p:cNvSpPr>
          <p:nvPr/>
        </p:nvSpPr>
        <p:spPr>
          <a:xfrm>
            <a:off x="857250" y="5095875"/>
            <a:ext cx="1428750" cy="285750"/>
          </a:xfrm>
          <a:prstGeom prst="rect">
            <a:avLst/>
          </a:prstGeom>
          <a:noFill/>
          <a:ln w="0">
            <a:noFill/>
            <a:prstDash val="solid"/>
          </a:ln>
        </p:spPr>
        <p:txBody>
          <a:bodyPr anchor="ctr"/>
          <a:lstStyle>
            <a:defPPr algn="l">
              <a:defRPr sz="1425" b="1">
                <a:solidFill>
                  <a:srgbClr val="64748B"/>
                </a:solidFill>
              </a:defRPr>
            </a:defPPr>
          </a:lstStyle>
          <a:p>
            <a:pPr algn="l">
              <a:defRPr sz="1425" b="1">
                <a:solidFill>
                  <a:srgbClr val="64748B"/>
                </a:solidFill>
              </a:defRPr>
            </a:pPr>
            <a:r>
              <a:rPr sz="1425" b="1">
                <a:solidFill>
                  <a:srgbClr val="64748B"/>
                </a:solidFill>
              </a:rPr>
              <a:t>Measure</a:t>
            </a:r>
          </a:p>
        </p:txBody>
      </p:sp>
      <p:sp>
        <p:nvSpPr>
          <p:cNvPr id="15" name="Rectangle 14">
            <a:extLst>
              <a:ext uri="{FF2B5EF4-FFF2-40B4-BE49-F238E27FC236}">
                <a16:creationId xmlns:a16="http://schemas.microsoft.com/office/drawing/2014/main" id="{1C3E9784-C40A-4CA2-B846-A38FD25915BC}"/>
              </a:ext>
            </a:extLst>
          </p:cNvPr>
          <p:cNvSpPr>
            <a:spLocks noGrp="1"/>
          </p:cNvSpPr>
          <p:nvPr/>
        </p:nvSpPr>
        <p:spPr>
          <a:xfrm>
            <a:off x="2381250" y="5095875"/>
            <a:ext cx="8953500" cy="304800"/>
          </a:xfrm>
          <a:prstGeom prst="rect">
            <a:avLst/>
          </a:prstGeom>
          <a:noFill/>
          <a:ln w="0">
            <a:noFill/>
            <a:prstDash val="solid"/>
          </a:ln>
        </p:spPr>
        <p:txBody>
          <a:bodyPr anchor="ctr"/>
          <a:lstStyle>
            <a:defPPr algn="l">
              <a:defRPr sz="1575" b="1">
                <a:solidFill>
                  <a:srgbClr val="0B1739"/>
                </a:solidFill>
              </a:defRPr>
            </a:defPPr>
          </a:lstStyle>
          <a:p>
            <a:pPr algn="l">
              <a:defRPr sz="1575" b="1">
                <a:solidFill>
                  <a:srgbClr val="0B1739"/>
                </a:solidFill>
              </a:defRPr>
            </a:pPr>
            <a:r>
              <a:rPr sz="1575" b="1">
                <a:solidFill>
                  <a:srgbClr val="0B1739"/>
                </a:solidFill>
              </a:rPr>
              <a:t>Verified proof success, time, cost, compiler attempts, Aristotle use</a:t>
            </a:r>
          </a:p>
        </p:txBody>
      </p:sp>
      <p:sp>
        <p:nvSpPr>
          <p:cNvPr id="16" name="Rectangle 15">
            <a:extLst>
              <a:ext uri="{FF2B5EF4-FFF2-40B4-BE49-F238E27FC236}">
                <a16:creationId xmlns:a16="http://schemas.microsoft.com/office/drawing/2014/main" id="{EF9B95BB-15C2-4708-AF2F-C018C440FC62}"/>
              </a:ext>
            </a:extLst>
          </p:cNvPr>
          <p:cNvSpPr>
            <a:spLocks noGrp="1"/>
          </p:cNvSpPr>
          <p:nvPr/>
        </p:nvSpPr>
        <p:spPr>
          <a:xfrm>
            <a:off x="857250" y="5553075"/>
            <a:ext cx="1428750" cy="285750"/>
          </a:xfrm>
          <a:prstGeom prst="rect">
            <a:avLst/>
          </a:prstGeom>
          <a:noFill/>
          <a:ln w="0">
            <a:noFill/>
            <a:prstDash val="solid"/>
          </a:ln>
        </p:spPr>
        <p:txBody>
          <a:bodyPr anchor="ctr"/>
          <a:lstStyle>
            <a:defPPr algn="l">
              <a:defRPr sz="1425" b="1">
                <a:solidFill>
                  <a:srgbClr val="64748B"/>
                </a:solidFill>
              </a:defRPr>
            </a:defPPr>
          </a:lstStyle>
          <a:p>
            <a:pPr algn="l">
              <a:defRPr sz="1425" b="1">
                <a:solidFill>
                  <a:srgbClr val="64748B"/>
                </a:solidFill>
              </a:defRPr>
            </a:pPr>
            <a:r>
              <a:rPr sz="1425" b="1">
                <a:solidFill>
                  <a:srgbClr val="64748B"/>
                </a:solidFill>
              </a:rPr>
              <a:t>Diagnose</a:t>
            </a:r>
          </a:p>
        </p:txBody>
      </p:sp>
      <p:sp>
        <p:nvSpPr>
          <p:cNvPr id="17" name="Rectangle 16">
            <a:extLst>
              <a:ext uri="{FF2B5EF4-FFF2-40B4-BE49-F238E27FC236}">
                <a16:creationId xmlns:a16="http://schemas.microsoft.com/office/drawing/2014/main" id="{385C7D32-4ECB-49B3-B1D8-63D6BD4C5331}"/>
              </a:ext>
            </a:extLst>
          </p:cNvPr>
          <p:cNvSpPr>
            <a:spLocks noGrp="1"/>
          </p:cNvSpPr>
          <p:nvPr/>
        </p:nvSpPr>
        <p:spPr>
          <a:xfrm>
            <a:off x="2381250" y="5553075"/>
            <a:ext cx="8953500" cy="304800"/>
          </a:xfrm>
          <a:prstGeom prst="rect">
            <a:avLst/>
          </a:prstGeom>
          <a:noFill/>
          <a:ln w="0">
            <a:noFill/>
            <a:prstDash val="solid"/>
          </a:ln>
        </p:spPr>
        <p:txBody>
          <a:bodyPr anchor="ctr"/>
          <a:lstStyle>
            <a:defPPr algn="l">
              <a:defRPr sz="1575" b="0">
                <a:solidFill>
                  <a:srgbClr val="172033"/>
                </a:solidFill>
              </a:defRPr>
            </a:defPPr>
          </a:lstStyle>
          <a:p>
            <a:pPr algn="l">
              <a:defRPr sz="1575" b="0">
                <a:solidFill>
                  <a:srgbClr val="172033"/>
                </a:solidFill>
              </a:defRPr>
            </a:pPr>
            <a:r>
              <a:rPr sz="1575" b="0">
                <a:solidFill>
                  <a:srgbClr val="172033"/>
                </a:solidFill>
              </a:rPr>
              <a:t>Missing lesson, missed retrieval, or incorrect application</a:t>
            </a:r>
          </a:p>
        </p:txBody>
      </p:sp>
      <p:sp>
        <p:nvSpPr>
          <p:cNvPr id="18" name="Rectangle 17">
            <a:extLst>
              <a:ext uri="{FF2B5EF4-FFF2-40B4-BE49-F238E27FC236}">
                <a16:creationId xmlns:a16="http://schemas.microsoft.com/office/drawing/2014/main" id="{9155C15D-C192-4802-954C-17E266664FB1}"/>
              </a:ext>
            </a:extLst>
          </p:cNvPr>
          <p:cNvSpPr>
            <a:spLocks noGrp="1"/>
          </p:cNvSpPr>
          <p:nvPr/>
        </p:nvSpPr>
        <p:spPr>
          <a:xfrm>
            <a:off x="666750" y="6429375"/>
            <a:ext cx="10858500" cy="209550"/>
          </a:xfrm>
          <a:prstGeom prst="rect">
            <a:avLst/>
          </a:prstGeom>
          <a:noFill/>
          <a:ln w="0">
            <a:noFill/>
            <a:prstDash val="solid"/>
          </a:ln>
        </p:spPr>
        <p:txBody>
          <a:bodyPr anchor="ctr"/>
          <a:lstStyle>
            <a:defPPr algn="r">
              <a:defRPr sz="825" b="0">
                <a:solidFill>
                  <a:srgbClr val="64748B"/>
                </a:solidFill>
              </a:defRPr>
            </a:defPPr>
          </a:lstStyle>
          <a:p>
            <a:pPr algn="r">
              <a:defRPr sz="825" b="0">
                <a:solidFill>
                  <a:srgbClr val="64748B"/>
                </a:solidFill>
              </a:defRPr>
            </a:pPr>
            <a:r>
              <a:rPr sz="825" b="0">
                <a:solidFill>
                  <a:srgbClr val="64748B"/>
                </a:solidFill>
              </a:rPr>
              <a:t>Evaluation uses held-out proofs across fresh runs. The experiment has not established improvement yet.</a:t>
            </a:r>
          </a:p>
        </p:txBody>
      </p:sp>
    </p:spTree>
    <p:extLst>
      <p:ext uri="{BB962C8B-B14F-4D97-AF65-F5344CB8AC3E}">
        <p14:creationId xmlns:p14="http://schemas.microsoft.com/office/powerpoint/2010/main" val="11180279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62F6A55E-15C0-4A34-9833-ACE3734E7A26}"/>
              </a:ext>
            </a:extLst>
          </p:cNvPr>
          <p:cNvSpPr>
            <a:spLocks noGrp="1"/>
          </p:cNvSpPr>
          <p:nvPr/>
        </p:nvSpPr>
        <p:spPr>
          <a:xfrm>
            <a:off x="666750" y="361950"/>
            <a:ext cx="419100" cy="247650"/>
          </a:xfrm>
          <a:prstGeom prst="rect">
            <a:avLst/>
          </a:prstGeom>
          <a:noFill/>
          <a:ln w="0">
            <a:noFill/>
            <a:prstDash val="solid"/>
          </a:ln>
        </p:spPr>
        <p:txBody>
          <a:bodyPr anchor="ctr"/>
          <a:lstStyle>
            <a:defPPr algn="l">
              <a:defRPr sz="975" b="1">
                <a:solidFill>
                  <a:srgbClr val="2563EB"/>
                </a:solidFill>
              </a:defRPr>
            </a:defPPr>
          </a:lstStyle>
          <a:p>
            <a:pPr algn="l">
              <a:defRPr sz="975" b="1">
                <a:solidFill>
                  <a:srgbClr val="2563EB"/>
                </a:solidFill>
              </a:defRPr>
            </a:pPr>
            <a:r>
              <a:rPr sz="975" b="1">
                <a:solidFill>
                  <a:srgbClr val="2563EB"/>
                </a:solidFill>
              </a:rPr>
              <a:t>04</a:t>
            </a:r>
          </a:p>
        </p:txBody>
      </p:sp>
      <p:sp>
        <p:nvSpPr>
          <p:cNvPr id="2" name="Rectangle 1">
            <a:extLst>
              <a:ext uri="{FF2B5EF4-FFF2-40B4-BE49-F238E27FC236}">
                <a16:creationId xmlns:a16="http://schemas.microsoft.com/office/drawing/2014/main" id="{DE04E9AE-B4FA-4174-B049-6D83A5209863}"/>
              </a:ext>
            </a:extLst>
          </p:cNvPr>
          <p:cNvSpPr>
            <a:spLocks noGrp="1"/>
          </p:cNvSpPr>
          <p:nvPr/>
        </p:nvSpPr>
        <p:spPr>
          <a:xfrm>
            <a:off x="666750" y="685800"/>
            <a:ext cx="10477500" cy="552450"/>
          </a:xfrm>
          <a:prstGeom prst="rect">
            <a:avLst/>
          </a:prstGeom>
          <a:noFill/>
          <a:ln w="0">
            <a:noFill/>
            <a:prstDash val="solid"/>
          </a:ln>
        </p:spPr>
        <p:txBody>
          <a:bodyPr anchor="ctr"/>
          <a:lstStyle>
            <a:defPPr algn="l">
              <a:defRPr sz="2400" b="1">
                <a:solidFill>
                  <a:srgbClr val="0B1739"/>
                </a:solidFill>
              </a:defRPr>
            </a:defPPr>
          </a:lstStyle>
          <a:p>
            <a:pPr algn="l">
              <a:defRPr sz="2400" b="1">
                <a:solidFill>
                  <a:srgbClr val="0B1739"/>
                </a:solidFill>
              </a:defRPr>
            </a:pPr>
            <a:r>
              <a:rPr sz="2400" b="1">
                <a:solidFill>
                  <a:srgbClr val="0B1739"/>
                </a:solidFill>
              </a:rPr>
              <a:t>Proposed isolation: one repo, separate agent containers</a:t>
            </a:r>
          </a:p>
        </p:txBody>
      </p:sp>
      <p:sp>
        <p:nvSpPr>
          <p:cNvPr id="3" name="Straight Connector 2">
            <a:extLst>
              <a:ext uri="{FF2B5EF4-FFF2-40B4-BE49-F238E27FC236}">
                <a16:creationId xmlns:a16="http://schemas.microsoft.com/office/drawing/2014/main" id="{D1BAFFB4-5C1D-400A-9708-05465C8AA940}"/>
              </a:ext>
            </a:extLst>
          </p:cNvPr>
          <p:cNvSpPr>
            <a:spLocks noGrp="1"/>
          </p:cNvSpPr>
          <p:nvPr/>
        </p:nvSpPr>
        <p:spPr>
          <a:xfrm>
            <a:off x="666750" y="1333500"/>
            <a:ext cx="10858500" cy="0"/>
          </a:xfrm>
          <a:prstGeom prst="line">
            <a:avLst/>
          </a:prstGeom>
          <a:noFill/>
          <a:ln w="9525">
            <a:solidFill>
              <a:srgbClr val="CBD5E1"/>
            </a:solidFill>
            <a:prstDash val="solid"/>
          </a:ln>
        </p:spPr>
        <p:txBody>
          <a:bodyPr/>
          <a:lstStyle/>
          <a:p>
            <a:endParaRPr lang="en-US"/>
          </a:p>
        </p:txBody>
      </p:sp>
      <p:sp>
        <p:nvSpPr>
          <p:cNvPr id="4" name="Rectangle 3">
            <a:extLst>
              <a:ext uri="{FF2B5EF4-FFF2-40B4-BE49-F238E27FC236}">
                <a16:creationId xmlns:a16="http://schemas.microsoft.com/office/drawing/2014/main" id="{32F07814-F2F0-45B9-9D31-70174C8E2A61}"/>
              </a:ext>
            </a:extLst>
          </p:cNvPr>
          <p:cNvSpPr>
            <a:spLocks noGrp="1"/>
          </p:cNvSpPr>
          <p:nvPr/>
        </p:nvSpPr>
        <p:spPr>
          <a:xfrm>
            <a:off x="666750" y="1457325"/>
            <a:ext cx="10858500" cy="457200"/>
          </a:xfrm>
          <a:prstGeom prst="rect">
            <a:avLst/>
          </a:prstGeom>
          <a:noFill/>
          <a:ln w="0">
            <a:noFill/>
            <a:prstDash val="solid"/>
          </a:ln>
        </p:spPr>
        <p:txBody>
          <a:bodyPr anchor="ctr"/>
          <a:lstStyle>
            <a:defPPr algn="l">
              <a:defRPr sz="1500" b="0">
                <a:solidFill>
                  <a:srgbClr val="64748B"/>
                </a:solidFill>
              </a:defRPr>
            </a:defPPr>
          </a:lstStyle>
          <a:p>
            <a:pPr algn="l">
              <a:defRPr sz="1500" b="0">
                <a:solidFill>
                  <a:srgbClr val="64748B"/>
                </a:solidFill>
              </a:defRPr>
            </a:pPr>
            <a:r>
              <a:rPr sz="1500" b="0">
                <a:solidFill>
                  <a:srgbClr val="64748B"/>
                </a:solidFill>
              </a:rPr>
              <a:t>Each run receives only its permitted files. The agent runner and all file tools execute inside the container.</a:t>
            </a:r>
          </a:p>
        </p:txBody>
      </p:sp>
      <p:sp>
        <p:nvSpPr>
          <p:cNvPr id="5" name="Rectangle: Rounded Corners 4">
            <a:extLst>
              <a:ext uri="{FF2B5EF4-FFF2-40B4-BE49-F238E27FC236}">
                <a16:creationId xmlns:a16="http://schemas.microsoft.com/office/drawing/2014/main" id="{0AA289C7-2DEE-438E-B195-241263DACACA}"/>
              </a:ext>
            </a:extLst>
          </p:cNvPr>
          <p:cNvSpPr>
            <a:spLocks noGrp="1"/>
          </p:cNvSpPr>
          <p:nvPr/>
        </p:nvSpPr>
        <p:spPr>
          <a:xfrm>
            <a:off x="3571875" y="2095500"/>
            <a:ext cx="5048250" cy="619125"/>
          </a:xfrm>
          <a:prstGeom prst="roundRect">
            <a:avLst>
              <a:gd name="adj" fmla="val 12308"/>
            </a:avLst>
          </a:prstGeom>
          <a:solidFill>
            <a:srgbClr val="0B1739"/>
          </a:solidFill>
          <a:ln w="9525">
            <a:solidFill>
              <a:srgbClr val="0B1739"/>
            </a:solidFill>
            <a:prstDash val="solid"/>
          </a:ln>
        </p:spPr>
        <p:txBody>
          <a:bodyPr/>
          <a:lstStyle/>
          <a:p>
            <a:endParaRPr lang="en-US"/>
          </a:p>
        </p:txBody>
      </p:sp>
      <p:sp>
        <p:nvSpPr>
          <p:cNvPr id="6" name="Rectangle 5">
            <a:extLst>
              <a:ext uri="{FF2B5EF4-FFF2-40B4-BE49-F238E27FC236}">
                <a16:creationId xmlns:a16="http://schemas.microsoft.com/office/drawing/2014/main" id="{98747758-E00E-4BF1-835A-4CC0EB515735}"/>
              </a:ext>
            </a:extLst>
          </p:cNvPr>
          <p:cNvSpPr>
            <a:spLocks noGrp="1"/>
          </p:cNvSpPr>
          <p:nvPr/>
        </p:nvSpPr>
        <p:spPr>
          <a:xfrm>
            <a:off x="3762375" y="2190750"/>
            <a:ext cx="4667250" cy="419100"/>
          </a:xfrm>
          <a:prstGeom prst="rect">
            <a:avLst/>
          </a:prstGeom>
          <a:noFill/>
          <a:ln w="0">
            <a:noFill/>
            <a:prstDash val="solid"/>
          </a:ln>
        </p:spPr>
        <p:txBody>
          <a:bodyPr anchor="ctr"/>
          <a:lstStyle>
            <a:defPPr algn="ctr">
              <a:defRPr sz="1575" b="1">
                <a:solidFill>
                  <a:srgbClr val="FFFFFF"/>
                </a:solidFill>
              </a:defRPr>
            </a:defPPr>
          </a:lstStyle>
          <a:p>
            <a:pPr algn="ctr">
              <a:defRPr sz="1575" b="1">
                <a:solidFill>
                  <a:srgbClr val="FFFFFF"/>
                </a:solidFill>
              </a:defRPr>
            </a:pPr>
            <a:r>
              <a:rPr sz="1575" b="1">
                <a:solidFill>
                  <a:srgbClr val="FFFFFF"/>
                </a:solidFill>
              </a:rPr>
              <a:t>Monorepo: code, experiment specs, master artifacts</a:t>
            </a:r>
          </a:p>
        </p:txBody>
      </p:sp>
      <p:sp>
        <p:nvSpPr>
          <p:cNvPr id="7" name="Straight Connector 6">
            <a:extLst>
              <a:ext uri="{FF2B5EF4-FFF2-40B4-BE49-F238E27FC236}">
                <a16:creationId xmlns:a16="http://schemas.microsoft.com/office/drawing/2014/main" id="{845A348F-8468-428B-97EA-E4FFB93B0E46}"/>
              </a:ext>
            </a:extLst>
          </p:cNvPr>
          <p:cNvSpPr>
            <a:spLocks noGrp="1"/>
          </p:cNvSpPr>
          <p:nvPr/>
        </p:nvSpPr>
        <p:spPr>
          <a:xfrm>
            <a:off x="6096000" y="2714625"/>
            <a:ext cx="0" cy="238125"/>
          </a:xfrm>
          <a:prstGeom prst="line">
            <a:avLst/>
          </a:prstGeom>
          <a:noFill/>
          <a:ln w="19050">
            <a:solidFill>
              <a:srgbClr val="CBD5E1"/>
            </a:solidFill>
            <a:prstDash val="solid"/>
          </a:ln>
        </p:spPr>
        <p:txBody>
          <a:bodyPr/>
          <a:lstStyle/>
          <a:p>
            <a:endParaRPr lang="en-US"/>
          </a:p>
        </p:txBody>
      </p:sp>
      <p:sp>
        <p:nvSpPr>
          <p:cNvPr id="8" name="Straight Connector 7">
            <a:extLst>
              <a:ext uri="{FF2B5EF4-FFF2-40B4-BE49-F238E27FC236}">
                <a16:creationId xmlns:a16="http://schemas.microsoft.com/office/drawing/2014/main" id="{A148C481-2CC0-4C2D-B658-D0D4F0AB8BB9}"/>
              </a:ext>
            </a:extLst>
          </p:cNvPr>
          <p:cNvSpPr>
            <a:spLocks noGrp="1"/>
          </p:cNvSpPr>
          <p:nvPr/>
        </p:nvSpPr>
        <p:spPr>
          <a:xfrm>
            <a:off x="3381375" y="2952750"/>
            <a:ext cx="5429250" cy="0"/>
          </a:xfrm>
          <a:prstGeom prst="line">
            <a:avLst/>
          </a:prstGeom>
          <a:noFill/>
          <a:ln w="19050">
            <a:solidFill>
              <a:srgbClr val="CBD5E1"/>
            </a:solidFill>
            <a:prstDash val="solid"/>
          </a:ln>
        </p:spPr>
        <p:txBody>
          <a:bodyPr/>
          <a:lstStyle/>
          <a:p>
            <a:endParaRPr lang="en-US"/>
          </a:p>
        </p:txBody>
      </p:sp>
      <p:sp>
        <p:nvSpPr>
          <p:cNvPr id="9" name="Straight Connector 8">
            <a:extLst>
              <a:ext uri="{FF2B5EF4-FFF2-40B4-BE49-F238E27FC236}">
                <a16:creationId xmlns:a16="http://schemas.microsoft.com/office/drawing/2014/main" id="{8DEA08A2-DDBC-4FA3-9E82-9DFF1CF430CF}"/>
              </a:ext>
            </a:extLst>
          </p:cNvPr>
          <p:cNvSpPr>
            <a:spLocks noGrp="1"/>
          </p:cNvSpPr>
          <p:nvPr/>
        </p:nvSpPr>
        <p:spPr>
          <a:xfrm>
            <a:off x="3381375" y="2952750"/>
            <a:ext cx="0" cy="285750"/>
          </a:xfrm>
          <a:prstGeom prst="line">
            <a:avLst/>
          </a:prstGeom>
          <a:noFill/>
          <a:ln w="19050">
            <a:solidFill>
              <a:srgbClr val="CBD5E1"/>
            </a:solidFill>
            <a:prstDash val="solid"/>
          </a:ln>
        </p:spPr>
        <p:txBody>
          <a:bodyPr/>
          <a:lstStyle/>
          <a:p>
            <a:endParaRPr lang="en-US"/>
          </a:p>
        </p:txBody>
      </p:sp>
      <p:sp>
        <p:nvSpPr>
          <p:cNvPr id="10" name="Straight Connector 9">
            <a:extLst>
              <a:ext uri="{FF2B5EF4-FFF2-40B4-BE49-F238E27FC236}">
                <a16:creationId xmlns:a16="http://schemas.microsoft.com/office/drawing/2014/main" id="{030994B6-0C92-4A58-8BE1-62906DE28EF5}"/>
              </a:ext>
            </a:extLst>
          </p:cNvPr>
          <p:cNvSpPr>
            <a:spLocks noGrp="1"/>
          </p:cNvSpPr>
          <p:nvPr/>
        </p:nvSpPr>
        <p:spPr>
          <a:xfrm>
            <a:off x="8810625" y="2952750"/>
            <a:ext cx="0" cy="285750"/>
          </a:xfrm>
          <a:prstGeom prst="line">
            <a:avLst/>
          </a:prstGeom>
          <a:noFill/>
          <a:ln w="19050">
            <a:solidFill>
              <a:srgbClr val="CBD5E1"/>
            </a:solidFill>
            <a:prstDash val="solid"/>
          </a:ln>
        </p:spPr>
        <p:txBody>
          <a:bodyPr/>
          <a:lstStyle/>
          <a:p>
            <a:endParaRPr lang="en-US"/>
          </a:p>
        </p:txBody>
      </p:sp>
      <p:sp>
        <p:nvSpPr>
          <p:cNvPr id="11" name="Rectangle: Rounded Corners 10">
            <a:extLst>
              <a:ext uri="{FF2B5EF4-FFF2-40B4-BE49-F238E27FC236}">
                <a16:creationId xmlns:a16="http://schemas.microsoft.com/office/drawing/2014/main" id="{920D56DF-273B-4B7A-B534-48078E4B4D1A}"/>
              </a:ext>
            </a:extLst>
          </p:cNvPr>
          <p:cNvSpPr>
            <a:spLocks noGrp="1"/>
          </p:cNvSpPr>
          <p:nvPr/>
        </p:nvSpPr>
        <p:spPr>
          <a:xfrm>
            <a:off x="857250" y="3238500"/>
            <a:ext cx="5048250" cy="2000250"/>
          </a:xfrm>
          <a:prstGeom prst="roundRect">
            <a:avLst>
              <a:gd name="adj" fmla="val 3810"/>
            </a:avLst>
          </a:prstGeom>
          <a:solidFill>
            <a:srgbClr val="F7F9FC"/>
          </a:solidFill>
          <a:ln w="19050">
            <a:solidFill>
              <a:srgbClr val="CBD5E1"/>
            </a:solidFill>
            <a:prstDash val="solid"/>
          </a:ln>
        </p:spPr>
        <p:txBody>
          <a:bodyPr/>
          <a:lstStyle/>
          <a:p>
            <a:endParaRPr lang="en-US"/>
          </a:p>
        </p:txBody>
      </p:sp>
      <p:sp>
        <p:nvSpPr>
          <p:cNvPr id="12" name="Rectangle 11">
            <a:extLst>
              <a:ext uri="{FF2B5EF4-FFF2-40B4-BE49-F238E27FC236}">
                <a16:creationId xmlns:a16="http://schemas.microsoft.com/office/drawing/2014/main" id="{AD98BF42-C852-4C0A-9652-A3828DD7CE82}"/>
              </a:ext>
            </a:extLst>
          </p:cNvPr>
          <p:cNvSpPr>
            <a:spLocks noGrp="1"/>
          </p:cNvSpPr>
          <p:nvPr/>
        </p:nvSpPr>
        <p:spPr>
          <a:xfrm>
            <a:off x="1095375" y="3381375"/>
            <a:ext cx="4572000" cy="333375"/>
          </a:xfrm>
          <a:prstGeom prst="rect">
            <a:avLst/>
          </a:prstGeom>
          <a:noFill/>
          <a:ln w="0">
            <a:noFill/>
            <a:prstDash val="solid"/>
          </a:ln>
        </p:spPr>
        <p:txBody>
          <a:bodyPr anchor="ctr"/>
          <a:lstStyle>
            <a:defPPr algn="l">
              <a:defRPr sz="1875" b="1">
                <a:solidFill>
                  <a:srgbClr val="0B1739"/>
                </a:solidFill>
              </a:defRPr>
            </a:defPPr>
          </a:lstStyle>
          <a:p>
            <a:pPr algn="l">
              <a:defRPr sz="1875" b="1">
                <a:solidFill>
                  <a:srgbClr val="0B1739"/>
                </a:solidFill>
              </a:defRPr>
            </a:pPr>
            <a:r>
              <a:rPr sz="1875" b="1">
                <a:solidFill>
                  <a:srgbClr val="0B1739"/>
                </a:solidFill>
              </a:rPr>
              <a:t>Stateless container</a:t>
            </a:r>
          </a:p>
        </p:txBody>
      </p:sp>
      <p:sp>
        <p:nvSpPr>
          <p:cNvPr id="13" name="Rectangle 12">
            <a:extLst>
              <a:ext uri="{FF2B5EF4-FFF2-40B4-BE49-F238E27FC236}">
                <a16:creationId xmlns:a16="http://schemas.microsoft.com/office/drawing/2014/main" id="{AF78CA94-E2F4-4FAF-B059-87AF9ACD130E}"/>
              </a:ext>
            </a:extLst>
          </p:cNvPr>
          <p:cNvSpPr>
            <a:spLocks noGrp="1"/>
          </p:cNvSpPr>
          <p:nvPr/>
        </p:nvSpPr>
        <p:spPr>
          <a:xfrm>
            <a:off x="1095375" y="3857625"/>
            <a:ext cx="4572000" cy="1123950"/>
          </a:xfrm>
          <a:prstGeom prst="rect">
            <a:avLst/>
          </a:prstGeom>
          <a:noFill/>
          <a:ln w="0">
            <a:noFill/>
            <a:prstDash val="solid"/>
          </a:ln>
        </p:spPr>
        <p:txBody>
          <a:bodyPr anchor="t"/>
          <a:lstStyle>
            <a:defPPr algn="l">
              <a:defRPr sz="1650" b="0">
                <a:solidFill>
                  <a:srgbClr val="172033"/>
                </a:solidFill>
              </a:defRPr>
            </a:defPPr>
          </a:lstStyle>
          <a:p>
            <a:pPr algn="l">
              <a:defRPr sz="1650" b="0">
                <a:solidFill>
                  <a:srgbClr val="172033"/>
                </a:solidFill>
              </a:defRPr>
            </a:pPr>
            <a:r>
              <a:rPr sz="1650" b="0">
                <a:solidFill>
                  <a:srgbClr val="172033"/>
                </a:solidFill>
              </a:rPr>
              <a:t>Agent CLI + Lean 4.28.0 + Mathlib</a:t>
            </a:r>
          </a:p>
          <a:p>
            <a:pPr algn="l">
              <a:defRPr sz="1650" b="0">
                <a:solidFill>
                  <a:srgbClr val="172033"/>
                </a:solidFill>
              </a:defRPr>
            </a:pPr>
            <a:r>
              <a:rPr sz="1650" b="0">
                <a:solidFill>
                  <a:srgbClr val="172033"/>
                </a:solidFill>
              </a:rPr>
              <a:t>/workspace: identical starting code</a:t>
            </a:r>
          </a:p>
          <a:p>
            <a:pPr algn="l">
              <a:defRPr sz="1650" b="0">
                <a:solidFill>
                  <a:srgbClr val="172033"/>
                </a:solidFill>
              </a:defRPr>
            </a:pPr>
            <a:r>
              <a:rPr sz="1650" b="0">
                <a:solidFill>
                  <a:srgbClr val="172033"/>
                </a:solidFill>
              </a:rPr>
              <a:t>Fresh session, no research memory</a:t>
            </a:r>
          </a:p>
        </p:txBody>
      </p:sp>
      <p:sp>
        <p:nvSpPr>
          <p:cNvPr id="14" name="Rectangle: Rounded Corners 13">
            <a:extLst>
              <a:ext uri="{FF2B5EF4-FFF2-40B4-BE49-F238E27FC236}">
                <a16:creationId xmlns:a16="http://schemas.microsoft.com/office/drawing/2014/main" id="{BD7280F5-BB45-4616-9875-200CCE2FDB0D}"/>
              </a:ext>
            </a:extLst>
          </p:cNvPr>
          <p:cNvSpPr>
            <a:spLocks noGrp="1"/>
          </p:cNvSpPr>
          <p:nvPr/>
        </p:nvSpPr>
        <p:spPr>
          <a:xfrm>
            <a:off x="6286500" y="3238500"/>
            <a:ext cx="5048250" cy="2000250"/>
          </a:xfrm>
          <a:prstGeom prst="roundRect">
            <a:avLst>
              <a:gd name="adj" fmla="val 3810"/>
            </a:avLst>
          </a:prstGeom>
          <a:solidFill>
            <a:srgbClr val="EFF6FF"/>
          </a:solidFill>
          <a:ln w="19050">
            <a:solidFill>
              <a:srgbClr val="2563EB"/>
            </a:solidFill>
            <a:prstDash val="solid"/>
          </a:ln>
        </p:spPr>
        <p:txBody>
          <a:bodyPr/>
          <a:lstStyle/>
          <a:p>
            <a:endParaRPr lang="en-US"/>
          </a:p>
        </p:txBody>
      </p:sp>
      <p:sp>
        <p:nvSpPr>
          <p:cNvPr id="15" name="Rectangle 14">
            <a:extLst>
              <a:ext uri="{FF2B5EF4-FFF2-40B4-BE49-F238E27FC236}">
                <a16:creationId xmlns:a16="http://schemas.microsoft.com/office/drawing/2014/main" id="{FA4D9149-F5BF-45C0-A143-DCB0D4867037}"/>
              </a:ext>
            </a:extLst>
          </p:cNvPr>
          <p:cNvSpPr>
            <a:spLocks noGrp="1"/>
          </p:cNvSpPr>
          <p:nvPr/>
        </p:nvSpPr>
        <p:spPr>
          <a:xfrm>
            <a:off x="6524625" y="3381375"/>
            <a:ext cx="4572000" cy="333375"/>
          </a:xfrm>
          <a:prstGeom prst="rect">
            <a:avLst/>
          </a:prstGeom>
          <a:noFill/>
          <a:ln w="0">
            <a:noFill/>
            <a:prstDash val="solid"/>
          </a:ln>
        </p:spPr>
        <p:txBody>
          <a:bodyPr anchor="ctr"/>
          <a:lstStyle>
            <a:defPPr algn="l">
              <a:defRPr sz="1875" b="1">
                <a:solidFill>
                  <a:srgbClr val="2563EB"/>
                </a:solidFill>
              </a:defRPr>
            </a:defPPr>
          </a:lstStyle>
          <a:p>
            <a:pPr algn="l">
              <a:defRPr sz="1875" b="1">
                <a:solidFill>
                  <a:srgbClr val="2563EB"/>
                </a:solidFill>
              </a:defRPr>
            </a:pPr>
            <a:r>
              <a:rPr sz="1875" b="1">
                <a:solidFill>
                  <a:srgbClr val="2563EB"/>
                </a:solidFill>
              </a:rPr>
              <a:t>Retrieved container</a:t>
            </a:r>
          </a:p>
        </p:txBody>
      </p:sp>
      <p:sp>
        <p:nvSpPr>
          <p:cNvPr id="16" name="Rectangle 15">
            <a:extLst>
              <a:ext uri="{FF2B5EF4-FFF2-40B4-BE49-F238E27FC236}">
                <a16:creationId xmlns:a16="http://schemas.microsoft.com/office/drawing/2014/main" id="{1235ED72-15A8-4872-8800-645A63B2E44E}"/>
              </a:ext>
            </a:extLst>
          </p:cNvPr>
          <p:cNvSpPr>
            <a:spLocks noGrp="1"/>
          </p:cNvSpPr>
          <p:nvPr/>
        </p:nvSpPr>
        <p:spPr>
          <a:xfrm>
            <a:off x="6524625" y="3857625"/>
            <a:ext cx="4572000" cy="1123950"/>
          </a:xfrm>
          <a:prstGeom prst="rect">
            <a:avLst/>
          </a:prstGeom>
          <a:noFill/>
          <a:ln w="0">
            <a:noFill/>
            <a:prstDash val="solid"/>
          </a:ln>
        </p:spPr>
        <p:txBody>
          <a:bodyPr anchor="t"/>
          <a:lstStyle>
            <a:defPPr algn="l">
              <a:defRPr sz="1650" b="0">
                <a:solidFill>
                  <a:srgbClr val="172033"/>
                </a:solidFill>
              </a:defRPr>
            </a:defPPr>
          </a:lstStyle>
          <a:p>
            <a:pPr algn="l">
              <a:defRPr sz="1650" b="0">
                <a:solidFill>
                  <a:srgbClr val="172033"/>
                </a:solidFill>
              </a:defRPr>
            </a:pPr>
            <a:r>
              <a:rPr sz="1650" b="0">
                <a:solidFill>
                  <a:srgbClr val="172033"/>
                </a:solidFill>
              </a:rPr>
              <a:t>Same agent and Lean environment</a:t>
            </a:r>
          </a:p>
          <a:p>
            <a:pPr algn="l">
              <a:defRPr sz="1650" b="0">
                <a:solidFill>
                  <a:srgbClr val="172033"/>
                </a:solidFill>
              </a:defRPr>
            </a:pPr>
            <a:r>
              <a:rPr sz="1650" b="0">
                <a:solidFill>
                  <a:srgbClr val="172033"/>
                </a:solidFill>
              </a:rPr>
              <a:t>/workspace: identical starting code</a:t>
            </a:r>
          </a:p>
          <a:p>
            <a:pPr algn="l">
              <a:defRPr sz="1650" b="0">
                <a:solidFill>
                  <a:srgbClr val="172033"/>
                </a:solidFill>
              </a:defRPr>
            </a:pPr>
            <a:r>
              <a:rPr sz="1650" b="0">
                <a:solidFill>
                  <a:srgbClr val="172033"/>
                </a:solidFill>
              </a:rPr>
              <a:t>/memory: frozen snapshot, read-only</a:t>
            </a:r>
          </a:p>
        </p:txBody>
      </p:sp>
      <p:sp>
        <p:nvSpPr>
          <p:cNvPr id="17" name="Rectangle 16">
            <a:extLst>
              <a:ext uri="{FF2B5EF4-FFF2-40B4-BE49-F238E27FC236}">
                <a16:creationId xmlns:a16="http://schemas.microsoft.com/office/drawing/2014/main" id="{D1CF68B4-7F10-4020-B2E0-603277737AE4}"/>
              </a:ext>
            </a:extLst>
          </p:cNvPr>
          <p:cNvSpPr>
            <a:spLocks noGrp="1"/>
          </p:cNvSpPr>
          <p:nvPr/>
        </p:nvSpPr>
        <p:spPr>
          <a:xfrm>
            <a:off x="857250" y="5505450"/>
            <a:ext cx="2000250" cy="304800"/>
          </a:xfrm>
          <a:prstGeom prst="rect">
            <a:avLst/>
          </a:prstGeom>
          <a:noFill/>
          <a:ln w="0">
            <a:noFill/>
            <a:prstDash val="solid"/>
          </a:ln>
        </p:spPr>
        <p:txBody>
          <a:bodyPr anchor="ctr"/>
          <a:lstStyle>
            <a:defPPr algn="l">
              <a:defRPr sz="1575" b="1">
                <a:solidFill>
                  <a:srgbClr val="0B1739"/>
                </a:solidFill>
              </a:defRPr>
            </a:defPPr>
          </a:lstStyle>
          <a:p>
            <a:pPr algn="l">
              <a:defRPr sz="1575" b="1">
                <a:solidFill>
                  <a:srgbClr val="0B1739"/>
                </a:solidFill>
              </a:defRPr>
            </a:pPr>
            <a:r>
              <a:rPr sz="1575" b="1">
                <a:solidFill>
                  <a:srgbClr val="0B1739"/>
                </a:solidFill>
              </a:rPr>
              <a:t>Isolation rules</a:t>
            </a:r>
          </a:p>
        </p:txBody>
      </p:sp>
      <p:sp>
        <p:nvSpPr>
          <p:cNvPr id="18" name="Rectangle 17">
            <a:extLst>
              <a:ext uri="{FF2B5EF4-FFF2-40B4-BE49-F238E27FC236}">
                <a16:creationId xmlns:a16="http://schemas.microsoft.com/office/drawing/2014/main" id="{D8AC9DDE-C93A-4091-9F61-7C2514D5FDA1}"/>
              </a:ext>
            </a:extLst>
          </p:cNvPr>
          <p:cNvSpPr>
            <a:spLocks noGrp="1"/>
          </p:cNvSpPr>
          <p:nvPr/>
        </p:nvSpPr>
        <p:spPr>
          <a:xfrm>
            <a:off x="2952750" y="5467350"/>
            <a:ext cx="8382000" cy="666750"/>
          </a:xfrm>
          <a:prstGeom prst="rect">
            <a:avLst/>
          </a:prstGeom>
          <a:noFill/>
          <a:ln w="0">
            <a:noFill/>
            <a:prstDash val="solid"/>
          </a:ln>
        </p:spPr>
        <p:txBody>
          <a:bodyPr anchor="t"/>
          <a:lstStyle>
            <a:defPPr algn="l">
              <a:defRPr sz="1500" b="0">
                <a:solidFill>
                  <a:srgbClr val="172033"/>
                </a:solidFill>
              </a:defRPr>
            </a:defPPr>
          </a:lstStyle>
          <a:p>
            <a:pPr algn="l">
              <a:defRPr sz="1500" b="0">
                <a:solidFill>
                  <a:srgbClr val="172033"/>
                </a:solidFill>
              </a:defRPr>
            </a:pPr>
            <a:r>
              <a:rPr sz="1500" b="0">
                <a:solidFill>
                  <a:srgbClr val="172033"/>
                </a:solidFill>
              </a:rPr>
              <a:t>Mount selected files only. Exclude answer-bearing Git history and build caches.</a:t>
            </a:r>
          </a:p>
          <a:p>
            <a:pPr algn="l">
              <a:defRPr sz="1500" b="0">
                <a:solidFill>
                  <a:srgbClr val="172033"/>
                </a:solidFill>
              </a:defRPr>
            </a:pPr>
            <a:r>
              <a:rPr sz="1500" b="0">
                <a:solidFill>
                  <a:srgbClr val="172033"/>
                </a:solidFill>
              </a:rPr>
              <a:t>Restrict network and external tools. Export logs and proofs for independent verification.</a:t>
            </a:r>
          </a:p>
        </p:txBody>
      </p:sp>
      <p:sp>
        <p:nvSpPr>
          <p:cNvPr id="19" name="Rectangle 18">
            <a:extLst>
              <a:ext uri="{FF2B5EF4-FFF2-40B4-BE49-F238E27FC236}">
                <a16:creationId xmlns:a16="http://schemas.microsoft.com/office/drawing/2014/main" id="{0DB2E849-6DE8-4C66-91C4-0434B5F0A447}"/>
              </a:ext>
            </a:extLst>
          </p:cNvPr>
          <p:cNvSpPr>
            <a:spLocks noGrp="1"/>
          </p:cNvSpPr>
          <p:nvPr/>
        </p:nvSpPr>
        <p:spPr>
          <a:xfrm>
            <a:off x="666750" y="6429375"/>
            <a:ext cx="10858500" cy="209550"/>
          </a:xfrm>
          <a:prstGeom prst="rect">
            <a:avLst/>
          </a:prstGeom>
          <a:noFill/>
          <a:ln w="0">
            <a:noFill/>
            <a:prstDash val="solid"/>
          </a:ln>
        </p:spPr>
        <p:txBody>
          <a:bodyPr anchor="ctr"/>
          <a:lstStyle>
            <a:defPPr algn="r">
              <a:defRPr sz="825" b="0">
                <a:solidFill>
                  <a:srgbClr val="64748B"/>
                </a:solidFill>
              </a:defRPr>
            </a:defPPr>
          </a:lstStyle>
          <a:p>
            <a:pPr algn="r">
              <a:defRPr sz="825" b="0">
                <a:solidFill>
                  <a:srgbClr val="64748B"/>
                </a:solidFill>
              </a:defRPr>
            </a:pPr>
            <a:r>
              <a:rPr sz="825" b="0">
                <a:solidFill>
                  <a:srgbClr val="64748B"/>
                </a:solidFill>
              </a:rPr>
              <a:t>Planned next step: build the common image, test access boundaries, then pilot the two conditions.</a:t>
            </a:r>
          </a:p>
        </p:txBody>
      </p:sp>
    </p:spTree>
    <p:extLst>
      <p:ext uri="{BB962C8B-B14F-4D97-AF65-F5344CB8AC3E}">
        <p14:creationId xmlns:p14="http://schemas.microsoft.com/office/powerpoint/2010/main" val="18225475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A7BE1628-75B1-47C7-BC30-9F4B344E35E0}"/>
              </a:ext>
            </a:extLst>
          </p:cNvPr>
          <p:cNvSpPr>
            <a:spLocks noGrp="1"/>
          </p:cNvSpPr>
          <p:nvPr/>
        </p:nvSpPr>
        <p:spPr>
          <a:xfrm>
            <a:off x="666750" y="361950"/>
            <a:ext cx="419100" cy="247650"/>
          </a:xfrm>
          <a:prstGeom prst="rect">
            <a:avLst/>
          </a:prstGeom>
          <a:noFill/>
          <a:ln w="0">
            <a:noFill/>
            <a:prstDash val="solid"/>
          </a:ln>
        </p:spPr>
        <p:txBody>
          <a:bodyPr anchor="ctr"/>
          <a:lstStyle>
            <a:defPPr algn="l">
              <a:defRPr sz="975" b="1">
                <a:solidFill>
                  <a:srgbClr val="2563EB"/>
                </a:solidFill>
              </a:defRPr>
            </a:defPPr>
          </a:lstStyle>
          <a:p>
            <a:pPr algn="l">
              <a:defRPr sz="975" b="1">
                <a:solidFill>
                  <a:srgbClr val="2563EB"/>
                </a:solidFill>
              </a:defRPr>
            </a:pPr>
            <a:r>
              <a:rPr sz="975" b="1">
                <a:solidFill>
                  <a:srgbClr val="2563EB"/>
                </a:solidFill>
              </a:rPr>
              <a:t>06</a:t>
            </a:r>
          </a:p>
        </p:txBody>
      </p:sp>
      <p:sp>
        <p:nvSpPr>
          <p:cNvPr id="2" name="Rectangle 1">
            <a:extLst>
              <a:ext uri="{FF2B5EF4-FFF2-40B4-BE49-F238E27FC236}">
                <a16:creationId xmlns:a16="http://schemas.microsoft.com/office/drawing/2014/main" id="{E5DDDEBD-4498-447F-AE5A-8CE3CD112093}"/>
              </a:ext>
            </a:extLst>
          </p:cNvPr>
          <p:cNvSpPr>
            <a:spLocks noGrp="1"/>
          </p:cNvSpPr>
          <p:nvPr/>
        </p:nvSpPr>
        <p:spPr>
          <a:xfrm>
            <a:off x="666750" y="685800"/>
            <a:ext cx="10477500" cy="552450"/>
          </a:xfrm>
          <a:prstGeom prst="rect">
            <a:avLst/>
          </a:prstGeom>
          <a:noFill/>
          <a:ln w="0">
            <a:noFill/>
            <a:prstDash val="solid"/>
          </a:ln>
        </p:spPr>
        <p:txBody>
          <a:bodyPr anchor="ctr"/>
          <a:lstStyle>
            <a:defPPr algn="l">
              <a:defRPr sz="2400" b="1">
                <a:solidFill>
                  <a:srgbClr val="0B1739"/>
                </a:solidFill>
              </a:defRPr>
            </a:defPPr>
          </a:lstStyle>
          <a:p>
            <a:pPr algn="l">
              <a:defRPr sz="2400" b="1">
                <a:solidFill>
                  <a:srgbClr val="0B1739"/>
                </a:solidFill>
              </a:defRPr>
            </a:pPr>
            <a:r>
              <a:rPr sz="2400" b="1">
                <a:solidFill>
                  <a:srgbClr val="0B1739"/>
                </a:solidFill>
              </a:rPr>
              <a:t>Proposed architecture: proof runs and verified memory</a:t>
            </a:r>
          </a:p>
        </p:txBody>
      </p:sp>
      <p:sp>
        <p:nvSpPr>
          <p:cNvPr id="3" name="Straight Connector 2">
            <a:extLst>
              <a:ext uri="{FF2B5EF4-FFF2-40B4-BE49-F238E27FC236}">
                <a16:creationId xmlns:a16="http://schemas.microsoft.com/office/drawing/2014/main" id="{C18CA572-8EE0-4645-BF41-C06932F68C8B}"/>
              </a:ext>
            </a:extLst>
          </p:cNvPr>
          <p:cNvSpPr>
            <a:spLocks noGrp="1"/>
          </p:cNvSpPr>
          <p:nvPr/>
        </p:nvSpPr>
        <p:spPr>
          <a:xfrm>
            <a:off x="666750" y="1333500"/>
            <a:ext cx="10858500" cy="0"/>
          </a:xfrm>
          <a:prstGeom prst="line">
            <a:avLst/>
          </a:prstGeom>
          <a:noFill/>
          <a:ln w="9525">
            <a:solidFill>
              <a:srgbClr val="CBD5E1"/>
            </a:solidFill>
            <a:prstDash val="solid"/>
          </a:ln>
        </p:spPr>
        <p:txBody>
          <a:bodyPr/>
          <a:lstStyle/>
          <a:p>
            <a:endParaRPr lang="en-US"/>
          </a:p>
        </p:txBody>
      </p:sp>
      <p:sp>
        <p:nvSpPr>
          <p:cNvPr id="4" name="Rectangle 3">
            <a:extLst>
              <a:ext uri="{FF2B5EF4-FFF2-40B4-BE49-F238E27FC236}">
                <a16:creationId xmlns:a16="http://schemas.microsoft.com/office/drawing/2014/main" id="{C3932900-38E4-45BA-AEBD-718E55634529}"/>
              </a:ext>
            </a:extLst>
          </p:cNvPr>
          <p:cNvSpPr>
            <a:spLocks noGrp="1"/>
          </p:cNvSpPr>
          <p:nvPr/>
        </p:nvSpPr>
        <p:spPr>
          <a:xfrm>
            <a:off x="666750" y="1457325"/>
            <a:ext cx="10858500" cy="457200"/>
          </a:xfrm>
          <a:prstGeom prst="rect">
            <a:avLst/>
          </a:prstGeom>
          <a:noFill/>
          <a:ln w="0">
            <a:noFill/>
            <a:prstDash val="solid"/>
          </a:ln>
        </p:spPr>
        <p:txBody>
          <a:bodyPr anchor="ctr"/>
          <a:lstStyle>
            <a:defPPr algn="l">
              <a:defRPr sz="1500" b="0">
                <a:solidFill>
                  <a:srgbClr val="64748B"/>
                </a:solidFill>
              </a:defRPr>
            </a:defPPr>
          </a:lstStyle>
          <a:p>
            <a:pPr algn="l">
              <a:defRPr sz="1500" b="0">
                <a:solidFill>
                  <a:srgbClr val="64748B"/>
                </a:solidFill>
              </a:defRPr>
            </a:pPr>
            <a:r>
              <a:rPr sz="1500" b="0">
                <a:solidFill>
                  <a:srgbClr val="64748B"/>
                </a:solidFill>
              </a:rPr>
              <a:t>A deterministic orchestration script prepares runs and collects evidence. Human review controls the theorem and lessons.</a:t>
            </a:r>
          </a:p>
        </p:txBody>
      </p:sp>
      <p:sp>
        <p:nvSpPr>
          <p:cNvPr id="5" name="Straight Connector 4">
            <a:extLst>
              <a:ext uri="{FF2B5EF4-FFF2-40B4-BE49-F238E27FC236}">
                <a16:creationId xmlns:a16="http://schemas.microsoft.com/office/drawing/2014/main" id="{60CD9800-947C-4742-B6CB-E77EF9369DFE}"/>
              </a:ext>
            </a:extLst>
          </p:cNvPr>
          <p:cNvSpPr>
            <a:spLocks noGrp="1"/>
          </p:cNvSpPr>
          <p:nvPr/>
        </p:nvSpPr>
        <p:spPr>
          <a:xfrm>
            <a:off x="2571750" y="3190875"/>
            <a:ext cx="333375" cy="0"/>
          </a:xfrm>
          <a:prstGeom prst="line">
            <a:avLst/>
          </a:prstGeom>
          <a:noFill/>
          <a:ln w="28575">
            <a:solidFill>
              <a:srgbClr val="CBD5E1"/>
            </a:solidFill>
            <a:prstDash val="solid"/>
          </a:ln>
        </p:spPr>
        <p:txBody>
          <a:bodyPr/>
          <a:lstStyle/>
          <a:p>
            <a:endParaRPr lang="en-US"/>
          </a:p>
        </p:txBody>
      </p:sp>
      <p:sp>
        <p:nvSpPr>
          <p:cNvPr id="6" name="Rectangle: Rounded Corners 5">
            <a:extLst>
              <a:ext uri="{FF2B5EF4-FFF2-40B4-BE49-F238E27FC236}">
                <a16:creationId xmlns:a16="http://schemas.microsoft.com/office/drawing/2014/main" id="{8A571043-A698-4EB2-B03B-0C97F2E0ECF1}"/>
              </a:ext>
            </a:extLst>
          </p:cNvPr>
          <p:cNvSpPr>
            <a:spLocks noGrp="1"/>
          </p:cNvSpPr>
          <p:nvPr/>
        </p:nvSpPr>
        <p:spPr>
          <a:xfrm>
            <a:off x="666750" y="2476500"/>
            <a:ext cx="1905000" cy="1809750"/>
          </a:xfrm>
          <a:prstGeom prst="roundRect">
            <a:avLst>
              <a:gd name="adj" fmla="val 4211"/>
            </a:avLst>
          </a:prstGeom>
          <a:solidFill>
            <a:srgbClr val="FFFFFF"/>
          </a:solidFill>
          <a:ln w="9525">
            <a:solidFill>
              <a:srgbClr val="CBD5E1"/>
            </a:solidFill>
            <a:prstDash val="solid"/>
          </a:ln>
        </p:spPr>
        <p:txBody>
          <a:bodyPr/>
          <a:lstStyle/>
          <a:p>
            <a:endParaRPr lang="en-US"/>
          </a:p>
        </p:txBody>
      </p:sp>
      <p:sp>
        <p:nvSpPr>
          <p:cNvPr id="7" name="Rectangle 6">
            <a:extLst>
              <a:ext uri="{FF2B5EF4-FFF2-40B4-BE49-F238E27FC236}">
                <a16:creationId xmlns:a16="http://schemas.microsoft.com/office/drawing/2014/main" id="{EAD50154-0A7C-49D1-B3F4-2516BA3C5151}"/>
              </a:ext>
            </a:extLst>
          </p:cNvPr>
          <p:cNvSpPr>
            <a:spLocks noGrp="1"/>
          </p:cNvSpPr>
          <p:nvPr/>
        </p:nvSpPr>
        <p:spPr>
          <a:xfrm>
            <a:off x="809625" y="2619375"/>
            <a:ext cx="1619250" cy="381000"/>
          </a:xfrm>
          <a:prstGeom prst="rect">
            <a:avLst/>
          </a:prstGeom>
          <a:noFill/>
          <a:ln w="0">
            <a:noFill/>
            <a:prstDash val="solid"/>
          </a:ln>
        </p:spPr>
        <p:txBody>
          <a:bodyPr anchor="ctr"/>
          <a:lstStyle>
            <a:defPPr algn="l">
              <a:defRPr sz="1800" b="1">
                <a:solidFill>
                  <a:srgbClr val="0B1739"/>
                </a:solidFill>
              </a:defRPr>
            </a:defPPr>
          </a:lstStyle>
          <a:p>
            <a:pPr algn="l">
              <a:defRPr sz="1800" b="1">
                <a:solidFill>
                  <a:srgbClr val="0B1739"/>
                </a:solidFill>
              </a:defRPr>
            </a:pPr>
            <a:r>
              <a:rPr sz="1800" b="1">
                <a:solidFill>
                  <a:srgbClr val="0B1739"/>
                </a:solidFill>
              </a:rPr>
              <a:t>Monorepo</a:t>
            </a:r>
          </a:p>
        </p:txBody>
      </p:sp>
      <p:sp>
        <p:nvSpPr>
          <p:cNvPr id="8" name="Rectangle 7">
            <a:extLst>
              <a:ext uri="{FF2B5EF4-FFF2-40B4-BE49-F238E27FC236}">
                <a16:creationId xmlns:a16="http://schemas.microsoft.com/office/drawing/2014/main" id="{D81E21C5-E108-4446-8D3B-75133A6E754C}"/>
              </a:ext>
            </a:extLst>
          </p:cNvPr>
          <p:cNvSpPr>
            <a:spLocks noGrp="1"/>
          </p:cNvSpPr>
          <p:nvPr/>
        </p:nvSpPr>
        <p:spPr>
          <a:xfrm>
            <a:off x="809625" y="3143250"/>
            <a:ext cx="1619250" cy="952500"/>
          </a:xfrm>
          <a:prstGeom prst="rect">
            <a:avLst/>
          </a:prstGeom>
          <a:noFill/>
          <a:ln w="0">
            <a:noFill/>
            <a:prstDash val="solid"/>
          </a:ln>
        </p:spPr>
        <p:txBody>
          <a:bodyPr anchor="t"/>
          <a:lstStyle>
            <a:defPPr algn="l">
              <a:defRPr sz="1500" b="0">
                <a:solidFill>
                  <a:srgbClr val="172033"/>
                </a:solidFill>
              </a:defRPr>
            </a:defPPr>
          </a:lstStyle>
          <a:p>
            <a:pPr algn="l">
              <a:defRPr sz="1500" b="0">
                <a:solidFill>
                  <a:srgbClr val="172033"/>
                </a:solidFill>
              </a:defRPr>
            </a:pPr>
            <a:r>
              <a:rPr sz="1500" b="0">
                <a:solidFill>
                  <a:srgbClr val="172033"/>
                </a:solidFill>
              </a:rPr>
              <a:t>Task + tests</a:t>
            </a:r>
          </a:p>
          <a:p>
            <a:pPr algn="l">
              <a:defRPr sz="1500" b="0">
                <a:solidFill>
                  <a:srgbClr val="172033"/>
                </a:solidFill>
              </a:defRPr>
            </a:pPr>
            <a:r>
              <a:rPr sz="1500" b="0">
                <a:solidFill>
                  <a:srgbClr val="172033"/>
                </a:solidFill>
              </a:rPr>
              <a:t>Starting code</a:t>
            </a:r>
          </a:p>
          <a:p>
            <a:pPr algn="l">
              <a:defRPr sz="1500" b="0">
                <a:solidFill>
                  <a:srgbClr val="172033"/>
                </a:solidFill>
              </a:defRPr>
            </a:pPr>
            <a:r>
              <a:rPr sz="1500" b="0">
                <a:solidFill>
                  <a:srgbClr val="172033"/>
                </a:solidFill>
              </a:rPr>
              <a:t>Frozen memory</a:t>
            </a:r>
          </a:p>
        </p:txBody>
      </p:sp>
      <p:sp>
        <p:nvSpPr>
          <p:cNvPr id="9" name="Straight Connector 8">
            <a:extLst>
              <a:ext uri="{FF2B5EF4-FFF2-40B4-BE49-F238E27FC236}">
                <a16:creationId xmlns:a16="http://schemas.microsoft.com/office/drawing/2014/main" id="{EA977E77-ED98-4CEE-A5D6-52DA412BC31B}"/>
              </a:ext>
            </a:extLst>
          </p:cNvPr>
          <p:cNvSpPr>
            <a:spLocks noGrp="1"/>
          </p:cNvSpPr>
          <p:nvPr/>
        </p:nvSpPr>
        <p:spPr>
          <a:xfrm>
            <a:off x="4810125" y="3190875"/>
            <a:ext cx="333375" cy="0"/>
          </a:xfrm>
          <a:prstGeom prst="line">
            <a:avLst/>
          </a:prstGeom>
          <a:noFill/>
          <a:ln w="28575">
            <a:solidFill>
              <a:srgbClr val="CBD5E1"/>
            </a:solidFill>
            <a:prstDash val="solid"/>
          </a:ln>
        </p:spPr>
        <p:txBody>
          <a:bodyPr/>
          <a:lstStyle/>
          <a:p>
            <a:endParaRPr lang="en-US"/>
          </a:p>
        </p:txBody>
      </p:sp>
      <p:sp>
        <p:nvSpPr>
          <p:cNvPr id="10" name="Rectangle: Rounded Corners 9">
            <a:extLst>
              <a:ext uri="{FF2B5EF4-FFF2-40B4-BE49-F238E27FC236}">
                <a16:creationId xmlns:a16="http://schemas.microsoft.com/office/drawing/2014/main" id="{4E1FC7C1-DB9E-4D96-ABEF-9BB5AEC9BF90}"/>
              </a:ext>
            </a:extLst>
          </p:cNvPr>
          <p:cNvSpPr>
            <a:spLocks noGrp="1"/>
          </p:cNvSpPr>
          <p:nvPr/>
        </p:nvSpPr>
        <p:spPr>
          <a:xfrm>
            <a:off x="2905125" y="2476500"/>
            <a:ext cx="1905000" cy="1809750"/>
          </a:xfrm>
          <a:prstGeom prst="roundRect">
            <a:avLst>
              <a:gd name="adj" fmla="val 4211"/>
            </a:avLst>
          </a:prstGeom>
          <a:solidFill>
            <a:srgbClr val="FFFFFF"/>
          </a:solidFill>
          <a:ln w="9525">
            <a:solidFill>
              <a:srgbClr val="CBD5E1"/>
            </a:solidFill>
            <a:prstDash val="solid"/>
          </a:ln>
        </p:spPr>
        <p:txBody>
          <a:bodyPr/>
          <a:lstStyle/>
          <a:p>
            <a:endParaRPr lang="en-US"/>
          </a:p>
        </p:txBody>
      </p:sp>
      <p:sp>
        <p:nvSpPr>
          <p:cNvPr id="11" name="Rectangle 10">
            <a:extLst>
              <a:ext uri="{FF2B5EF4-FFF2-40B4-BE49-F238E27FC236}">
                <a16:creationId xmlns:a16="http://schemas.microsoft.com/office/drawing/2014/main" id="{10E5BFC9-BD3A-45F0-AC17-820FE23B051C}"/>
              </a:ext>
            </a:extLst>
          </p:cNvPr>
          <p:cNvSpPr>
            <a:spLocks noGrp="1"/>
          </p:cNvSpPr>
          <p:nvPr/>
        </p:nvSpPr>
        <p:spPr>
          <a:xfrm>
            <a:off x="3048000" y="2619375"/>
            <a:ext cx="1619250" cy="381000"/>
          </a:xfrm>
          <a:prstGeom prst="rect">
            <a:avLst/>
          </a:prstGeom>
          <a:noFill/>
          <a:ln w="0">
            <a:noFill/>
            <a:prstDash val="solid"/>
          </a:ln>
        </p:spPr>
        <p:txBody>
          <a:bodyPr anchor="ctr"/>
          <a:lstStyle>
            <a:defPPr algn="l">
              <a:defRPr sz="1800" b="1">
                <a:solidFill>
                  <a:srgbClr val="0B1739"/>
                </a:solidFill>
              </a:defRPr>
            </a:defPPr>
          </a:lstStyle>
          <a:p>
            <a:pPr algn="l">
              <a:defRPr sz="1800" b="1">
                <a:solidFill>
                  <a:srgbClr val="0B1739"/>
                </a:solidFill>
              </a:defRPr>
            </a:pPr>
            <a:r>
              <a:rPr sz="1800" b="1">
                <a:solidFill>
                  <a:srgbClr val="0B1739"/>
                </a:solidFill>
              </a:rPr>
              <a:t>Run script</a:t>
            </a:r>
          </a:p>
        </p:txBody>
      </p:sp>
      <p:sp>
        <p:nvSpPr>
          <p:cNvPr id="12" name="Rectangle 11">
            <a:extLst>
              <a:ext uri="{FF2B5EF4-FFF2-40B4-BE49-F238E27FC236}">
                <a16:creationId xmlns:a16="http://schemas.microsoft.com/office/drawing/2014/main" id="{EDFD6129-A8CD-40F9-8EA2-AA8473F3E0AC}"/>
              </a:ext>
            </a:extLst>
          </p:cNvPr>
          <p:cNvSpPr>
            <a:spLocks noGrp="1"/>
          </p:cNvSpPr>
          <p:nvPr/>
        </p:nvSpPr>
        <p:spPr>
          <a:xfrm>
            <a:off x="3048000" y="3143250"/>
            <a:ext cx="1619250" cy="952500"/>
          </a:xfrm>
          <a:prstGeom prst="rect">
            <a:avLst/>
          </a:prstGeom>
          <a:noFill/>
          <a:ln w="0">
            <a:noFill/>
            <a:prstDash val="solid"/>
          </a:ln>
        </p:spPr>
        <p:txBody>
          <a:bodyPr anchor="t"/>
          <a:lstStyle>
            <a:defPPr algn="l">
              <a:defRPr sz="1500" b="0">
                <a:solidFill>
                  <a:srgbClr val="172033"/>
                </a:solidFill>
              </a:defRPr>
            </a:defPPr>
          </a:lstStyle>
          <a:p>
            <a:pPr algn="l">
              <a:defRPr sz="1500" b="0">
                <a:solidFill>
                  <a:srgbClr val="172033"/>
                </a:solidFill>
              </a:defRPr>
            </a:pPr>
            <a:r>
              <a:rPr sz="1500" b="0">
                <a:solidFill>
                  <a:srgbClr val="172033"/>
                </a:solidFill>
              </a:rPr>
              <a:t>Prepare files</a:t>
            </a:r>
          </a:p>
          <a:p>
            <a:pPr algn="l">
              <a:defRPr sz="1500" b="0">
                <a:solidFill>
                  <a:srgbClr val="172033"/>
                </a:solidFill>
              </a:defRPr>
            </a:pPr>
            <a:r>
              <a:rPr sz="1500" b="0">
                <a:solidFill>
                  <a:srgbClr val="172033"/>
                </a:solidFill>
              </a:rPr>
              <a:t>Record settings</a:t>
            </a:r>
          </a:p>
          <a:p>
            <a:pPr algn="l">
              <a:defRPr sz="1500" b="0">
                <a:solidFill>
                  <a:srgbClr val="172033"/>
                </a:solidFill>
              </a:defRPr>
            </a:pPr>
            <a:r>
              <a:rPr sz="1500" b="0">
                <a:solidFill>
                  <a:srgbClr val="172033"/>
                </a:solidFill>
              </a:rPr>
              <a:t>Launch containers</a:t>
            </a:r>
          </a:p>
        </p:txBody>
      </p:sp>
      <p:sp>
        <p:nvSpPr>
          <p:cNvPr id="13" name="Straight Connector 12">
            <a:extLst>
              <a:ext uri="{FF2B5EF4-FFF2-40B4-BE49-F238E27FC236}">
                <a16:creationId xmlns:a16="http://schemas.microsoft.com/office/drawing/2014/main" id="{423346D4-AA2A-4B2A-95D8-867A889FA740}"/>
              </a:ext>
            </a:extLst>
          </p:cNvPr>
          <p:cNvSpPr>
            <a:spLocks noGrp="1"/>
          </p:cNvSpPr>
          <p:nvPr/>
        </p:nvSpPr>
        <p:spPr>
          <a:xfrm>
            <a:off x="7048500" y="3190875"/>
            <a:ext cx="333375" cy="0"/>
          </a:xfrm>
          <a:prstGeom prst="line">
            <a:avLst/>
          </a:prstGeom>
          <a:noFill/>
          <a:ln w="28575">
            <a:solidFill>
              <a:srgbClr val="CBD5E1"/>
            </a:solidFill>
            <a:prstDash val="solid"/>
          </a:ln>
        </p:spPr>
        <p:txBody>
          <a:bodyPr/>
          <a:lstStyle/>
          <a:p>
            <a:endParaRPr lang="en-US"/>
          </a:p>
        </p:txBody>
      </p:sp>
      <p:sp>
        <p:nvSpPr>
          <p:cNvPr id="14" name="Rectangle: Rounded Corners 13">
            <a:extLst>
              <a:ext uri="{FF2B5EF4-FFF2-40B4-BE49-F238E27FC236}">
                <a16:creationId xmlns:a16="http://schemas.microsoft.com/office/drawing/2014/main" id="{6EAC195C-EAB4-459A-A0E8-0013D5690496}"/>
              </a:ext>
            </a:extLst>
          </p:cNvPr>
          <p:cNvSpPr>
            <a:spLocks noGrp="1"/>
          </p:cNvSpPr>
          <p:nvPr/>
        </p:nvSpPr>
        <p:spPr>
          <a:xfrm>
            <a:off x="5143500" y="2476500"/>
            <a:ext cx="1905000" cy="1809750"/>
          </a:xfrm>
          <a:prstGeom prst="roundRect">
            <a:avLst>
              <a:gd name="adj" fmla="val 4211"/>
            </a:avLst>
          </a:prstGeom>
          <a:solidFill>
            <a:srgbClr val="FFFFFF"/>
          </a:solidFill>
          <a:ln w="9525">
            <a:solidFill>
              <a:srgbClr val="CBD5E1"/>
            </a:solidFill>
            <a:prstDash val="solid"/>
          </a:ln>
        </p:spPr>
        <p:txBody>
          <a:bodyPr/>
          <a:lstStyle/>
          <a:p>
            <a:endParaRPr lang="en-US"/>
          </a:p>
        </p:txBody>
      </p:sp>
      <p:sp>
        <p:nvSpPr>
          <p:cNvPr id="15" name="Rectangle 14">
            <a:extLst>
              <a:ext uri="{FF2B5EF4-FFF2-40B4-BE49-F238E27FC236}">
                <a16:creationId xmlns:a16="http://schemas.microsoft.com/office/drawing/2014/main" id="{8FB7A813-DACA-417F-B6D1-B4D30633ECCC}"/>
              </a:ext>
            </a:extLst>
          </p:cNvPr>
          <p:cNvSpPr>
            <a:spLocks noGrp="1"/>
          </p:cNvSpPr>
          <p:nvPr/>
        </p:nvSpPr>
        <p:spPr>
          <a:xfrm>
            <a:off x="5286375" y="2619375"/>
            <a:ext cx="1619250" cy="381000"/>
          </a:xfrm>
          <a:prstGeom prst="rect">
            <a:avLst/>
          </a:prstGeom>
          <a:noFill/>
          <a:ln w="0">
            <a:noFill/>
            <a:prstDash val="solid"/>
          </a:ln>
        </p:spPr>
        <p:txBody>
          <a:bodyPr anchor="ctr"/>
          <a:lstStyle>
            <a:defPPr algn="l">
              <a:defRPr sz="1800" b="1">
                <a:solidFill>
                  <a:srgbClr val="0B1739"/>
                </a:solidFill>
              </a:defRPr>
            </a:defPPr>
          </a:lstStyle>
          <a:p>
            <a:pPr algn="l">
              <a:defRPr sz="1800" b="1">
                <a:solidFill>
                  <a:srgbClr val="0B1739"/>
                </a:solidFill>
              </a:defRPr>
            </a:pPr>
            <a:r>
              <a:rPr sz="1800" b="1">
                <a:solidFill>
                  <a:srgbClr val="0B1739"/>
                </a:solidFill>
              </a:rPr>
              <a:t>Agent runs</a:t>
            </a:r>
          </a:p>
        </p:txBody>
      </p:sp>
      <p:sp>
        <p:nvSpPr>
          <p:cNvPr id="16" name="Rectangle 15">
            <a:extLst>
              <a:ext uri="{FF2B5EF4-FFF2-40B4-BE49-F238E27FC236}">
                <a16:creationId xmlns:a16="http://schemas.microsoft.com/office/drawing/2014/main" id="{D6B7957D-947C-4FA6-B89D-16F18FEBE054}"/>
              </a:ext>
            </a:extLst>
          </p:cNvPr>
          <p:cNvSpPr>
            <a:spLocks noGrp="1"/>
          </p:cNvSpPr>
          <p:nvPr/>
        </p:nvSpPr>
        <p:spPr>
          <a:xfrm>
            <a:off x="5286375" y="3143250"/>
            <a:ext cx="1619250" cy="952500"/>
          </a:xfrm>
          <a:prstGeom prst="rect">
            <a:avLst/>
          </a:prstGeom>
          <a:noFill/>
          <a:ln w="0">
            <a:noFill/>
            <a:prstDash val="solid"/>
          </a:ln>
        </p:spPr>
        <p:txBody>
          <a:bodyPr anchor="t"/>
          <a:lstStyle>
            <a:defPPr algn="l">
              <a:defRPr sz="1500" b="0">
                <a:solidFill>
                  <a:srgbClr val="172033"/>
                </a:solidFill>
              </a:defRPr>
            </a:defPPr>
          </a:lstStyle>
          <a:p>
            <a:pPr algn="l">
              <a:defRPr sz="1500" b="0">
                <a:solidFill>
                  <a:srgbClr val="172033"/>
                </a:solidFill>
              </a:defRPr>
            </a:pPr>
            <a:r>
              <a:rPr sz="1500" b="0">
                <a:solidFill>
                  <a:srgbClr val="172033"/>
                </a:solidFill>
              </a:rPr>
              <a:t>Stateless</a:t>
            </a:r>
          </a:p>
          <a:p>
            <a:pPr algn="l">
              <a:defRPr sz="1500" b="0">
                <a:solidFill>
                  <a:srgbClr val="172033"/>
                </a:solidFill>
              </a:defRPr>
            </a:pPr>
            <a:r>
              <a:rPr sz="1500" b="0">
                <a:solidFill>
                  <a:srgbClr val="172033"/>
                </a:solidFill>
              </a:rPr>
              <a:t>Retrieved</a:t>
            </a:r>
          </a:p>
          <a:p>
            <a:pPr algn="l">
              <a:defRPr sz="1500" b="0">
                <a:solidFill>
                  <a:srgbClr val="172033"/>
                </a:solidFill>
              </a:defRPr>
            </a:pPr>
            <a:r>
              <a:rPr sz="1500" b="0">
                <a:solidFill>
                  <a:srgbClr val="172033"/>
                </a:solidFill>
              </a:rPr>
              <a:t>Compile and repair</a:t>
            </a:r>
          </a:p>
        </p:txBody>
      </p:sp>
      <p:sp>
        <p:nvSpPr>
          <p:cNvPr id="17" name="Straight Connector 16">
            <a:extLst>
              <a:ext uri="{FF2B5EF4-FFF2-40B4-BE49-F238E27FC236}">
                <a16:creationId xmlns:a16="http://schemas.microsoft.com/office/drawing/2014/main" id="{902DAD1D-407A-4D17-9160-F3C37375CCCB}"/>
              </a:ext>
            </a:extLst>
          </p:cNvPr>
          <p:cNvSpPr>
            <a:spLocks noGrp="1"/>
          </p:cNvSpPr>
          <p:nvPr/>
        </p:nvSpPr>
        <p:spPr>
          <a:xfrm>
            <a:off x="9286875" y="3190875"/>
            <a:ext cx="333375" cy="0"/>
          </a:xfrm>
          <a:prstGeom prst="line">
            <a:avLst/>
          </a:prstGeom>
          <a:noFill/>
          <a:ln w="28575">
            <a:solidFill>
              <a:srgbClr val="CBD5E1"/>
            </a:solidFill>
            <a:prstDash val="solid"/>
          </a:ln>
        </p:spPr>
        <p:txBody>
          <a:bodyPr/>
          <a:lstStyle/>
          <a:p>
            <a:endParaRPr lang="en-US"/>
          </a:p>
        </p:txBody>
      </p:sp>
      <p:sp>
        <p:nvSpPr>
          <p:cNvPr id="18" name="Rectangle: Rounded Corners 17">
            <a:extLst>
              <a:ext uri="{FF2B5EF4-FFF2-40B4-BE49-F238E27FC236}">
                <a16:creationId xmlns:a16="http://schemas.microsoft.com/office/drawing/2014/main" id="{5B44197B-E592-46AA-98DB-6F7F2DE46FC8}"/>
              </a:ext>
            </a:extLst>
          </p:cNvPr>
          <p:cNvSpPr>
            <a:spLocks noGrp="1"/>
          </p:cNvSpPr>
          <p:nvPr/>
        </p:nvSpPr>
        <p:spPr>
          <a:xfrm>
            <a:off x="7381875" y="2476500"/>
            <a:ext cx="1905000" cy="1809750"/>
          </a:xfrm>
          <a:prstGeom prst="roundRect">
            <a:avLst>
              <a:gd name="adj" fmla="val 4211"/>
            </a:avLst>
          </a:prstGeom>
          <a:solidFill>
            <a:srgbClr val="DCFCE7"/>
          </a:solidFill>
          <a:ln w="9525">
            <a:solidFill>
              <a:srgbClr val="16A34A"/>
            </a:solidFill>
            <a:prstDash val="solid"/>
          </a:ln>
        </p:spPr>
        <p:txBody>
          <a:bodyPr/>
          <a:lstStyle/>
          <a:p>
            <a:endParaRPr lang="en-US"/>
          </a:p>
        </p:txBody>
      </p:sp>
      <p:sp>
        <p:nvSpPr>
          <p:cNvPr id="19" name="Rectangle 18">
            <a:extLst>
              <a:ext uri="{FF2B5EF4-FFF2-40B4-BE49-F238E27FC236}">
                <a16:creationId xmlns:a16="http://schemas.microsoft.com/office/drawing/2014/main" id="{67F02CBE-D22E-4505-B5B9-1000F90EE98F}"/>
              </a:ext>
            </a:extLst>
          </p:cNvPr>
          <p:cNvSpPr>
            <a:spLocks noGrp="1"/>
          </p:cNvSpPr>
          <p:nvPr/>
        </p:nvSpPr>
        <p:spPr>
          <a:xfrm>
            <a:off x="7524750" y="2619375"/>
            <a:ext cx="1619250" cy="381000"/>
          </a:xfrm>
          <a:prstGeom prst="rect">
            <a:avLst/>
          </a:prstGeom>
          <a:noFill/>
          <a:ln w="0">
            <a:noFill/>
            <a:prstDash val="solid"/>
          </a:ln>
        </p:spPr>
        <p:txBody>
          <a:bodyPr anchor="ctr"/>
          <a:lstStyle>
            <a:defPPr algn="l">
              <a:defRPr sz="1800" b="1">
                <a:solidFill>
                  <a:srgbClr val="0B1739"/>
                </a:solidFill>
              </a:defRPr>
            </a:defPPr>
          </a:lstStyle>
          <a:p>
            <a:pPr algn="l">
              <a:defRPr sz="1800" b="1">
                <a:solidFill>
                  <a:srgbClr val="0B1739"/>
                </a:solidFill>
              </a:defRPr>
            </a:pPr>
            <a:r>
              <a:rPr sz="1800" b="1">
                <a:solidFill>
                  <a:srgbClr val="0B1739"/>
                </a:solidFill>
              </a:rPr>
              <a:t>Verification</a:t>
            </a:r>
          </a:p>
        </p:txBody>
      </p:sp>
      <p:sp>
        <p:nvSpPr>
          <p:cNvPr id="20" name="Rectangle 19">
            <a:extLst>
              <a:ext uri="{FF2B5EF4-FFF2-40B4-BE49-F238E27FC236}">
                <a16:creationId xmlns:a16="http://schemas.microsoft.com/office/drawing/2014/main" id="{CB03E1EB-EE90-469C-95C4-14B7DDFA7121}"/>
              </a:ext>
            </a:extLst>
          </p:cNvPr>
          <p:cNvSpPr>
            <a:spLocks noGrp="1"/>
          </p:cNvSpPr>
          <p:nvPr/>
        </p:nvSpPr>
        <p:spPr>
          <a:xfrm>
            <a:off x="7524750" y="3143250"/>
            <a:ext cx="1619250" cy="952500"/>
          </a:xfrm>
          <a:prstGeom prst="rect">
            <a:avLst/>
          </a:prstGeom>
          <a:noFill/>
          <a:ln w="0">
            <a:noFill/>
            <a:prstDash val="solid"/>
          </a:ln>
        </p:spPr>
        <p:txBody>
          <a:bodyPr anchor="t"/>
          <a:lstStyle>
            <a:defPPr algn="l">
              <a:defRPr sz="1500" b="0">
                <a:solidFill>
                  <a:srgbClr val="172033"/>
                </a:solidFill>
              </a:defRPr>
            </a:defPPr>
          </a:lstStyle>
          <a:p>
            <a:pPr algn="l">
              <a:defRPr sz="1500" b="0">
                <a:solidFill>
                  <a:srgbClr val="172033"/>
                </a:solidFill>
              </a:defRPr>
            </a:pPr>
            <a:r>
              <a:rPr sz="1500" b="0">
                <a:solidFill>
                  <a:srgbClr val="172033"/>
                </a:solidFill>
              </a:rPr>
              <a:t>Trusted build</a:t>
            </a:r>
          </a:p>
          <a:p>
            <a:pPr algn="l">
              <a:defRPr sz="1500" b="0">
                <a:solidFill>
                  <a:srgbClr val="172033"/>
                </a:solidFill>
              </a:defRPr>
            </a:pPr>
            <a:r>
              <a:rPr sz="1500" b="0">
                <a:solidFill>
                  <a:srgbClr val="172033"/>
                </a:solidFill>
              </a:rPr>
              <a:t>Placeholder scans</a:t>
            </a:r>
          </a:p>
          <a:p>
            <a:pPr algn="l">
              <a:defRPr sz="1500" b="0">
                <a:solidFill>
                  <a:srgbClr val="172033"/>
                </a:solidFill>
              </a:defRPr>
            </a:pPr>
            <a:r>
              <a:rPr sz="1500" b="0">
                <a:solidFill>
                  <a:srgbClr val="172033"/>
                </a:solidFill>
              </a:rPr>
              <a:t>Semantic review</a:t>
            </a:r>
          </a:p>
        </p:txBody>
      </p:sp>
      <p:sp>
        <p:nvSpPr>
          <p:cNvPr id="21" name="Rectangle: Rounded Corners 20">
            <a:extLst>
              <a:ext uri="{FF2B5EF4-FFF2-40B4-BE49-F238E27FC236}">
                <a16:creationId xmlns:a16="http://schemas.microsoft.com/office/drawing/2014/main" id="{FA6672E3-F959-4837-83DD-86993BD0C473}"/>
              </a:ext>
            </a:extLst>
          </p:cNvPr>
          <p:cNvSpPr>
            <a:spLocks noGrp="1"/>
          </p:cNvSpPr>
          <p:nvPr/>
        </p:nvSpPr>
        <p:spPr>
          <a:xfrm>
            <a:off x="9620250" y="2476500"/>
            <a:ext cx="1905000" cy="1809750"/>
          </a:xfrm>
          <a:prstGeom prst="roundRect">
            <a:avLst>
              <a:gd name="adj" fmla="val 4211"/>
            </a:avLst>
          </a:prstGeom>
          <a:solidFill>
            <a:srgbClr val="FFFFFF"/>
          </a:solidFill>
          <a:ln w="9525">
            <a:solidFill>
              <a:srgbClr val="CBD5E1"/>
            </a:solidFill>
            <a:prstDash val="solid"/>
          </a:ln>
        </p:spPr>
        <p:txBody>
          <a:bodyPr/>
          <a:lstStyle/>
          <a:p>
            <a:endParaRPr lang="en-US"/>
          </a:p>
        </p:txBody>
      </p:sp>
      <p:sp>
        <p:nvSpPr>
          <p:cNvPr id="22" name="Rectangle 21">
            <a:extLst>
              <a:ext uri="{FF2B5EF4-FFF2-40B4-BE49-F238E27FC236}">
                <a16:creationId xmlns:a16="http://schemas.microsoft.com/office/drawing/2014/main" id="{F69E9CD8-0102-45C3-851F-3F4DDAB20914}"/>
              </a:ext>
            </a:extLst>
          </p:cNvPr>
          <p:cNvSpPr>
            <a:spLocks noGrp="1"/>
          </p:cNvSpPr>
          <p:nvPr/>
        </p:nvSpPr>
        <p:spPr>
          <a:xfrm>
            <a:off x="9763125" y="2619375"/>
            <a:ext cx="1619250" cy="381000"/>
          </a:xfrm>
          <a:prstGeom prst="rect">
            <a:avLst/>
          </a:prstGeom>
          <a:noFill/>
          <a:ln w="0">
            <a:noFill/>
            <a:prstDash val="solid"/>
          </a:ln>
        </p:spPr>
        <p:txBody>
          <a:bodyPr anchor="ctr"/>
          <a:lstStyle>
            <a:defPPr algn="l">
              <a:defRPr sz="1800" b="1">
                <a:solidFill>
                  <a:srgbClr val="0B1739"/>
                </a:solidFill>
              </a:defRPr>
            </a:defPPr>
          </a:lstStyle>
          <a:p>
            <a:pPr algn="l">
              <a:defRPr sz="1800" b="1">
                <a:solidFill>
                  <a:srgbClr val="0B1739"/>
                </a:solidFill>
              </a:defRPr>
            </a:pPr>
            <a:r>
              <a:rPr sz="1800" b="1">
                <a:solidFill>
                  <a:srgbClr val="0B1739"/>
                </a:solidFill>
              </a:rPr>
              <a:t>Comparison</a:t>
            </a:r>
          </a:p>
        </p:txBody>
      </p:sp>
      <p:sp>
        <p:nvSpPr>
          <p:cNvPr id="23" name="Rectangle 22">
            <a:extLst>
              <a:ext uri="{FF2B5EF4-FFF2-40B4-BE49-F238E27FC236}">
                <a16:creationId xmlns:a16="http://schemas.microsoft.com/office/drawing/2014/main" id="{FEF4930C-9F19-4672-A380-F68B86797185}"/>
              </a:ext>
            </a:extLst>
          </p:cNvPr>
          <p:cNvSpPr>
            <a:spLocks noGrp="1"/>
          </p:cNvSpPr>
          <p:nvPr/>
        </p:nvSpPr>
        <p:spPr>
          <a:xfrm>
            <a:off x="9763125" y="3143250"/>
            <a:ext cx="1619250" cy="952500"/>
          </a:xfrm>
          <a:prstGeom prst="rect">
            <a:avLst/>
          </a:prstGeom>
          <a:noFill/>
          <a:ln w="0">
            <a:noFill/>
            <a:prstDash val="solid"/>
          </a:ln>
        </p:spPr>
        <p:txBody>
          <a:bodyPr anchor="t"/>
          <a:lstStyle>
            <a:defPPr algn="l">
              <a:defRPr sz="1500" b="0">
                <a:solidFill>
                  <a:srgbClr val="172033"/>
                </a:solidFill>
              </a:defRPr>
            </a:defPPr>
          </a:lstStyle>
          <a:p>
            <a:pPr algn="l">
              <a:defRPr sz="1500" b="0">
                <a:solidFill>
                  <a:srgbClr val="172033"/>
                </a:solidFill>
              </a:defRPr>
            </a:pPr>
            <a:r>
              <a:rPr sz="1500" b="0">
                <a:solidFill>
                  <a:srgbClr val="172033"/>
                </a:solidFill>
              </a:rPr>
              <a:t>Success + cost</a:t>
            </a:r>
          </a:p>
          <a:p>
            <a:pPr algn="l">
              <a:defRPr sz="1500" b="0">
                <a:solidFill>
                  <a:srgbClr val="172033"/>
                </a:solidFill>
              </a:defRPr>
            </a:pPr>
            <a:r>
              <a:rPr sz="1500" b="0">
                <a:solidFill>
                  <a:srgbClr val="172033"/>
                </a:solidFill>
              </a:rPr>
              <a:t>Failure analysis</a:t>
            </a:r>
          </a:p>
          <a:p>
            <a:pPr algn="l">
              <a:defRPr sz="1500" b="0">
                <a:solidFill>
                  <a:srgbClr val="172033"/>
                </a:solidFill>
              </a:defRPr>
            </a:pPr>
            <a:r>
              <a:rPr sz="1500" b="0">
                <a:solidFill>
                  <a:srgbClr val="172033"/>
                </a:solidFill>
              </a:rPr>
              <a:t>Decision records</a:t>
            </a:r>
          </a:p>
        </p:txBody>
      </p:sp>
      <p:sp>
        <p:nvSpPr>
          <p:cNvPr id="24" name="Straight Connector 23">
            <a:extLst>
              <a:ext uri="{FF2B5EF4-FFF2-40B4-BE49-F238E27FC236}">
                <a16:creationId xmlns:a16="http://schemas.microsoft.com/office/drawing/2014/main" id="{9D349824-1475-4760-AF4F-A40CC55948C8}"/>
              </a:ext>
            </a:extLst>
          </p:cNvPr>
          <p:cNvSpPr>
            <a:spLocks noGrp="1"/>
          </p:cNvSpPr>
          <p:nvPr/>
        </p:nvSpPr>
        <p:spPr>
          <a:xfrm>
            <a:off x="10572750" y="4286250"/>
            <a:ext cx="0" cy="523875"/>
          </a:xfrm>
          <a:prstGeom prst="line">
            <a:avLst/>
          </a:prstGeom>
          <a:noFill/>
          <a:ln w="19050">
            <a:solidFill>
              <a:srgbClr val="2563EB"/>
            </a:solidFill>
            <a:prstDash val="solid"/>
          </a:ln>
        </p:spPr>
        <p:txBody>
          <a:bodyPr/>
          <a:lstStyle/>
          <a:p>
            <a:endParaRPr lang="en-US"/>
          </a:p>
        </p:txBody>
      </p:sp>
      <p:sp>
        <p:nvSpPr>
          <p:cNvPr id="25" name="Straight Connector 24">
            <a:extLst>
              <a:ext uri="{FF2B5EF4-FFF2-40B4-BE49-F238E27FC236}">
                <a16:creationId xmlns:a16="http://schemas.microsoft.com/office/drawing/2014/main" id="{E7EF6BF9-2C1A-4510-9A25-981B413EAF48}"/>
              </a:ext>
            </a:extLst>
          </p:cNvPr>
          <p:cNvSpPr>
            <a:spLocks noGrp="1"/>
          </p:cNvSpPr>
          <p:nvPr/>
        </p:nvSpPr>
        <p:spPr>
          <a:xfrm>
            <a:off x="1619250" y="4810125"/>
            <a:ext cx="8953500" cy="0"/>
          </a:xfrm>
          <a:prstGeom prst="line">
            <a:avLst/>
          </a:prstGeom>
          <a:noFill/>
          <a:ln w="19050">
            <a:solidFill>
              <a:srgbClr val="2563EB"/>
            </a:solidFill>
            <a:prstDash val="solid"/>
          </a:ln>
        </p:spPr>
        <p:txBody>
          <a:bodyPr/>
          <a:lstStyle/>
          <a:p>
            <a:endParaRPr lang="en-US"/>
          </a:p>
        </p:txBody>
      </p:sp>
      <p:sp>
        <p:nvSpPr>
          <p:cNvPr id="26" name="Straight Connector 25">
            <a:extLst>
              <a:ext uri="{FF2B5EF4-FFF2-40B4-BE49-F238E27FC236}">
                <a16:creationId xmlns:a16="http://schemas.microsoft.com/office/drawing/2014/main" id="{C161EDA9-2B7B-493C-8556-7EDA7A9DD647}"/>
              </a:ext>
            </a:extLst>
          </p:cNvPr>
          <p:cNvSpPr>
            <a:spLocks noGrp="1"/>
          </p:cNvSpPr>
          <p:nvPr/>
        </p:nvSpPr>
        <p:spPr>
          <a:xfrm>
            <a:off x="1619250" y="4286250"/>
            <a:ext cx="0" cy="523875"/>
          </a:xfrm>
          <a:prstGeom prst="line">
            <a:avLst/>
          </a:prstGeom>
          <a:noFill/>
          <a:ln w="19050">
            <a:solidFill>
              <a:srgbClr val="2563EB"/>
            </a:solidFill>
            <a:prstDash val="solid"/>
          </a:ln>
        </p:spPr>
        <p:txBody>
          <a:bodyPr/>
          <a:lstStyle/>
          <a:p>
            <a:endParaRPr lang="en-US"/>
          </a:p>
        </p:txBody>
      </p:sp>
      <p:sp>
        <p:nvSpPr>
          <p:cNvPr id="27" name="Rectangle 26">
            <a:extLst>
              <a:ext uri="{FF2B5EF4-FFF2-40B4-BE49-F238E27FC236}">
                <a16:creationId xmlns:a16="http://schemas.microsoft.com/office/drawing/2014/main" id="{A56E44AE-E02C-4060-A670-4F9E1AB50115}"/>
              </a:ext>
            </a:extLst>
          </p:cNvPr>
          <p:cNvSpPr>
            <a:spLocks noGrp="1"/>
          </p:cNvSpPr>
          <p:nvPr/>
        </p:nvSpPr>
        <p:spPr>
          <a:xfrm>
            <a:off x="1857375" y="5000625"/>
            <a:ext cx="9477375" cy="619125"/>
          </a:xfrm>
          <a:prstGeom prst="rect">
            <a:avLst/>
          </a:prstGeom>
          <a:noFill/>
          <a:ln w="0">
            <a:noFill/>
            <a:prstDash val="solid"/>
          </a:ln>
        </p:spPr>
        <p:txBody>
          <a:bodyPr anchor="ctr"/>
          <a:lstStyle>
            <a:defPPr algn="ctr">
              <a:defRPr sz="1725" b="1">
                <a:solidFill>
                  <a:srgbClr val="2563EB"/>
                </a:solidFill>
              </a:defRPr>
            </a:defPPr>
          </a:lstStyle>
          <a:p>
            <a:pPr algn="ctr">
              <a:defRPr sz="1725" b="1">
                <a:solidFill>
                  <a:srgbClr val="2563EB"/>
                </a:solidFill>
              </a:defRPr>
            </a:pPr>
            <a:r>
              <a:rPr sz="1725" b="1">
                <a:solidFill>
                  <a:srgbClr val="2563EB"/>
                </a:solidFill>
              </a:rPr>
              <a:t>After both conditions finish: review reusable lessons and update memory for the next experiment</a:t>
            </a:r>
          </a:p>
        </p:txBody>
      </p:sp>
      <p:sp>
        <p:nvSpPr>
          <p:cNvPr id="28" name="Rectangle 27">
            <a:extLst>
              <a:ext uri="{FF2B5EF4-FFF2-40B4-BE49-F238E27FC236}">
                <a16:creationId xmlns:a16="http://schemas.microsoft.com/office/drawing/2014/main" id="{CF33344A-9BAA-4C76-8031-3C0BACE746E3}"/>
              </a:ext>
            </a:extLst>
          </p:cNvPr>
          <p:cNvSpPr>
            <a:spLocks noGrp="1"/>
          </p:cNvSpPr>
          <p:nvPr/>
        </p:nvSpPr>
        <p:spPr>
          <a:xfrm>
            <a:off x="666750" y="5905500"/>
            <a:ext cx="10858500" cy="381000"/>
          </a:xfrm>
          <a:prstGeom prst="rect">
            <a:avLst/>
          </a:prstGeom>
          <a:noFill/>
          <a:ln w="0">
            <a:noFill/>
            <a:prstDash val="solid"/>
          </a:ln>
        </p:spPr>
        <p:txBody>
          <a:bodyPr anchor="ctr"/>
          <a:lstStyle>
            <a:defPPr algn="l">
              <a:defRPr sz="1500" b="0">
                <a:solidFill>
                  <a:srgbClr val="0B1739"/>
                </a:solidFill>
              </a:defRPr>
            </a:defPPr>
          </a:lstStyle>
          <a:p>
            <a:pPr algn="l">
              <a:defRPr sz="1500" b="0">
                <a:solidFill>
                  <a:srgbClr val="0B1739"/>
                </a:solidFill>
              </a:defRPr>
            </a:pPr>
            <a:r>
              <a:rPr sz="1500" b="0">
                <a:solidFill>
                  <a:srgbClr val="0B1739"/>
                </a:solidFill>
              </a:rPr>
              <a:t>Human role: review the target and snapshot, check mathematical meaning, approve reusable lessons</a:t>
            </a:r>
          </a:p>
        </p:txBody>
      </p:sp>
      <p:sp>
        <p:nvSpPr>
          <p:cNvPr id="29" name="Rectangle 28">
            <a:extLst>
              <a:ext uri="{FF2B5EF4-FFF2-40B4-BE49-F238E27FC236}">
                <a16:creationId xmlns:a16="http://schemas.microsoft.com/office/drawing/2014/main" id="{A60C88E7-21E4-433B-9996-595D329ADEBC}"/>
              </a:ext>
            </a:extLst>
          </p:cNvPr>
          <p:cNvSpPr>
            <a:spLocks noGrp="1"/>
          </p:cNvSpPr>
          <p:nvPr/>
        </p:nvSpPr>
        <p:spPr>
          <a:xfrm>
            <a:off x="666750" y="6429375"/>
            <a:ext cx="10858500" cy="209550"/>
          </a:xfrm>
          <a:prstGeom prst="rect">
            <a:avLst/>
          </a:prstGeom>
          <a:noFill/>
          <a:ln w="0">
            <a:noFill/>
            <a:prstDash val="solid"/>
          </a:ln>
        </p:spPr>
        <p:txBody>
          <a:bodyPr anchor="ctr"/>
          <a:lstStyle>
            <a:defPPr algn="r">
              <a:defRPr sz="825" b="0">
                <a:solidFill>
                  <a:srgbClr val="64748B"/>
                </a:solidFill>
              </a:defRPr>
            </a:defPPr>
          </a:lstStyle>
          <a:p>
            <a:pPr algn="r">
              <a:defRPr sz="825" b="0">
                <a:solidFill>
                  <a:srgbClr val="64748B"/>
                </a:solidFill>
              </a:defRPr>
            </a:pPr>
            <a:r>
              <a:rPr sz="825" b="0">
                <a:solidFill>
                  <a:srgbClr val="64748B"/>
                </a:solidFill>
              </a:rPr>
              <a:t>Completed foundation: verified Lean reduction and artifact protocol. Proposed next step: isolated comparative runs.</a:t>
            </a:r>
          </a:p>
        </p:txBody>
      </p:sp>
    </p:spTree>
    <p:extLst>
      <p:ext uri="{BB962C8B-B14F-4D97-AF65-F5344CB8AC3E}">
        <p14:creationId xmlns:p14="http://schemas.microsoft.com/office/powerpoint/2010/main" val="1689129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138DFE8-A4D5-4137-9809-D94234A044C4}"/>
              </a:ext>
            </a:extLst>
          </p:cNvPr>
          <p:cNvSpPr>
            <a:spLocks noGrp="1"/>
          </p:cNvSpPr>
          <p:nvPr/>
        </p:nvSpPr>
        <p:spPr>
          <a:xfrm>
            <a:off x="666750" y="361950"/>
            <a:ext cx="419100" cy="247650"/>
          </a:xfrm>
          <a:prstGeom prst="rect">
            <a:avLst/>
          </a:prstGeom>
          <a:noFill/>
          <a:ln w="0">
            <a:noFill/>
            <a:prstDash val="solid"/>
          </a:ln>
        </p:spPr>
        <p:txBody>
          <a:bodyPr anchor="ctr"/>
          <a:lstStyle>
            <a:defPPr algn="l">
              <a:defRPr sz="975" b="1">
                <a:solidFill>
                  <a:srgbClr val="2563EB"/>
                </a:solidFill>
              </a:defRPr>
            </a:defPPr>
          </a:lstStyle>
          <a:p>
            <a:pPr algn="l">
              <a:defRPr sz="975" b="1">
                <a:solidFill>
                  <a:srgbClr val="2563EB"/>
                </a:solidFill>
              </a:defRPr>
            </a:pPr>
            <a:r>
              <a:rPr sz="975" b="1">
                <a:solidFill>
                  <a:srgbClr val="2563EB"/>
                </a:solidFill>
              </a:rPr>
              <a:t>05</a:t>
            </a:r>
          </a:p>
        </p:txBody>
      </p:sp>
      <p:sp>
        <p:nvSpPr>
          <p:cNvPr id="2" name="Rectangle 1">
            <a:extLst>
              <a:ext uri="{FF2B5EF4-FFF2-40B4-BE49-F238E27FC236}">
                <a16:creationId xmlns:a16="http://schemas.microsoft.com/office/drawing/2014/main" id="{F5A0529D-412D-4F90-BB8F-5C6194ACD298}"/>
              </a:ext>
            </a:extLst>
          </p:cNvPr>
          <p:cNvSpPr>
            <a:spLocks noGrp="1"/>
          </p:cNvSpPr>
          <p:nvPr/>
        </p:nvSpPr>
        <p:spPr>
          <a:xfrm>
            <a:off x="666750" y="685800"/>
            <a:ext cx="10477500" cy="552450"/>
          </a:xfrm>
          <a:prstGeom prst="rect">
            <a:avLst/>
          </a:prstGeom>
          <a:noFill/>
          <a:ln w="0">
            <a:noFill/>
            <a:prstDash val="solid"/>
          </a:ln>
        </p:spPr>
        <p:txBody>
          <a:bodyPr anchor="ctr"/>
          <a:lstStyle>
            <a:defPPr algn="l">
              <a:defRPr sz="2400" b="1">
                <a:solidFill>
                  <a:srgbClr val="0B1739"/>
                </a:solidFill>
              </a:defRPr>
            </a:defPPr>
          </a:lstStyle>
          <a:p>
            <a:pPr algn="l">
              <a:defRPr sz="2400" b="1">
                <a:solidFill>
                  <a:srgbClr val="0B1739"/>
                </a:solidFill>
              </a:defRPr>
            </a:pPr>
            <a:r>
              <a:rPr sz="2400" b="1">
                <a:solidFill>
                  <a:srgbClr val="0B1739"/>
                </a:solidFill>
              </a:rPr>
              <a:t>Future questions: beyond memory reuse</a:t>
            </a:r>
          </a:p>
        </p:txBody>
      </p:sp>
      <p:sp>
        <p:nvSpPr>
          <p:cNvPr id="3" name="Straight Connector 2">
            <a:extLst>
              <a:ext uri="{FF2B5EF4-FFF2-40B4-BE49-F238E27FC236}">
                <a16:creationId xmlns:a16="http://schemas.microsoft.com/office/drawing/2014/main" id="{8F8EED36-D60C-499E-A842-83D2FC81473D}"/>
              </a:ext>
            </a:extLst>
          </p:cNvPr>
          <p:cNvSpPr>
            <a:spLocks noGrp="1"/>
          </p:cNvSpPr>
          <p:nvPr/>
        </p:nvSpPr>
        <p:spPr>
          <a:xfrm>
            <a:off x="666750" y="1333500"/>
            <a:ext cx="10858500" cy="0"/>
          </a:xfrm>
          <a:prstGeom prst="line">
            <a:avLst/>
          </a:prstGeom>
          <a:noFill/>
          <a:ln w="9525">
            <a:solidFill>
              <a:srgbClr val="CBD5E1"/>
            </a:solidFill>
            <a:prstDash val="solid"/>
          </a:ln>
        </p:spPr>
        <p:txBody>
          <a:bodyPr/>
          <a:lstStyle/>
          <a:p>
            <a:endParaRPr lang="en-US"/>
          </a:p>
        </p:txBody>
      </p:sp>
      <p:sp>
        <p:nvSpPr>
          <p:cNvPr id="4" name="Rectangle 3">
            <a:extLst>
              <a:ext uri="{FF2B5EF4-FFF2-40B4-BE49-F238E27FC236}">
                <a16:creationId xmlns:a16="http://schemas.microsoft.com/office/drawing/2014/main" id="{E496D008-F3B5-476D-935A-1EED8E2162B7}"/>
              </a:ext>
            </a:extLst>
          </p:cNvPr>
          <p:cNvSpPr>
            <a:spLocks noGrp="1"/>
          </p:cNvSpPr>
          <p:nvPr/>
        </p:nvSpPr>
        <p:spPr>
          <a:xfrm>
            <a:off x="666750" y="1457325"/>
            <a:ext cx="10858500" cy="590550"/>
          </a:xfrm>
          <a:prstGeom prst="rect">
            <a:avLst/>
          </a:prstGeom>
          <a:noFill/>
          <a:ln w="0">
            <a:noFill/>
            <a:prstDash val="solid"/>
          </a:ln>
        </p:spPr>
        <p:txBody>
          <a:bodyPr anchor="ctr"/>
          <a:lstStyle>
            <a:defPPr algn="l">
              <a:defRPr sz="1650" b="0">
                <a:solidFill>
                  <a:srgbClr val="64748B"/>
                </a:solidFill>
              </a:defRPr>
            </a:defPPr>
          </a:lstStyle>
          <a:p>
            <a:pPr algn="l">
              <a:defRPr sz="1650" b="0">
                <a:solidFill>
                  <a:srgbClr val="64748B"/>
                </a:solidFill>
              </a:defRPr>
            </a:pPr>
            <a:r>
              <a:rPr sz="1650" b="0">
                <a:solidFill>
                  <a:srgbClr val="64748B"/>
                </a:solidFill>
              </a:rPr>
              <a:t>The Agent Plasticity paper finds that high reuse alone does not guarantee improvement. Gains vary by model and task.</a:t>
            </a:r>
          </a:p>
        </p:txBody>
      </p:sp>
      <p:sp>
        <p:nvSpPr>
          <p:cNvPr id="5" name="Rectangle 4">
            <a:extLst>
              <a:ext uri="{FF2B5EF4-FFF2-40B4-BE49-F238E27FC236}">
                <a16:creationId xmlns:a16="http://schemas.microsoft.com/office/drawing/2014/main" id="{A382EDCA-F16D-4517-9E11-16285B890082}"/>
              </a:ext>
            </a:extLst>
          </p:cNvPr>
          <p:cNvSpPr>
            <a:spLocks noGrp="1"/>
          </p:cNvSpPr>
          <p:nvPr/>
        </p:nvSpPr>
        <p:spPr>
          <a:xfrm>
            <a:off x="666750" y="2286000"/>
            <a:ext cx="4667250" cy="333375"/>
          </a:xfrm>
          <a:prstGeom prst="rect">
            <a:avLst/>
          </a:prstGeom>
          <a:noFill/>
          <a:ln w="0">
            <a:noFill/>
            <a:prstDash val="solid"/>
          </a:ln>
        </p:spPr>
        <p:txBody>
          <a:bodyPr anchor="ctr"/>
          <a:lstStyle>
            <a:defPPr algn="l">
              <a:defRPr sz="1500" b="1">
                <a:solidFill>
                  <a:srgbClr val="64748B"/>
                </a:solidFill>
              </a:defRPr>
            </a:defPPr>
          </a:lstStyle>
          <a:p>
            <a:pPr algn="l">
              <a:defRPr sz="1500" b="1">
                <a:solidFill>
                  <a:srgbClr val="64748B"/>
                </a:solidFill>
              </a:defRPr>
            </a:pPr>
            <a:r>
              <a:rPr sz="1500" b="1">
                <a:solidFill>
                  <a:srgbClr val="64748B"/>
                </a:solidFill>
              </a:rPr>
              <a:t>Question</a:t>
            </a:r>
          </a:p>
        </p:txBody>
      </p:sp>
      <p:sp>
        <p:nvSpPr>
          <p:cNvPr id="6" name="Rectangle 5">
            <a:extLst>
              <a:ext uri="{FF2B5EF4-FFF2-40B4-BE49-F238E27FC236}">
                <a16:creationId xmlns:a16="http://schemas.microsoft.com/office/drawing/2014/main" id="{76EBA0C9-B0C7-4785-B59C-2C1292DD6A94}"/>
              </a:ext>
            </a:extLst>
          </p:cNvPr>
          <p:cNvSpPr>
            <a:spLocks noGrp="1"/>
          </p:cNvSpPr>
          <p:nvPr/>
        </p:nvSpPr>
        <p:spPr>
          <a:xfrm>
            <a:off x="5905500" y="2286000"/>
            <a:ext cx="5619750" cy="333375"/>
          </a:xfrm>
          <a:prstGeom prst="rect">
            <a:avLst/>
          </a:prstGeom>
          <a:noFill/>
          <a:ln w="0">
            <a:noFill/>
            <a:prstDash val="solid"/>
          </a:ln>
        </p:spPr>
        <p:txBody>
          <a:bodyPr anchor="ctr"/>
          <a:lstStyle>
            <a:defPPr algn="l">
              <a:defRPr sz="1500" b="1">
                <a:solidFill>
                  <a:srgbClr val="64748B"/>
                </a:solidFill>
              </a:defRPr>
            </a:defPPr>
          </a:lstStyle>
          <a:p>
            <a:pPr algn="l">
              <a:defRPr sz="1500" b="1">
                <a:solidFill>
                  <a:srgbClr val="64748B"/>
                </a:solidFill>
              </a:defRPr>
            </a:pPr>
            <a:r>
              <a:rPr sz="1500" b="1">
                <a:solidFill>
                  <a:srgbClr val="64748B"/>
                </a:solidFill>
              </a:rPr>
              <a:t>Follow-up experiment</a:t>
            </a:r>
          </a:p>
        </p:txBody>
      </p:sp>
      <p:sp>
        <p:nvSpPr>
          <p:cNvPr id="7" name="Straight Connector 6">
            <a:extLst>
              <a:ext uri="{FF2B5EF4-FFF2-40B4-BE49-F238E27FC236}">
                <a16:creationId xmlns:a16="http://schemas.microsoft.com/office/drawing/2014/main" id="{99820999-276F-4028-BAA1-0D43F9346162}"/>
              </a:ext>
            </a:extLst>
          </p:cNvPr>
          <p:cNvSpPr>
            <a:spLocks noGrp="1"/>
          </p:cNvSpPr>
          <p:nvPr/>
        </p:nvSpPr>
        <p:spPr>
          <a:xfrm>
            <a:off x="666750" y="2705100"/>
            <a:ext cx="10858500" cy="0"/>
          </a:xfrm>
          <a:prstGeom prst="line">
            <a:avLst/>
          </a:prstGeom>
          <a:noFill/>
          <a:ln w="9525">
            <a:solidFill>
              <a:srgbClr val="CBD5E1"/>
            </a:solidFill>
            <a:prstDash val="solid"/>
          </a:ln>
        </p:spPr>
        <p:txBody>
          <a:bodyPr/>
          <a:lstStyle/>
          <a:p>
            <a:endParaRPr lang="en-US"/>
          </a:p>
        </p:txBody>
      </p:sp>
      <p:sp>
        <p:nvSpPr>
          <p:cNvPr id="8" name="Rectangle 7">
            <a:extLst>
              <a:ext uri="{FF2B5EF4-FFF2-40B4-BE49-F238E27FC236}">
                <a16:creationId xmlns:a16="http://schemas.microsoft.com/office/drawing/2014/main" id="{F7ECA185-6FFB-417C-A8D6-A7EE0250B198}"/>
              </a:ext>
            </a:extLst>
          </p:cNvPr>
          <p:cNvSpPr>
            <a:spLocks noGrp="1"/>
          </p:cNvSpPr>
          <p:nvPr/>
        </p:nvSpPr>
        <p:spPr>
          <a:xfrm>
            <a:off x="666750" y="2876550"/>
            <a:ext cx="4667250" cy="723900"/>
          </a:xfrm>
          <a:prstGeom prst="rect">
            <a:avLst/>
          </a:prstGeom>
          <a:noFill/>
          <a:ln w="0">
            <a:noFill/>
            <a:prstDash val="solid"/>
          </a:ln>
        </p:spPr>
        <p:txBody>
          <a:bodyPr anchor="t"/>
          <a:lstStyle>
            <a:defPPr algn="l">
              <a:defRPr sz="1800" b="1">
                <a:solidFill>
                  <a:srgbClr val="0B1739"/>
                </a:solidFill>
              </a:defRPr>
            </a:defPPr>
          </a:lstStyle>
          <a:p>
            <a:pPr algn="l">
              <a:defRPr sz="1800" b="1">
                <a:solidFill>
                  <a:srgbClr val="0B1739"/>
                </a:solidFill>
              </a:defRPr>
            </a:pPr>
            <a:r>
              <a:rPr sz="1800" b="1">
                <a:solidFill>
                  <a:srgbClr val="0B1739"/>
                </a:solidFill>
              </a:rPr>
              <a:t>Does the agent find and apply the lesson?</a:t>
            </a:r>
          </a:p>
        </p:txBody>
      </p:sp>
      <p:sp>
        <p:nvSpPr>
          <p:cNvPr id="9" name="Rectangle 8">
            <a:extLst>
              <a:ext uri="{FF2B5EF4-FFF2-40B4-BE49-F238E27FC236}">
                <a16:creationId xmlns:a16="http://schemas.microsoft.com/office/drawing/2014/main" id="{6DCE5A70-13E6-434A-969D-04A44EEF866A}"/>
              </a:ext>
            </a:extLst>
          </p:cNvPr>
          <p:cNvSpPr>
            <a:spLocks noGrp="1"/>
          </p:cNvSpPr>
          <p:nvPr/>
        </p:nvSpPr>
        <p:spPr>
          <a:xfrm>
            <a:off x="5905500" y="2876550"/>
            <a:ext cx="5619750" cy="723900"/>
          </a:xfrm>
          <a:prstGeom prst="rect">
            <a:avLst/>
          </a:prstGeom>
          <a:noFill/>
          <a:ln w="0">
            <a:noFill/>
            <a:prstDash val="solid"/>
          </a:ln>
        </p:spPr>
        <p:txBody>
          <a:bodyPr anchor="t"/>
          <a:lstStyle>
            <a:defPPr algn="l">
              <a:defRPr sz="1650" b="0">
                <a:solidFill>
                  <a:srgbClr val="172033"/>
                </a:solidFill>
              </a:defRPr>
            </a:defPPr>
          </a:lstStyle>
          <a:p>
            <a:pPr algn="l">
              <a:defRPr sz="1650" b="0">
                <a:solidFill>
                  <a:srgbClr val="172033"/>
                </a:solidFill>
              </a:defRPr>
            </a:pPr>
            <a:r>
              <a:rPr sz="1650" b="0">
                <a:solidFill>
                  <a:srgbClr val="172033"/>
                </a:solidFill>
              </a:rPr>
              <a:t>Compare normal retrieval with a relevant lesson supplied directly.</a:t>
            </a:r>
          </a:p>
        </p:txBody>
      </p:sp>
      <p:sp>
        <p:nvSpPr>
          <p:cNvPr id="10" name="Straight Connector 9">
            <a:extLst>
              <a:ext uri="{FF2B5EF4-FFF2-40B4-BE49-F238E27FC236}">
                <a16:creationId xmlns:a16="http://schemas.microsoft.com/office/drawing/2014/main" id="{9F007089-26B2-4A11-9B82-AC5F94A7630C}"/>
              </a:ext>
            </a:extLst>
          </p:cNvPr>
          <p:cNvSpPr>
            <a:spLocks noGrp="1"/>
          </p:cNvSpPr>
          <p:nvPr/>
        </p:nvSpPr>
        <p:spPr>
          <a:xfrm>
            <a:off x="666750" y="3676650"/>
            <a:ext cx="10858500" cy="0"/>
          </a:xfrm>
          <a:prstGeom prst="line">
            <a:avLst/>
          </a:prstGeom>
          <a:noFill/>
          <a:ln w="9525">
            <a:solidFill>
              <a:srgbClr val="CBD5E1"/>
            </a:solidFill>
            <a:prstDash val="solid"/>
          </a:ln>
        </p:spPr>
        <p:txBody>
          <a:bodyPr/>
          <a:lstStyle/>
          <a:p>
            <a:endParaRPr lang="en-US"/>
          </a:p>
        </p:txBody>
      </p:sp>
      <p:sp>
        <p:nvSpPr>
          <p:cNvPr id="11" name="Rectangle 10">
            <a:extLst>
              <a:ext uri="{FF2B5EF4-FFF2-40B4-BE49-F238E27FC236}">
                <a16:creationId xmlns:a16="http://schemas.microsoft.com/office/drawing/2014/main" id="{5434EC80-26A2-45E8-9A61-39193D1B468D}"/>
              </a:ext>
            </a:extLst>
          </p:cNvPr>
          <p:cNvSpPr>
            <a:spLocks noGrp="1"/>
          </p:cNvSpPr>
          <p:nvPr/>
        </p:nvSpPr>
        <p:spPr>
          <a:xfrm>
            <a:off x="666750" y="3800475"/>
            <a:ext cx="4667250" cy="723900"/>
          </a:xfrm>
          <a:prstGeom prst="rect">
            <a:avLst/>
          </a:prstGeom>
          <a:noFill/>
          <a:ln w="0">
            <a:noFill/>
            <a:prstDash val="solid"/>
          </a:ln>
        </p:spPr>
        <p:txBody>
          <a:bodyPr anchor="t"/>
          <a:lstStyle>
            <a:defPPr algn="l">
              <a:defRPr sz="1800" b="1">
                <a:solidFill>
                  <a:srgbClr val="0B1739"/>
                </a:solidFill>
              </a:defRPr>
            </a:defPPr>
          </a:lstStyle>
          <a:p>
            <a:pPr algn="l">
              <a:defRPr sz="1800" b="1">
                <a:solidFill>
                  <a:srgbClr val="0B1739"/>
                </a:solidFill>
              </a:defRPr>
            </a:pPr>
            <a:r>
              <a:rPr sz="1800" b="1">
                <a:solidFill>
                  <a:srgbClr val="0B1739"/>
                </a:solidFill>
              </a:rPr>
              <a:t>Can reflection produce better lessons?</a:t>
            </a:r>
          </a:p>
        </p:txBody>
      </p:sp>
      <p:sp>
        <p:nvSpPr>
          <p:cNvPr id="12" name="Rectangle 11">
            <a:extLst>
              <a:ext uri="{FF2B5EF4-FFF2-40B4-BE49-F238E27FC236}">
                <a16:creationId xmlns:a16="http://schemas.microsoft.com/office/drawing/2014/main" id="{098BF3B4-C88E-418F-83AC-9A6E3ABC2AB1}"/>
              </a:ext>
            </a:extLst>
          </p:cNvPr>
          <p:cNvSpPr>
            <a:spLocks noGrp="1"/>
          </p:cNvSpPr>
          <p:nvPr/>
        </p:nvSpPr>
        <p:spPr>
          <a:xfrm>
            <a:off x="5905500" y="3800475"/>
            <a:ext cx="5619750" cy="723900"/>
          </a:xfrm>
          <a:prstGeom prst="rect">
            <a:avLst/>
          </a:prstGeom>
          <a:noFill/>
          <a:ln w="0">
            <a:noFill/>
            <a:prstDash val="solid"/>
          </a:ln>
        </p:spPr>
        <p:txBody>
          <a:bodyPr anchor="t"/>
          <a:lstStyle>
            <a:defPPr algn="l">
              <a:defRPr sz="1650" b="0">
                <a:solidFill>
                  <a:srgbClr val="172033"/>
                </a:solidFill>
              </a:defRPr>
            </a:defPPr>
          </a:lstStyle>
          <a:p>
            <a:pPr algn="l">
              <a:defRPr sz="1650" b="0">
                <a:solidFill>
                  <a:srgbClr val="172033"/>
                </a:solidFill>
              </a:defRPr>
            </a:pPr>
            <a:r>
              <a:rPr sz="1650" b="0">
                <a:solidFill>
                  <a:srgbClr val="172033"/>
                </a:solidFill>
              </a:rPr>
              <a:t>Use compiler failures to revise lessons. Compare with human-curated memory.</a:t>
            </a:r>
          </a:p>
        </p:txBody>
      </p:sp>
      <p:sp>
        <p:nvSpPr>
          <p:cNvPr id="13" name="Straight Connector 12">
            <a:extLst>
              <a:ext uri="{FF2B5EF4-FFF2-40B4-BE49-F238E27FC236}">
                <a16:creationId xmlns:a16="http://schemas.microsoft.com/office/drawing/2014/main" id="{F995A80C-DEE8-4699-B0C5-C9B19604B8F5}"/>
              </a:ext>
            </a:extLst>
          </p:cNvPr>
          <p:cNvSpPr>
            <a:spLocks noGrp="1"/>
          </p:cNvSpPr>
          <p:nvPr/>
        </p:nvSpPr>
        <p:spPr>
          <a:xfrm>
            <a:off x="666750" y="4600575"/>
            <a:ext cx="10858500" cy="0"/>
          </a:xfrm>
          <a:prstGeom prst="line">
            <a:avLst/>
          </a:prstGeom>
          <a:noFill/>
          <a:ln w="9525">
            <a:solidFill>
              <a:srgbClr val="CBD5E1"/>
            </a:solidFill>
            <a:prstDash val="solid"/>
          </a:ln>
        </p:spPr>
        <p:txBody>
          <a:bodyPr/>
          <a:lstStyle/>
          <a:p>
            <a:endParaRPr lang="en-US"/>
          </a:p>
        </p:txBody>
      </p:sp>
      <p:sp>
        <p:nvSpPr>
          <p:cNvPr id="14" name="Rectangle 13">
            <a:extLst>
              <a:ext uri="{FF2B5EF4-FFF2-40B4-BE49-F238E27FC236}">
                <a16:creationId xmlns:a16="http://schemas.microsoft.com/office/drawing/2014/main" id="{74842553-5B74-47E8-A4ED-DC27A7BADE3C}"/>
              </a:ext>
            </a:extLst>
          </p:cNvPr>
          <p:cNvSpPr>
            <a:spLocks noGrp="1"/>
          </p:cNvSpPr>
          <p:nvPr/>
        </p:nvSpPr>
        <p:spPr>
          <a:xfrm>
            <a:off x="666750" y="4724400"/>
            <a:ext cx="4667250" cy="723900"/>
          </a:xfrm>
          <a:prstGeom prst="rect">
            <a:avLst/>
          </a:prstGeom>
          <a:noFill/>
          <a:ln w="0">
            <a:noFill/>
            <a:prstDash val="solid"/>
          </a:ln>
        </p:spPr>
        <p:txBody>
          <a:bodyPr anchor="t"/>
          <a:lstStyle>
            <a:defPPr algn="l">
              <a:defRPr sz="1800" b="1">
                <a:solidFill>
                  <a:srgbClr val="0B1739"/>
                </a:solidFill>
              </a:defRPr>
            </a:defPPr>
          </a:lstStyle>
          <a:p>
            <a:pPr algn="l">
              <a:defRPr sz="1800" b="1">
                <a:solidFill>
                  <a:srgbClr val="0B1739"/>
                </a:solidFill>
              </a:defRPr>
            </a:pPr>
            <a:r>
              <a:rPr sz="1800" b="1">
                <a:solidFill>
                  <a:srgbClr val="0B1739"/>
                </a:solidFill>
              </a:rPr>
              <a:t>Do executable skills help more than notes?</a:t>
            </a:r>
          </a:p>
        </p:txBody>
      </p:sp>
      <p:sp>
        <p:nvSpPr>
          <p:cNvPr id="15" name="Rectangle 14">
            <a:extLst>
              <a:ext uri="{FF2B5EF4-FFF2-40B4-BE49-F238E27FC236}">
                <a16:creationId xmlns:a16="http://schemas.microsoft.com/office/drawing/2014/main" id="{D4CE8824-517E-430B-BC50-C4849D8EBC90}"/>
              </a:ext>
            </a:extLst>
          </p:cNvPr>
          <p:cNvSpPr>
            <a:spLocks noGrp="1"/>
          </p:cNvSpPr>
          <p:nvPr/>
        </p:nvSpPr>
        <p:spPr>
          <a:xfrm>
            <a:off x="5905500" y="4724400"/>
            <a:ext cx="5619750" cy="723900"/>
          </a:xfrm>
          <a:prstGeom prst="rect">
            <a:avLst/>
          </a:prstGeom>
          <a:noFill/>
          <a:ln w="0">
            <a:noFill/>
            <a:prstDash val="solid"/>
          </a:ln>
        </p:spPr>
        <p:txBody>
          <a:bodyPr anchor="t"/>
          <a:lstStyle>
            <a:defPPr algn="l">
              <a:defRPr sz="1650" b="0">
                <a:solidFill>
                  <a:srgbClr val="172033"/>
                </a:solidFill>
              </a:defRPr>
            </a:defPPr>
          </a:lstStyle>
          <a:p>
            <a:pPr algn="l">
              <a:defRPr sz="1650" b="0">
                <a:solidFill>
                  <a:srgbClr val="172033"/>
                </a:solidFill>
              </a:defRPr>
            </a:pPr>
            <a:r>
              <a:rPr sz="1650" b="0">
                <a:solidFill>
                  <a:srgbClr val="172033"/>
                </a:solidFill>
              </a:rPr>
              <a:t>Compare textual advice with tested search helpers or proof procedures.</a:t>
            </a:r>
          </a:p>
        </p:txBody>
      </p:sp>
      <p:sp>
        <p:nvSpPr>
          <p:cNvPr id="16" name="Rectangle 15">
            <a:extLst>
              <a:ext uri="{FF2B5EF4-FFF2-40B4-BE49-F238E27FC236}">
                <a16:creationId xmlns:a16="http://schemas.microsoft.com/office/drawing/2014/main" id="{CFE322D5-6BDC-466A-A717-71FF01422BEC}"/>
              </a:ext>
            </a:extLst>
          </p:cNvPr>
          <p:cNvSpPr>
            <a:spLocks noGrp="1"/>
          </p:cNvSpPr>
          <p:nvPr/>
        </p:nvSpPr>
        <p:spPr>
          <a:xfrm>
            <a:off x="666750" y="5772150"/>
            <a:ext cx="10858500" cy="381000"/>
          </a:xfrm>
          <a:prstGeom prst="rect">
            <a:avLst/>
          </a:prstGeom>
          <a:noFill/>
          <a:ln w="0">
            <a:noFill/>
            <a:prstDash val="solid"/>
          </a:ln>
        </p:spPr>
        <p:txBody>
          <a:bodyPr anchor="ctr"/>
          <a:lstStyle>
            <a:defPPr algn="l">
              <a:defRPr sz="1725" b="1">
                <a:solidFill>
                  <a:srgbClr val="2563EB"/>
                </a:solidFill>
              </a:defRPr>
            </a:defPPr>
          </a:lstStyle>
          <a:p>
            <a:pPr algn="l">
              <a:defRPr sz="1725" b="1">
                <a:solidFill>
                  <a:srgbClr val="2563EB"/>
                </a:solidFill>
              </a:defRPr>
            </a:pPr>
            <a:r>
              <a:rPr sz="1725" b="1">
                <a:solidFill>
                  <a:srgbClr val="2563EB"/>
                </a:solidFill>
              </a:rPr>
              <a:t>First milestone: reliable memory access and a fair baseline comparison</a:t>
            </a:r>
          </a:p>
        </p:txBody>
      </p:sp>
      <p:sp>
        <p:nvSpPr>
          <p:cNvPr id="17" name="Rectangle 16">
            <a:extLst>
              <a:ext uri="{FF2B5EF4-FFF2-40B4-BE49-F238E27FC236}">
                <a16:creationId xmlns:a16="http://schemas.microsoft.com/office/drawing/2014/main" id="{083B5CAE-4DB5-4729-A808-B92F73E9F3B4}"/>
              </a:ext>
            </a:extLst>
          </p:cNvPr>
          <p:cNvSpPr>
            <a:spLocks noGrp="1"/>
          </p:cNvSpPr>
          <p:nvPr/>
        </p:nvSpPr>
        <p:spPr>
          <a:xfrm>
            <a:off x="666750" y="6429375"/>
            <a:ext cx="10858500" cy="209550"/>
          </a:xfrm>
          <a:prstGeom prst="rect">
            <a:avLst/>
          </a:prstGeom>
          <a:noFill/>
          <a:ln w="0">
            <a:noFill/>
            <a:prstDash val="solid"/>
          </a:ln>
        </p:spPr>
        <p:txBody>
          <a:bodyPr anchor="ctr"/>
          <a:lstStyle>
            <a:defPPr algn="r">
              <a:defRPr sz="825" b="0">
                <a:solidFill>
                  <a:srgbClr val="64748B"/>
                </a:solidFill>
              </a:defRPr>
            </a:defPPr>
          </a:lstStyle>
          <a:p>
            <a:pPr algn="r">
              <a:defRPr sz="825" b="0">
                <a:solidFill>
                  <a:srgbClr val="64748B"/>
                </a:solidFill>
              </a:defRPr>
            </a:pPr>
            <a:r>
              <a:rPr sz="825" b="0">
                <a:solidFill>
                  <a:srgbClr val="64748B"/>
                </a:solidFill>
              </a:rPr>
              <a:t>Evaluate unseen proofs and include preparation cost. Post-training remains a later question.</a:t>
            </a:r>
          </a:p>
        </p:txBody>
      </p:sp>
    </p:spTree>
    <p:extLst>
      <p:ext uri="{BB962C8B-B14F-4D97-AF65-F5344CB8AC3E}">
        <p14:creationId xmlns:p14="http://schemas.microsoft.com/office/powerpoint/2010/main" val="15351073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1479</Words>
  <Application>Microsoft Office PowerPoint</Application>
  <DocSecurity>0</DocSecurity>
  <PresentationFormat>Widescreen</PresentationFormat>
  <Paragraphs>172</Paragraphs>
  <Slides>6</Slides>
  <Notes>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6</vt:i4>
      </vt:variant>
    </vt:vector>
  </HeadingPairs>
  <TitlesOfParts>
    <vt:vector size="8" baseType="lpstr">
      <vt:lpstr>Aptos</vt:lpstr>
      <vt:lpstr>ChatGPT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Bouvel, Austin</cp:lastModifiedBy>
  <cp:revision>1</cp:revision>
  <cp:lastPrinted>2026-10-12T22:47:49Z</cp:lastPrinted>
  <dcterms:created xsi:type="dcterms:W3CDTF">2026-10-12T19:09:41Z</dcterms:created>
  <dcterms:modified xsi:type="dcterms:W3CDTF">2026-10-13T00:05:18Z</dcterms:modified>
</cp:coreProperties>
</file>